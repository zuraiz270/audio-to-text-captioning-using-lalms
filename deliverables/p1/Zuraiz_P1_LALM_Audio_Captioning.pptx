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71800"/>
            <a:ext cx="914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" y="2853411"/>
            <a:ext cx="91440" cy="105973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2623422"/>
            <a:ext cx="91440" cy="151971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736481"/>
            <a:ext cx="91440" cy="129359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2718441"/>
            <a:ext cx="91440" cy="132967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894317"/>
            <a:ext cx="91440" cy="9779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2806585"/>
            <a:ext cx="91440" cy="115339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444752" y="2817173"/>
            <a:ext cx="91440" cy="113221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1572768" y="2628216"/>
            <a:ext cx="91440" cy="1510129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1700784" y="2752142"/>
            <a:ext cx="91440" cy="1262275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2786437"/>
            <a:ext cx="91440" cy="11936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956816" y="3010101"/>
            <a:ext cx="91440" cy="74635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2084832" y="2777226"/>
            <a:ext cx="91440" cy="121210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212848" y="2827091"/>
            <a:ext cx="91440" cy="1112379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2340864" y="2777217"/>
            <a:ext cx="91440" cy="121212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2910331"/>
            <a:ext cx="91440" cy="9458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596896" y="2790451"/>
            <a:ext cx="91440" cy="118565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2724912" y="2770656"/>
            <a:ext cx="91440" cy="122524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2852928" y="2527524"/>
            <a:ext cx="91440" cy="1711511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2980944" y="2627531"/>
            <a:ext cx="91440" cy="151149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3108960" y="2609411"/>
            <a:ext cx="91440" cy="15477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236976" y="2904804"/>
            <a:ext cx="91440" cy="9569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3364992" y="2928676"/>
            <a:ext cx="91440" cy="9092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5" name="Shape 23"/>
          <p:cNvSpPr/>
          <p:nvPr/>
        </p:nvSpPr>
        <p:spPr>
          <a:xfrm>
            <a:off x="3493008" y="2917452"/>
            <a:ext cx="91440" cy="931657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6" name="Shape 24"/>
          <p:cNvSpPr/>
          <p:nvPr/>
        </p:nvSpPr>
        <p:spPr>
          <a:xfrm>
            <a:off x="3621024" y="2837232"/>
            <a:ext cx="91440" cy="109209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7" name="Shape 25"/>
          <p:cNvSpPr/>
          <p:nvPr/>
        </p:nvSpPr>
        <p:spPr>
          <a:xfrm>
            <a:off x="3749040" y="2929437"/>
            <a:ext cx="91440" cy="9076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1097280"/>
            <a:ext cx="72539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 ·  P1 Literature Review  ·  CH-Proj-M  ·  SS 2026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1417320"/>
            <a:ext cx="72539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Audio-to-Text Captioning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4572000" y="2240280"/>
            <a:ext cx="72539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Large Audio-Language Models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572000" y="3246120"/>
            <a:ext cx="72539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LALMs describe overlapping sound events  —  the polyphony challenge?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572000" y="4114800"/>
            <a:ext cx="72539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DB5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 { dog, traffic, wind }  →  a sentence — and what breaks when sounds overlap.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5532120"/>
            <a:ext cx="72539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Zuraiz  ·  Mat. 2177213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0" y="5824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Dr.-Ing. Jakob Abeßer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609904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Otto-Friedrich-Universität Bamberg  ·  2026-05-04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Audio Captioning  —  the task &amp; why it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14455" y="274320"/>
            <a:ext cx="502920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4" name="Shape 2"/>
          <p:cNvSpPr/>
          <p:nvPr/>
        </p:nvSpPr>
        <p:spPr>
          <a:xfrm>
            <a:off x="11414455" y="384048"/>
            <a:ext cx="365760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5" name="Shape 3"/>
          <p:cNvSpPr/>
          <p:nvPr/>
        </p:nvSpPr>
        <p:spPr>
          <a:xfrm>
            <a:off x="11414455" y="493776"/>
            <a:ext cx="256032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tags  →  sentences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 (audio tagging)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dog, traffic, wind, leaves 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B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(captioning, this project)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dog barks in the distance as cars pass on a wet road, while wind rustles nearby leaves."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encode identity, position, time, and texture — tagging cannot.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143000"/>
            <a:ext cx="54251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care  —  three real uses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95160" y="1737360"/>
            <a:ext cx="4739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95160" y="2103120"/>
            <a:ext cx="47393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captions for the deaf and hard-of-hearing.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2926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2880360"/>
            <a:ext cx="4739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Searchable archives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95160" y="3246120"/>
            <a:ext cx="47393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broadcast, oral-history and cultural-heritage audio.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95160" y="4023360"/>
            <a:ext cx="4739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spaces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95160" y="4389120"/>
            <a:ext cx="47393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monitoring for cities, hospitals, and elder care.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part:  multiple sounds happen at the same time  —  this is "polyphony", and today's models drop secondary events.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Zuraiz · P1 · 2026-05-04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funnel  —  49 corpus  →  38 read  →  10 cited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14455" y="274320"/>
            <a:ext cx="502920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4" name="Shape 2"/>
          <p:cNvSpPr/>
          <p:nvPr/>
        </p:nvSpPr>
        <p:spPr>
          <a:xfrm>
            <a:off x="11414455" y="384048"/>
            <a:ext cx="365760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5" name="Shape 3"/>
          <p:cNvSpPr/>
          <p:nvPr/>
        </p:nvSpPr>
        <p:spPr>
          <a:xfrm>
            <a:off x="11414455" y="493776"/>
            <a:ext cx="256032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77824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10:  IEEE/ACM peer-reviewed  ·  ≤ 3 years old  ·  directly tied to my models, dataset, metrics, or named failure mode.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3606698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8132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499616"/>
            <a:ext cx="21893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Datasets, encoders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tagging baselines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487168"/>
            <a:ext cx="31494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WavCaps · AudioSetCaps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OpenBEATs · CNN14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2498" y="1298448"/>
            <a:ext cx="3606698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5378" y="148132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475378" y="2304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2658" y="1499616"/>
            <a:ext cx="21893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LALM architectures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engines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1098" y="2487168"/>
            <a:ext cx="31494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Falcon3-Audio · SLAM-LLM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EnCLAP · DeSTA2.5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7797" y="1298448"/>
            <a:ext cx="3606698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0677" y="148132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310677" y="2304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07957" y="1499616"/>
            <a:ext cx="21893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Alignment, prompting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fine-tuning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56397" y="2487168"/>
            <a:ext cx="31494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Audio-CoT · Omni-R1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Prompt Tuning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3606698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5876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40080" y="4681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3877056"/>
            <a:ext cx="21893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bias mitigation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864608"/>
            <a:ext cx="31494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 · CLAIRA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FD-DeCap · Data-Leakage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2498" y="3675888"/>
            <a:ext cx="3606698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5378" y="385876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4475378" y="4681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2658" y="3877056"/>
            <a:ext cx="21893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extensions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(heritage · A/V)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21098" y="4864608"/>
            <a:ext cx="31494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Soundscape Captioning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Crab-AV · DualVideo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27797" y="3675888"/>
            <a:ext cx="3606698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10677" y="385876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8310677" y="4681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07957" y="3877056"/>
            <a:ext cx="21893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governance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licensing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56397" y="4864608"/>
            <a:ext cx="31494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Datasets Survey 2025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focus  →  Streams 2 + 4:   how LALMs fail on polyphony, and how we measure that failure.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Zuraiz · P1 · 2026-05-04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will compare  —  and what I will measure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14455" y="274320"/>
            <a:ext cx="502920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4" name="Shape 2"/>
          <p:cNvSpPr/>
          <p:nvPr/>
        </p:nvSpPr>
        <p:spPr>
          <a:xfrm>
            <a:off x="11414455" y="384048"/>
            <a:ext cx="365760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5" name="Shape 3"/>
          <p:cNvSpPr/>
          <p:nvPr/>
        </p:nvSpPr>
        <p:spPr>
          <a:xfrm>
            <a:off x="11414455" y="493776"/>
            <a:ext cx="256032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455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baselines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tag-style models — no LLM decoder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78728" y="1143000"/>
            <a:ext cx="5455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State-of-the-Art LALMs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78728" y="1490472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encoder + LLM decoder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91440" cy="411480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11680"/>
            <a:ext cx="522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CNN14  (DCASE 2024)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52271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tagging baseline. SPIDEr-FL ≈ 29.6 %.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91440" cy="411480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80360"/>
            <a:ext cx="522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  —  Audio Spectrogram Transformer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200400"/>
            <a:ext cx="52271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Pure-audio transformer; no language model decoder.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91440" cy="411480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49040"/>
            <a:ext cx="522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EnCLAP  (ICASSP 2024)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52271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audio-text without an LLM footprint.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2084832"/>
            <a:ext cx="914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07328" y="2011680"/>
            <a:ext cx="522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PRIMARY  </a:t>
            </a:r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Falcon3-Audio  (ICASSP 2026)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07328" y="2331720"/>
            <a:ext cx="52271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Single-stage, public data only — auditable baseline.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8728" y="2953512"/>
            <a:ext cx="91440" cy="411480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23" name="Text 21"/>
          <p:cNvSpPr/>
          <p:nvPr/>
        </p:nvSpPr>
        <p:spPr>
          <a:xfrm>
            <a:off x="6507328" y="2880360"/>
            <a:ext cx="522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SALMONN  (ICLR 2024)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07328" y="3200400"/>
            <a:ext cx="52271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Survey-standard LALM; widely benchmarked.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8728" y="3822192"/>
            <a:ext cx="91440" cy="411480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26" name="Text 24"/>
          <p:cNvSpPr/>
          <p:nvPr/>
        </p:nvSpPr>
        <p:spPr>
          <a:xfrm>
            <a:off x="6507328" y="3749040"/>
            <a:ext cx="522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Qwen2.5-Omni  (2026)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07328" y="4069080"/>
            <a:ext cx="52271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Bleeding-edge multimodal — does scale help polyphony?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11277295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9377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Research Questions   ·   metrics inline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5257800"/>
            <a:ext cx="100584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RQ1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83080" y="5257800"/>
            <a:ext cx="763524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LALMs match or beat traditional tagging on standard metrics?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28455" y="5257800"/>
            <a:ext cx="25146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SPIDEr-FL  ·  CIDEr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684520"/>
            <a:ext cx="100584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RQ2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59192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83080" y="5684520"/>
            <a:ext cx="763524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accurately do LALMs describe overlapping sound events  vs.  tagging?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28455" y="5684520"/>
            <a:ext cx="25146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MACE  (poly  −  mono)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6111240"/>
            <a:ext cx="100584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RQ3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783080" y="6111240"/>
            <a:ext cx="763524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entity-hallucination rate of LALMs on polyphonic audio?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28455" y="6111240"/>
            <a:ext cx="25146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CHAIR-audio  ·  MACE Precision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Zuraiz · P1 · 2026-05-04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 —  where this goes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14455" y="274320"/>
            <a:ext cx="502920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4" name="Shape 2"/>
          <p:cNvSpPr/>
          <p:nvPr/>
        </p:nvSpPr>
        <p:spPr>
          <a:xfrm>
            <a:off x="11414455" y="384048"/>
            <a:ext cx="365760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5" name="Shape 3"/>
          <p:cNvSpPr/>
          <p:nvPr/>
        </p:nvSpPr>
        <p:spPr>
          <a:xfrm>
            <a:off x="11414455" y="493776"/>
            <a:ext cx="256032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6" name="Shape 4"/>
          <p:cNvSpPr/>
          <p:nvPr/>
        </p:nvSpPr>
        <p:spPr>
          <a:xfrm>
            <a:off x="1440180" y="2720340"/>
            <a:ext cx="9311335" cy="0"/>
          </a:xfrm>
          <a:prstGeom prst="line">
            <a:avLst/>
          </a:prstGeom>
          <a:noFill/>
          <a:ln w="25400">
            <a:solidFill>
              <a:srgbClr val="9DB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304288"/>
            <a:ext cx="832104" cy="832104"/>
          </a:xfrm>
          <a:prstGeom prst="ellipse">
            <a:avLst/>
          </a:prstGeom>
          <a:solidFill>
            <a:srgbClr val="CADCF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2468880"/>
            <a:ext cx="502920" cy="5029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— Lit 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4 ·  TODAY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2498" y="2468880"/>
            <a:ext cx="502920" cy="50292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2498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78098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— Data 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78098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96277" y="2468880"/>
            <a:ext cx="502920" cy="50292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6277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81877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&amp;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81877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500055" y="2468880"/>
            <a:ext cx="502920" cy="50292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00055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85655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 Paper + P3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85655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6 / 13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9144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526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 WATCH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8006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Training-data contamination of Clotho v2.1 — auditing Falcon3-Audio's public-data manifest is in scope for P2.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78728" y="4526280"/>
            <a:ext cx="9144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61608" y="4526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61608" y="48006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all three LALMs fail polyphony the same way, or do their failure signatures differ by architecture?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happy to take questions.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Zuraiz · P1 · 2026-05-04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 —  IEEE format  (10 cited)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14455" y="274320"/>
            <a:ext cx="502920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4" name="Shape 2"/>
          <p:cNvSpPr/>
          <p:nvPr/>
        </p:nvSpPr>
        <p:spPr>
          <a:xfrm>
            <a:off x="11414455" y="384048"/>
            <a:ext cx="365760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5" name="Shape 3"/>
          <p:cNvSpPr/>
          <p:nvPr/>
        </p:nvSpPr>
        <p:spPr>
          <a:xfrm>
            <a:off x="11414455" y="493776"/>
            <a:ext cx="256032" cy="64008"/>
          </a:xfrm>
          <a:prstGeom prst="rect">
            <a:avLst/>
          </a:prstGeom>
          <a:solidFill>
            <a:srgbClr val="9DB5E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7782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 from 38 P1-read papers · selection criteria on Slide 3.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45576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Falconi et al., "Competitive Audio-Language Models with Data-Efficient Single-Stage Training on Public Data (Falcon3-Audio)," IEEE ASRU, 2025. doi: 10.1109/ASRU.2025.11434596.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Tang et al., "SALMONN: Towards Generic Hearing Abilities for Large Language Models," ICLR, 2024. Available: github.com/bytedance/SALMONN.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Xu et al., "Qwen2.5-Omni Technical Report," Tech. Rep., 2025. Available: huggingface.co/Qwen.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Kong et al., "PANNs: Large-Scale Pretrained Audio Neural Networks for Audio Pattern Recognition (CNN14)," IEEE/ACM TASLP, vol. 28, pp. 2880–2894, 2020. doi: 10.1109/TASLP.2020.3030497.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Gong, Chu, Glass, "AST: Audio Spectrogram Transformer," Interspeech, 2021. doi: 10.21437/Interspeech.2021-698.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78728" y="1280160"/>
            <a:ext cx="545576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Kim et al., "EnCLAP: Combining Neural Audio Codec and Audio-Text Joint Embedding for Automated Audio Captioning," IEEE ICASSP, 2024. doi: 10.1109/ICASSP.2024.10446672.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Drossos, Lipping, Virtanen, "Clotho: An Audio Captioning Dataset," IEEE ICASSP, 2020. Available: zenodo.org/record/4783391 (v2.1).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Dixit et al., "MACE: Leveraging Audio for Evaluating Audio Captioning Systems," IEEE ICASSP-W, 2025. Available: ieeexplore.ieee.org/document/11011270.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Mei et al., "Beyond the Status Quo: Critical Reflection on Audio Captioning Metrics," IEEE/ACM TASLP, 2023. doi: 10.1109/TASLP.2023.3321968.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Wang et al., "Reducing Hallucination in Audio Captioning via Acoustic Grounding," IEEE ASRU, 2025. doi: 10.1109/ASRU.2025.11434595.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49-paper corpus and per-paper notes maintained in the project's LLM-curated wiki — available on request.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Zuraiz · P1 · 2026-05-04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Otto-Friedrich-Universität Bamberg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P1: Audio-to-Text Captioning using LALMs</dc:title>
  <dc:subject>Literature Review — Master's Project CH-Proj-M</dc:subject>
  <dc:creator>Zuraiz (Mat. 2177213)</dc:creator>
  <cp:lastModifiedBy>Zuraiz (Mat. 2177213)</cp:lastModifiedBy>
  <cp:revision>1</cp:revision>
  <dcterms:created xsi:type="dcterms:W3CDTF">2026-05-04T07:15:46Z</dcterms:created>
  <dcterms:modified xsi:type="dcterms:W3CDTF">2026-05-04T07:15:46Z</dcterms:modified>
</cp:coreProperties>
</file>