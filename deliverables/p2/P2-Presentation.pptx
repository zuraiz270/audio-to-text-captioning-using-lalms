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wav" ContentType="audio/wav"/>
  <Override PartName="/ppt/media/media2.wav" ContentType="audio/wav"/>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Audio-to-Text Captioning with Large Audio-Language Models — course code T6. The simple idea: the model listens to a sound clip, and writes a sentence about that sound. The big question I am chasing across the semester is whether these models can describe sounds that overlap. Today is the P2 milestone — the Data Acquisition Strategy. I'll cover five things in five minutes: which test corpus I picked and why, where the audio actually came from, the audio properties and annotation type, the sound classes plus the formal polyphony test, and finally the risks and the path to first evaluation. This whole talk closes the loop on contamination — the Risk to Watch I named in P1.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choice is Clotho v2.1 — the official DCASE Task 6 benchmark, five human captions per clip, CC-BY 4.0 on Zenodo, fully FAIR. I considered four alternatives and rejected each. AudioCaps and AudioSetCaps are built on AudioSet — almost every LALM trains on AudioSet, so a zero-shot claim there is not really zero-shot. WavCaps is web-scraped, high overlap risk. Cacophony is a contrastive training corpus, not an eval benchmark. One question frames the whole talk: can we trust the words 'zero-shot' when the model was trained on a corpus that may overlap our test set? Lecture 4 calls this Good Scientific Practice. The ALM Datasets Survey 2025 calls it the zero-shot illusion.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Clotho clips come from FreeSound — a community platform. Drossos and colleagues at Tampere curated them in 2020. No one recorded Clotho for the dataset; the audio is community-uploaded. So 'which mics' has an honest answer: all of them. Studio gear, field recorders, phones with MEMS microphones. This is exactly the device mismatch Lecture 4 warned us about — and it is a built-in caveat of every FreeSound-derived corpus. You can hear and see the difference. Same nominal sound — rain — recorded three ways. Clotho is clean and short. AudioCaps clips are noisier YouTube extracts. WavCaps is web-scraped, length and quality vary widely. The waveforms and spectrograms show it. Bottom line: heterogeneous mics are not a bug for our study, they are realistic. Real deployment audio is also heterogeneous. We just have to acknowledge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briefly. 44.1 kilohertz, mono, 16-bit WAV. Fifteen to thirty seconds per clip. Around seven thousand clips across development, validation, and evaluation splits. Five captions per clip, eight to twenty words each. Annotation type: weak. Clip-level. No time-stamps. Lecture 4 calls this audio-tagging-style annotation. Strong labels — segment-level with start and end times — exist in DCASE Task 4, not here. We will derive pseudo-strong labels with a sound-event detector for the polyphony split on the next slide. Here is what a typical Clotho clip looks like — waveform on top, log-mel spectrogram on the bottom, generated with librosa dot S-T-F-T exactly as Lecture 4 specifies.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Clotho has no fixed class taxonomy — captions are open-vocabulary. To answer the 'which classes' question, I tagged the development split with PANNs CNN14. The top twenty AudioSet classes look like this. Music, water, traffic dominate. Long tail beyond that. A monophonic example: one dog barking. The spectrogram shows a single source. The caption mentions one event. A polyphonic example: footsteps, rain, distant traffic. Three energy bands in the spectrogram. The reference caption mentions all three. And here is how I will measure under-description, formally. A clip is under-described if the model's output entity set is smaller than the intersection of the reference captions and the detected audio events. Cardinality of E-model less than cardinality of E-ref intersect E-audio. The fraction of clips where this happens, split by polyphony bucket, is my Delta MACE for RQ2.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the loop on the P1 Risk to Watch. I will run a three-layer contamination audit, per LALM — not aggregated. P1 also closed with an open question: do the three LALMs fail polyphony the same way? Per-model reporting is the only way to answer that. Layer one — file-ID match. Falcon3-Audio's training manifest is public — its key selling point. So file-ID works there. Layer two — Chromaprint fingerprint — covers SALMONN and Qwen2.5-Omni whose manifests are not fully public. Layer three — caption n-gram overlap — a final safety net. And one empirical fact that motivates this whole audit: FD-DeCap reports SPIDEr point two-eight-two on Clotho versus point four-two-nine on AudioCaps. Even after causal-inference debiasing, the contaminated corpus scores fifty percent higher. That gap is the wedge. Eight weeks to first evaluation. Audit, then split, then inference, then metrics. DCASE 2024 baseline SPIDEr-FL is 29.6 percent — that is the reference value. Thank you. I am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data-strategy references for this talk. Drossos 2020 for Clotho. MACE 2025 for the metric. Data-Leakage Benchmark and FD-DeCap for audit methodology and the empirical wedge. ALM Datasets Survey 2025 for the zero-shot illusion framing. PANNs / CNN14 as the SED tool. Falcon3-Audio for the public-manifest claim. And WavCaps as the web-scraped counter-example.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 — shown only if asked. AudioCaps is derived from ten-second YouTube segments of AudioSet. Captions are single-annotator. These five clips span common categories — note the strong YouTube-encoding artifacts and uneven SNR. Captions in this corpus are single-annotator, which is one of the three reasons Clotho with five captions per clip is preferred.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B — shown only if asked. WavCaps is a 400K-clip web-scraped corpus combining four sub-sources: AudioSet_SL, BBC Sound Effects, FreeSound, and SoundBible. The SoundBible subset shown here is the most curated; the FreeSound subset overlaps directly with Clotho's source platform — a contamination risk. WavCaps captions are LLM-generated from web metadata — they inherit any biases of the generating LLM. Both are reasons Clotho is preferred for a clean zero-shot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 Id="rId6" Type="http://schemas.microsoft.com/office/2007/relationships/media" Target="../media/media1.wav"/><Relationship Id="rId7" Type="http://schemas.openxmlformats.org/officeDocument/2006/relationships/video" Target="../media/media1.wav"/><Relationship Id="rId8" Type="http://schemas.openxmlformats.org/officeDocument/2006/relationships/image" Target="../media/image1.png"/><Relationship Id="rId9" Type="http://schemas.microsoft.com/office/2007/relationships/media" Target="../media/media2.wav"/><Relationship Id="rId10" Type="http://schemas.openxmlformats.org/officeDocument/2006/relationships/video" Target="../media/media2.wav"/></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7183100" y="419100"/>
            <a:ext cx="342900" cy="19050"/>
          </a:xfrm>
          <a:prstGeom prst="rect">
            <a:avLst/>
          </a:prstGeom>
          <a:solidFill>
            <a:srgbClr val="1F2A44"/>
          </a:solidFill>
          <a:ln/>
        </p:spPr>
      </p:sp>
      <p:sp>
        <p:nvSpPr>
          <p:cNvPr id="3" name="Shape 1"/>
          <p:cNvSpPr/>
          <p:nvPr/>
        </p:nvSpPr>
        <p:spPr>
          <a:xfrm>
            <a:off x="17297400" y="495300"/>
            <a:ext cx="228600" cy="19050"/>
          </a:xfrm>
          <a:prstGeom prst="rect">
            <a:avLst/>
          </a:prstGeom>
          <a:solidFill>
            <a:srgbClr val="1F2A44"/>
          </a:solidFill>
          <a:ln/>
        </p:spPr>
      </p:sp>
      <p:sp>
        <p:nvSpPr>
          <p:cNvPr id="4" name="Shape 2"/>
          <p:cNvSpPr/>
          <p:nvPr/>
        </p:nvSpPr>
        <p:spPr>
          <a:xfrm>
            <a:off x="17392650" y="571500"/>
            <a:ext cx="133350" cy="19050"/>
          </a:xfrm>
          <a:prstGeom prst="rect">
            <a:avLst/>
          </a:prstGeom>
          <a:solidFill>
            <a:srgbClr val="1F2A44"/>
          </a:solidFill>
          <a:ln/>
        </p:spPr>
      </p:sp>
      <p:sp>
        <p:nvSpPr>
          <p:cNvPr id="5" name="Text 3"/>
          <p:cNvSpPr/>
          <p:nvPr/>
        </p:nvSpPr>
        <p:spPr>
          <a:xfrm>
            <a:off x="1047750" y="952500"/>
            <a:ext cx="5425958"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spc="270" kern="0" dirty="0">
                <a:solidFill>
                  <a:srgbClr val="3A5FCD"/>
                </a:solidFill>
                <a:latin typeface="Arial" pitchFamily="34" charset="0"/>
                <a:ea typeface="Arial" pitchFamily="34" charset="-122"/>
                <a:cs typeface="Arial" pitchFamily="34" charset="-120"/>
              </a:rPr>
              <a:t>CH-PROJ-M · T6 · UNI BAMBERG · SS 2026</a:t>
            </a:r>
            <a:endParaRPr lang="en-US" sz="1500" dirty="0"/>
          </a:p>
        </p:txBody>
      </p:sp>
      <p:sp>
        <p:nvSpPr>
          <p:cNvPr id="6" name="Text 4"/>
          <p:cNvSpPr/>
          <p:nvPr/>
        </p:nvSpPr>
        <p:spPr>
          <a:xfrm>
            <a:off x="1047750" y="1304925"/>
            <a:ext cx="5425958"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spc="66" kern="0" dirty="0">
                <a:solidFill>
                  <a:srgbClr val="5A6478"/>
                </a:solidFill>
                <a:latin typeface="Arial" pitchFamily="34" charset="0"/>
                <a:ea typeface="Arial" pitchFamily="34" charset="-122"/>
                <a:cs typeface="Arial" pitchFamily="34" charset="-120"/>
              </a:rPr>
              <a:t>Computational Humanities — Master's Project</a:t>
            </a:r>
            <a:endParaRPr lang="en-US" sz="1650" dirty="0"/>
          </a:p>
        </p:txBody>
      </p:sp>
      <p:sp>
        <p:nvSpPr>
          <p:cNvPr id="7" name="Text 5"/>
          <p:cNvSpPr/>
          <p:nvPr/>
        </p:nvSpPr>
        <p:spPr>
          <a:xfrm>
            <a:off x="15067806" y="952500"/>
            <a:ext cx="2172444" cy="373261"/>
          </a:xfrm>
          <a:prstGeom prst="rect">
            <a:avLst/>
          </a:prstGeom>
          <a:noFill/>
          <a:ln/>
        </p:spPr>
        <p:txBody>
          <a:bodyPr wrap="square" lIns="25400" tIns="25400" rIns="25400" bIns="25400" rtlCol="0" anchor="t">
            <a:normAutofit/>
          </a:bodyPr>
          <a:lstStyle/>
          <a:p>
            <a:pPr algn="r" indent="0" marL="0">
              <a:lnSpc>
                <a:spcPct val="160000"/>
              </a:lnSpc>
              <a:buNone/>
            </a:pPr>
            <a:r>
              <a:rPr lang="en-US" sz="1650" spc="99" kern="0" dirty="0">
                <a:solidFill>
                  <a:srgbClr val="1F2A44"/>
                </a:solidFill>
                <a:latin typeface="Courier New" pitchFamily="34" charset="0"/>
                <a:ea typeface="Courier New" pitchFamily="34" charset="-122"/>
                <a:cs typeface="Courier New" pitchFamily="34" charset="-120"/>
              </a:rPr>
              <a:t>2026 · 05 · 18</a:t>
            </a:r>
            <a:endParaRPr lang="en-US" sz="1650" dirty="0"/>
          </a:p>
        </p:txBody>
      </p:sp>
      <p:sp>
        <p:nvSpPr>
          <p:cNvPr id="8" name="Text 6"/>
          <p:cNvSpPr/>
          <p:nvPr/>
        </p:nvSpPr>
        <p:spPr>
          <a:xfrm>
            <a:off x="15067806" y="1325761"/>
            <a:ext cx="2172444" cy="373261"/>
          </a:xfrm>
          <a:prstGeom prst="rect">
            <a:avLst/>
          </a:prstGeom>
          <a:noFill/>
          <a:ln/>
        </p:spPr>
        <p:txBody>
          <a:bodyPr wrap="square" lIns="25400" tIns="25400" rIns="25400" bIns="25400" rtlCol="0" anchor="t">
            <a:normAutofit/>
          </a:bodyPr>
          <a:lstStyle/>
          <a:p>
            <a:pPr algn="r" indent="0" marL="0">
              <a:lnSpc>
                <a:spcPct val="160000"/>
              </a:lnSpc>
              <a:buNone/>
            </a:pPr>
            <a:r>
              <a:rPr lang="en-US" sz="1650" dirty="0">
                <a:solidFill>
                  <a:srgbClr val="5A6478"/>
                </a:solidFill>
                <a:latin typeface="Arial" pitchFamily="34" charset="0"/>
                <a:ea typeface="Arial" pitchFamily="34" charset="-122"/>
                <a:cs typeface="Arial" pitchFamily="34" charset="-120"/>
              </a:rPr>
              <a:t>5 min talk · 5 min Q&amp;A</a:t>
            </a:r>
            <a:endParaRPr lang="en-US" sz="1650" dirty="0"/>
          </a:p>
        </p:txBody>
      </p:sp>
      <p:sp>
        <p:nvSpPr>
          <p:cNvPr id="9" name="Text 7"/>
          <p:cNvSpPr/>
          <p:nvPr/>
        </p:nvSpPr>
        <p:spPr>
          <a:xfrm>
            <a:off x="1047750" y="2611785"/>
            <a:ext cx="16678275"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spc="231" kern="0" dirty="0">
                <a:solidFill>
                  <a:srgbClr val="7C8597"/>
                </a:solidFill>
                <a:latin typeface="Arial" pitchFamily="34" charset="0"/>
                <a:ea typeface="Arial" pitchFamily="34" charset="-122"/>
                <a:cs typeface="Arial" pitchFamily="34" charset="-120"/>
              </a:rPr>
              <a:t>PROJECT</a:t>
            </a:r>
            <a:endParaRPr lang="en-US" sz="1650" dirty="0"/>
          </a:p>
        </p:txBody>
      </p:sp>
      <p:sp>
        <p:nvSpPr>
          <p:cNvPr id="10" name="Text 8"/>
          <p:cNvSpPr/>
          <p:nvPr/>
        </p:nvSpPr>
        <p:spPr>
          <a:xfrm>
            <a:off x="1047750" y="3048893"/>
            <a:ext cx="15697200" cy="520005"/>
          </a:xfrm>
          <a:prstGeom prst="rect">
            <a:avLst/>
          </a:prstGeom>
          <a:noFill/>
          <a:ln/>
        </p:spPr>
        <p:txBody>
          <a:bodyPr wrap="square" lIns="25400" tIns="25400" rIns="25400" bIns="25400" rtlCol="0" anchor="t">
            <a:normAutofit/>
          </a:bodyPr>
          <a:lstStyle/>
          <a:p>
            <a:pPr algn="l" indent="0" marL="0">
              <a:lnSpc>
                <a:spcPct val="115000"/>
              </a:lnSpc>
              <a:buNone/>
            </a:pPr>
            <a:r>
              <a:rPr lang="en-US" sz="3300" spc="-33" kern="0" dirty="0">
                <a:solidFill>
                  <a:srgbClr val="1F2A44"/>
                </a:solidFill>
                <a:latin typeface="Arial" pitchFamily="34" charset="0"/>
                <a:ea typeface="Arial" pitchFamily="34" charset="-122"/>
                <a:cs typeface="Arial" pitchFamily="34" charset="-120"/>
              </a:rPr>
              <a:t>Audio-to-Text Captioning with </a:t>
            </a:r>
            <a:pPr algn="l" indent="0" marL="0">
              <a:lnSpc>
                <a:spcPct val="115000"/>
              </a:lnSpc>
              <a:buNone/>
            </a:pPr>
            <a:r>
              <a:rPr lang="en-US" sz="3300" b="1" spc="-33" kern="0" dirty="0">
                <a:solidFill>
                  <a:srgbClr val="1F2A44"/>
                </a:solidFill>
                <a:latin typeface="Arial" pitchFamily="34" charset="0"/>
                <a:ea typeface="Arial" pitchFamily="34" charset="-122"/>
                <a:cs typeface="Arial" pitchFamily="34" charset="-120"/>
              </a:rPr>
              <a:t>Large Audio-Language Models</a:t>
            </a:r>
            <a:endParaRPr lang="en-US" sz="3300" dirty="0"/>
          </a:p>
        </p:txBody>
      </p:sp>
      <p:sp>
        <p:nvSpPr>
          <p:cNvPr id="11" name="Text 9"/>
          <p:cNvSpPr/>
          <p:nvPr/>
        </p:nvSpPr>
        <p:spPr>
          <a:xfrm>
            <a:off x="1047750" y="3645098"/>
            <a:ext cx="16678275"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i="1" dirty="0">
                <a:solidFill>
                  <a:srgbClr val="5A6478"/>
                </a:solidFill>
                <a:latin typeface="Arial" pitchFamily="34" charset="0"/>
                <a:ea typeface="Arial" pitchFamily="34" charset="-122"/>
                <a:cs typeface="Arial" pitchFamily="34" charset="-120"/>
              </a:rPr>
              <a:t>Can these models describe sounds that </a:t>
            </a:r>
            <a:pPr algn="l" indent="0" marL="0">
              <a:lnSpc>
                <a:spcPct val="145000"/>
              </a:lnSpc>
              <a:buNone/>
            </a:pPr>
            <a:r>
              <a:rPr lang="en-US" sz="1800" b="1" dirty="0">
                <a:solidFill>
                  <a:srgbClr val="1F2A44"/>
                </a:solidFill>
                <a:latin typeface="Arial" pitchFamily="34" charset="0"/>
                <a:ea typeface="Arial" pitchFamily="34" charset="-122"/>
                <a:cs typeface="Arial" pitchFamily="34" charset="-120"/>
              </a:rPr>
              <a:t>overlap</a:t>
            </a:r>
            <a:pPr algn="l" indent="0" marL="0">
              <a:lnSpc>
                <a:spcPct val="145000"/>
              </a:lnSpc>
              <a:buNone/>
            </a:pPr>
            <a:r>
              <a:rPr lang="en-US" sz="1800" i="1" dirty="0">
                <a:solidFill>
                  <a:srgbClr val="5A6478"/>
                </a:solidFill>
                <a:latin typeface="Arial" pitchFamily="34" charset="0"/>
                <a:ea typeface="Arial" pitchFamily="34" charset="-122"/>
                <a:cs typeface="Arial" pitchFamily="34" charset="-120"/>
              </a:rPr>
              <a:t>?</a:t>
            </a:r>
            <a:endParaRPr lang="en-US" sz="1800" dirty="0"/>
          </a:p>
        </p:txBody>
      </p:sp>
      <p:sp>
        <p:nvSpPr>
          <p:cNvPr id="12" name="Text 10"/>
          <p:cNvSpPr/>
          <p:nvPr/>
        </p:nvSpPr>
        <p:spPr>
          <a:xfrm>
            <a:off x="1047750" y="4357539"/>
            <a:ext cx="492323" cy="424755"/>
          </a:xfrm>
          <a:prstGeom prst="rect">
            <a:avLst/>
          </a:prstGeom>
          <a:noFill/>
          <a:ln/>
        </p:spPr>
        <p:txBody>
          <a:bodyPr wrap="square" lIns="25400" tIns="25400" rIns="25400" bIns="25400" rtlCol="0" anchor="t">
            <a:normAutofit/>
          </a:bodyPr>
          <a:lstStyle/>
          <a:p>
            <a:pPr algn="l" indent="0" marL="0">
              <a:lnSpc>
                <a:spcPct val="145000"/>
              </a:lnSpc>
              <a:buNone/>
            </a:pPr>
            <a:r>
              <a:rPr lang="en-US" sz="2100" spc="378" kern="0" dirty="0">
                <a:solidFill>
                  <a:srgbClr val="3A5FCD"/>
                </a:solidFill>
                <a:latin typeface="Courier New" pitchFamily="34" charset="0"/>
                <a:ea typeface="Courier New" pitchFamily="34" charset="-122"/>
                <a:cs typeface="Courier New" pitchFamily="34" charset="-120"/>
              </a:rPr>
              <a:t>P2</a:t>
            </a:r>
            <a:endParaRPr lang="en-US" sz="2100" dirty="0"/>
          </a:p>
        </p:txBody>
      </p:sp>
      <p:sp>
        <p:nvSpPr>
          <p:cNvPr id="13" name="Shape 11"/>
          <p:cNvSpPr/>
          <p:nvPr/>
        </p:nvSpPr>
        <p:spPr>
          <a:xfrm>
            <a:off x="1692473" y="4546104"/>
            <a:ext cx="3048000" cy="9525"/>
          </a:xfrm>
          <a:prstGeom prst="rect">
            <a:avLst/>
          </a:prstGeom>
          <a:solidFill>
            <a:srgbClr val="C8CDD8"/>
          </a:solidFill>
          <a:ln/>
        </p:spPr>
      </p:sp>
      <p:sp>
        <p:nvSpPr>
          <p:cNvPr id="14" name="Text 12"/>
          <p:cNvSpPr/>
          <p:nvPr/>
        </p:nvSpPr>
        <p:spPr>
          <a:xfrm>
            <a:off x="4969073" y="4398913"/>
            <a:ext cx="2456111"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spc="231" kern="0" dirty="0">
                <a:solidFill>
                  <a:srgbClr val="5A6478"/>
                </a:solidFill>
                <a:latin typeface="Arial" pitchFamily="34" charset="0"/>
                <a:ea typeface="Arial" pitchFamily="34" charset="-122"/>
                <a:cs typeface="Arial" pitchFamily="34" charset="-120"/>
              </a:rPr>
              <a:t>MILESTONE 2 OF 5</a:t>
            </a:r>
            <a:endParaRPr lang="en-US" sz="1650" dirty="0"/>
          </a:p>
        </p:txBody>
      </p:sp>
      <p:sp>
        <p:nvSpPr>
          <p:cNvPr id="15" name="Text 13"/>
          <p:cNvSpPr/>
          <p:nvPr/>
        </p:nvSpPr>
        <p:spPr>
          <a:xfrm>
            <a:off x="1047750" y="5010894"/>
            <a:ext cx="15697200" cy="798165"/>
          </a:xfrm>
          <a:prstGeom prst="rect">
            <a:avLst/>
          </a:prstGeom>
          <a:noFill/>
          <a:ln/>
        </p:spPr>
        <p:txBody>
          <a:bodyPr wrap="square" lIns="25400" tIns="25400" rIns="25400" bIns="25400" rtlCol="0" anchor="t">
            <a:normAutofit/>
          </a:bodyPr>
          <a:lstStyle/>
          <a:p>
            <a:pPr algn="l" indent="0" marL="0">
              <a:lnSpc>
                <a:spcPct val="105000"/>
              </a:lnSpc>
              <a:buNone/>
            </a:pPr>
            <a:r>
              <a:rPr lang="en-US" sz="5700" b="1" spc="-114" kern="0" dirty="0">
                <a:solidFill>
                  <a:srgbClr val="1F2A44"/>
                </a:solidFill>
                <a:latin typeface="Arial" pitchFamily="34" charset="0"/>
                <a:ea typeface="Arial" pitchFamily="34" charset="-122"/>
                <a:cs typeface="Arial" pitchFamily="34" charset="-120"/>
              </a:rPr>
              <a:t>Data Acquisition </a:t>
            </a:r>
            <a:pPr algn="l" indent="0" marL="0">
              <a:lnSpc>
                <a:spcPct val="105000"/>
              </a:lnSpc>
              <a:buNone/>
            </a:pPr>
            <a:r>
              <a:rPr lang="en-US" sz="5700" b="1" spc="-114" kern="0" dirty="0">
                <a:solidFill>
                  <a:srgbClr val="3A5FCD"/>
                </a:solidFill>
                <a:latin typeface="Arial" pitchFamily="34" charset="0"/>
                <a:ea typeface="Arial" pitchFamily="34" charset="-122"/>
                <a:cs typeface="Arial" pitchFamily="34" charset="-120"/>
              </a:rPr>
              <a:t>Strategy</a:t>
            </a:r>
            <a:endParaRPr lang="en-US" sz="5700" dirty="0"/>
          </a:p>
        </p:txBody>
      </p:sp>
      <p:sp>
        <p:nvSpPr>
          <p:cNvPr id="16" name="Shape 14"/>
          <p:cNvSpPr/>
          <p:nvPr/>
        </p:nvSpPr>
        <p:spPr>
          <a:xfrm>
            <a:off x="1047750" y="6113859"/>
            <a:ext cx="3131790" cy="952500"/>
          </a:xfrm>
          <a:prstGeom prst="roundRect">
            <a:avLst>
              <a:gd name="adj" fmla="val 4000"/>
            </a:avLst>
          </a:prstGeom>
          <a:solidFill>
            <a:srgbClr val="FBFBFD"/>
          </a:solidFill>
          <a:ln w="9525">
            <a:solidFill>
              <a:srgbClr val="E3E6EE"/>
            </a:solidFill>
            <a:prstDash val="solid"/>
          </a:ln>
        </p:spPr>
      </p:sp>
      <p:sp>
        <p:nvSpPr>
          <p:cNvPr id="17" name="Text 15"/>
          <p:cNvSpPr/>
          <p:nvPr/>
        </p:nvSpPr>
        <p:spPr>
          <a:xfrm>
            <a:off x="1266825" y="6294834"/>
            <a:ext cx="2774449"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3A5FCD"/>
                </a:solidFill>
                <a:latin typeface="Courier New" pitchFamily="34" charset="0"/>
                <a:ea typeface="Courier New" pitchFamily="34" charset="-122"/>
                <a:cs typeface="Courier New" pitchFamily="34" charset="-120"/>
              </a:rPr>
              <a:t>01</a:t>
            </a:r>
            <a:endParaRPr lang="en-US" sz="1500" dirty="0"/>
          </a:p>
        </p:txBody>
      </p:sp>
      <p:sp>
        <p:nvSpPr>
          <p:cNvPr id="18" name="Text 16"/>
          <p:cNvSpPr/>
          <p:nvPr/>
        </p:nvSpPr>
        <p:spPr>
          <a:xfrm>
            <a:off x="1266825" y="6628209"/>
            <a:ext cx="2774449" cy="295275"/>
          </a:xfrm>
          <a:prstGeom prst="rect">
            <a:avLst/>
          </a:prstGeom>
          <a:noFill/>
          <a:ln/>
        </p:spPr>
        <p:txBody>
          <a:bodyPr wrap="square" lIns="25400" tIns="25400" rIns="25400" bIns="25400" rtlCol="0" anchor="t">
            <a:normAutofit/>
          </a:bodyPr>
          <a:lstStyle/>
          <a:p>
            <a:pPr algn="l" indent="0" marL="0">
              <a:lnSpc>
                <a:spcPct val="135000"/>
              </a:lnSpc>
              <a:buNone/>
            </a:pPr>
            <a:r>
              <a:rPr lang="en-US" sz="1500" dirty="0">
                <a:solidFill>
                  <a:srgbClr val="1F2A44"/>
                </a:solidFill>
                <a:latin typeface="Arial" pitchFamily="34" charset="0"/>
                <a:ea typeface="Arial" pitchFamily="34" charset="-122"/>
                <a:cs typeface="Arial" pitchFamily="34" charset="-120"/>
              </a:rPr>
              <a:t>Test corpus · </a:t>
            </a:r>
            <a:pPr algn="l" indent="0" marL="0">
              <a:lnSpc>
                <a:spcPct val="135000"/>
              </a:lnSpc>
              <a:buNone/>
            </a:pPr>
            <a:r>
              <a:rPr lang="en-US" sz="1500" dirty="0">
                <a:solidFill>
                  <a:srgbClr val="5A6478"/>
                </a:solidFill>
                <a:latin typeface="Arial" pitchFamily="34" charset="0"/>
                <a:ea typeface="Arial" pitchFamily="34" charset="-122"/>
                <a:cs typeface="Arial" pitchFamily="34" charset="-120"/>
              </a:rPr>
              <a:t>Clotho v2.1</a:t>
            </a:r>
            <a:endParaRPr lang="en-US" sz="1500" dirty="0"/>
          </a:p>
        </p:txBody>
      </p:sp>
      <p:sp>
        <p:nvSpPr>
          <p:cNvPr id="19" name="Shape 17"/>
          <p:cNvSpPr/>
          <p:nvPr/>
        </p:nvSpPr>
        <p:spPr>
          <a:xfrm>
            <a:off x="4312890" y="6113859"/>
            <a:ext cx="3131939" cy="952500"/>
          </a:xfrm>
          <a:prstGeom prst="roundRect">
            <a:avLst>
              <a:gd name="adj" fmla="val 4000"/>
            </a:avLst>
          </a:prstGeom>
          <a:solidFill>
            <a:srgbClr val="FBFBFD"/>
          </a:solidFill>
          <a:ln w="9525">
            <a:solidFill>
              <a:srgbClr val="E3E6EE"/>
            </a:solidFill>
            <a:prstDash val="solid"/>
          </a:ln>
        </p:spPr>
      </p:sp>
      <p:sp>
        <p:nvSpPr>
          <p:cNvPr id="20" name="Text 18"/>
          <p:cNvSpPr/>
          <p:nvPr/>
        </p:nvSpPr>
        <p:spPr>
          <a:xfrm>
            <a:off x="4531965" y="6294834"/>
            <a:ext cx="2774603"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3A5FCD"/>
                </a:solidFill>
                <a:latin typeface="Courier New" pitchFamily="34" charset="0"/>
                <a:ea typeface="Courier New" pitchFamily="34" charset="-122"/>
                <a:cs typeface="Courier New" pitchFamily="34" charset="-120"/>
              </a:rPr>
              <a:t>02</a:t>
            </a:r>
            <a:endParaRPr lang="en-US" sz="1500" dirty="0"/>
          </a:p>
        </p:txBody>
      </p:sp>
      <p:sp>
        <p:nvSpPr>
          <p:cNvPr id="21" name="Text 19"/>
          <p:cNvSpPr/>
          <p:nvPr/>
        </p:nvSpPr>
        <p:spPr>
          <a:xfrm>
            <a:off x="4531965" y="6628209"/>
            <a:ext cx="2774603" cy="295275"/>
          </a:xfrm>
          <a:prstGeom prst="rect">
            <a:avLst/>
          </a:prstGeom>
          <a:noFill/>
          <a:ln/>
        </p:spPr>
        <p:txBody>
          <a:bodyPr wrap="square" lIns="25400" tIns="25400" rIns="25400" bIns="25400" rtlCol="0" anchor="t">
            <a:normAutofit/>
          </a:bodyPr>
          <a:lstStyle/>
          <a:p>
            <a:pPr algn="l" indent="0" marL="0">
              <a:lnSpc>
                <a:spcPct val="135000"/>
              </a:lnSpc>
              <a:buNone/>
            </a:pPr>
            <a:r>
              <a:rPr lang="en-US" sz="1500" dirty="0">
                <a:solidFill>
                  <a:srgbClr val="1F2A44"/>
                </a:solidFill>
                <a:latin typeface="Arial" pitchFamily="34" charset="0"/>
                <a:ea typeface="Arial" pitchFamily="34" charset="-122"/>
                <a:cs typeface="Arial" pitchFamily="34" charset="-120"/>
              </a:rPr>
              <a:t>Acquisition · </a:t>
            </a:r>
            <a:pPr algn="l" indent="0" marL="0">
              <a:lnSpc>
                <a:spcPct val="135000"/>
              </a:lnSpc>
              <a:buNone/>
            </a:pPr>
            <a:r>
              <a:rPr lang="en-US" sz="1500" dirty="0">
                <a:solidFill>
                  <a:srgbClr val="5A6478"/>
                </a:solidFill>
                <a:latin typeface="Arial" pitchFamily="34" charset="0"/>
                <a:ea typeface="Arial" pitchFamily="34" charset="-122"/>
                <a:cs typeface="Arial" pitchFamily="34" charset="-120"/>
              </a:rPr>
              <a:t>which mics?</a:t>
            </a:r>
            <a:endParaRPr lang="en-US" sz="1500" dirty="0"/>
          </a:p>
        </p:txBody>
      </p:sp>
      <p:sp>
        <p:nvSpPr>
          <p:cNvPr id="22" name="Shape 20"/>
          <p:cNvSpPr/>
          <p:nvPr/>
        </p:nvSpPr>
        <p:spPr>
          <a:xfrm>
            <a:off x="7578179" y="6113859"/>
            <a:ext cx="3131790" cy="952500"/>
          </a:xfrm>
          <a:prstGeom prst="roundRect">
            <a:avLst>
              <a:gd name="adj" fmla="val 4000"/>
            </a:avLst>
          </a:prstGeom>
          <a:solidFill>
            <a:srgbClr val="FBFBFD"/>
          </a:solidFill>
          <a:ln w="9525">
            <a:solidFill>
              <a:srgbClr val="E3E6EE"/>
            </a:solidFill>
            <a:prstDash val="solid"/>
          </a:ln>
        </p:spPr>
      </p:sp>
      <p:sp>
        <p:nvSpPr>
          <p:cNvPr id="23" name="Text 21"/>
          <p:cNvSpPr/>
          <p:nvPr/>
        </p:nvSpPr>
        <p:spPr>
          <a:xfrm>
            <a:off x="7797254" y="6294834"/>
            <a:ext cx="2774449"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3A5FCD"/>
                </a:solidFill>
                <a:latin typeface="Courier New" pitchFamily="34" charset="0"/>
                <a:ea typeface="Courier New" pitchFamily="34" charset="-122"/>
                <a:cs typeface="Courier New" pitchFamily="34" charset="-120"/>
              </a:rPr>
              <a:t>03</a:t>
            </a:r>
            <a:endParaRPr lang="en-US" sz="1500" dirty="0"/>
          </a:p>
        </p:txBody>
      </p:sp>
      <p:sp>
        <p:nvSpPr>
          <p:cNvPr id="24" name="Text 22"/>
          <p:cNvSpPr/>
          <p:nvPr/>
        </p:nvSpPr>
        <p:spPr>
          <a:xfrm>
            <a:off x="7797254" y="6628209"/>
            <a:ext cx="2774449" cy="295275"/>
          </a:xfrm>
          <a:prstGeom prst="rect">
            <a:avLst/>
          </a:prstGeom>
          <a:noFill/>
          <a:ln/>
        </p:spPr>
        <p:txBody>
          <a:bodyPr wrap="square" lIns="25400" tIns="25400" rIns="25400" bIns="25400" rtlCol="0" anchor="t">
            <a:normAutofit/>
          </a:bodyPr>
          <a:lstStyle/>
          <a:p>
            <a:pPr algn="l" indent="0" marL="0">
              <a:lnSpc>
                <a:spcPct val="135000"/>
              </a:lnSpc>
              <a:buNone/>
            </a:pPr>
            <a:r>
              <a:rPr lang="en-US" sz="1500" dirty="0">
                <a:solidFill>
                  <a:srgbClr val="1F2A44"/>
                </a:solidFill>
                <a:latin typeface="Arial" pitchFamily="34" charset="0"/>
                <a:ea typeface="Arial" pitchFamily="34" charset="-122"/>
                <a:cs typeface="Arial" pitchFamily="34" charset="-120"/>
              </a:rPr>
              <a:t>Properties · </a:t>
            </a:r>
            <a:pPr algn="l" indent="0" marL="0">
              <a:lnSpc>
                <a:spcPct val="135000"/>
              </a:lnSpc>
              <a:buNone/>
            </a:pPr>
            <a:r>
              <a:rPr lang="en-US" sz="1500" dirty="0">
                <a:solidFill>
                  <a:srgbClr val="5A6478"/>
                </a:solidFill>
                <a:latin typeface="Arial" pitchFamily="34" charset="0"/>
                <a:ea typeface="Arial" pitchFamily="34" charset="-122"/>
                <a:cs typeface="Arial" pitchFamily="34" charset="-120"/>
              </a:rPr>
              <a:t>+ annotation</a:t>
            </a:r>
            <a:endParaRPr lang="en-US" sz="1500" dirty="0"/>
          </a:p>
        </p:txBody>
      </p:sp>
      <p:sp>
        <p:nvSpPr>
          <p:cNvPr id="25" name="Shape 23"/>
          <p:cNvSpPr/>
          <p:nvPr/>
        </p:nvSpPr>
        <p:spPr>
          <a:xfrm>
            <a:off x="10843320" y="6113859"/>
            <a:ext cx="3131790" cy="952500"/>
          </a:xfrm>
          <a:prstGeom prst="roundRect">
            <a:avLst>
              <a:gd name="adj" fmla="val 4000"/>
            </a:avLst>
          </a:prstGeom>
          <a:solidFill>
            <a:srgbClr val="FBFBFD"/>
          </a:solidFill>
          <a:ln w="9525">
            <a:solidFill>
              <a:srgbClr val="E3E6EE"/>
            </a:solidFill>
            <a:prstDash val="solid"/>
          </a:ln>
        </p:spPr>
      </p:sp>
      <p:sp>
        <p:nvSpPr>
          <p:cNvPr id="26" name="Text 24"/>
          <p:cNvSpPr/>
          <p:nvPr/>
        </p:nvSpPr>
        <p:spPr>
          <a:xfrm>
            <a:off x="11062395" y="6294834"/>
            <a:ext cx="2774449"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3A5FCD"/>
                </a:solidFill>
                <a:latin typeface="Courier New" pitchFamily="34" charset="0"/>
                <a:ea typeface="Courier New" pitchFamily="34" charset="-122"/>
                <a:cs typeface="Courier New" pitchFamily="34" charset="-120"/>
              </a:rPr>
              <a:t>04</a:t>
            </a:r>
            <a:endParaRPr lang="en-US" sz="1500" dirty="0"/>
          </a:p>
        </p:txBody>
      </p:sp>
      <p:sp>
        <p:nvSpPr>
          <p:cNvPr id="27" name="Text 25"/>
          <p:cNvSpPr/>
          <p:nvPr/>
        </p:nvSpPr>
        <p:spPr>
          <a:xfrm>
            <a:off x="11062395" y="6628209"/>
            <a:ext cx="2774449" cy="295275"/>
          </a:xfrm>
          <a:prstGeom prst="rect">
            <a:avLst/>
          </a:prstGeom>
          <a:noFill/>
          <a:ln/>
        </p:spPr>
        <p:txBody>
          <a:bodyPr wrap="square" lIns="25400" tIns="25400" rIns="25400" bIns="25400" rtlCol="0" anchor="t">
            <a:normAutofit/>
          </a:bodyPr>
          <a:lstStyle/>
          <a:p>
            <a:pPr algn="l" indent="0" marL="0">
              <a:lnSpc>
                <a:spcPct val="135000"/>
              </a:lnSpc>
              <a:buNone/>
            </a:pPr>
            <a:r>
              <a:rPr lang="en-US" sz="1500" dirty="0">
                <a:solidFill>
                  <a:srgbClr val="1F2A44"/>
                </a:solidFill>
                <a:latin typeface="Arial" pitchFamily="34" charset="0"/>
                <a:ea typeface="Arial" pitchFamily="34" charset="-122"/>
                <a:cs typeface="Arial" pitchFamily="34" charset="-120"/>
              </a:rPr>
              <a:t>Classes · </a:t>
            </a:r>
            <a:pPr algn="l" indent="0" marL="0">
              <a:lnSpc>
                <a:spcPct val="135000"/>
              </a:lnSpc>
              <a:buNone/>
            </a:pPr>
            <a:r>
              <a:rPr lang="en-US" sz="1500" dirty="0">
                <a:solidFill>
                  <a:srgbClr val="5A6478"/>
                </a:solidFill>
                <a:latin typeface="Arial" pitchFamily="34" charset="0"/>
                <a:ea typeface="Arial" pitchFamily="34" charset="-122"/>
                <a:cs typeface="Arial" pitchFamily="34" charset="-120"/>
              </a:rPr>
              <a:t>polyphony test</a:t>
            </a:r>
            <a:endParaRPr lang="en-US" sz="1500" dirty="0"/>
          </a:p>
        </p:txBody>
      </p:sp>
      <p:sp>
        <p:nvSpPr>
          <p:cNvPr id="28" name="Shape 26"/>
          <p:cNvSpPr/>
          <p:nvPr/>
        </p:nvSpPr>
        <p:spPr>
          <a:xfrm>
            <a:off x="14108460" y="6113859"/>
            <a:ext cx="3131790" cy="952500"/>
          </a:xfrm>
          <a:prstGeom prst="roundRect">
            <a:avLst>
              <a:gd name="adj" fmla="val 4000"/>
            </a:avLst>
          </a:prstGeom>
          <a:solidFill>
            <a:srgbClr val="FBFBFD"/>
          </a:solidFill>
          <a:ln w="9525">
            <a:solidFill>
              <a:srgbClr val="E3E6EE"/>
            </a:solidFill>
            <a:prstDash val="solid"/>
          </a:ln>
        </p:spPr>
      </p:sp>
      <p:sp>
        <p:nvSpPr>
          <p:cNvPr id="29" name="Text 27"/>
          <p:cNvSpPr/>
          <p:nvPr/>
        </p:nvSpPr>
        <p:spPr>
          <a:xfrm>
            <a:off x="14327535" y="6294834"/>
            <a:ext cx="2774449"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3A5FCD"/>
                </a:solidFill>
                <a:latin typeface="Courier New" pitchFamily="34" charset="0"/>
                <a:ea typeface="Courier New" pitchFamily="34" charset="-122"/>
                <a:cs typeface="Courier New" pitchFamily="34" charset="-120"/>
              </a:rPr>
              <a:t>05</a:t>
            </a:r>
            <a:endParaRPr lang="en-US" sz="1500" dirty="0"/>
          </a:p>
        </p:txBody>
      </p:sp>
      <p:sp>
        <p:nvSpPr>
          <p:cNvPr id="30" name="Text 28"/>
          <p:cNvSpPr/>
          <p:nvPr/>
        </p:nvSpPr>
        <p:spPr>
          <a:xfrm>
            <a:off x="14327535" y="6628209"/>
            <a:ext cx="2774449" cy="295275"/>
          </a:xfrm>
          <a:prstGeom prst="rect">
            <a:avLst/>
          </a:prstGeom>
          <a:noFill/>
          <a:ln/>
        </p:spPr>
        <p:txBody>
          <a:bodyPr wrap="square" lIns="25400" tIns="25400" rIns="25400" bIns="25400" rtlCol="0" anchor="t">
            <a:normAutofit/>
          </a:bodyPr>
          <a:lstStyle/>
          <a:p>
            <a:pPr algn="l" indent="0" marL="0">
              <a:lnSpc>
                <a:spcPct val="135000"/>
              </a:lnSpc>
              <a:buNone/>
            </a:pPr>
            <a:r>
              <a:rPr lang="en-US" sz="1500" dirty="0">
                <a:solidFill>
                  <a:srgbClr val="1F2A44"/>
                </a:solidFill>
                <a:latin typeface="Arial" pitchFamily="34" charset="0"/>
                <a:ea typeface="Arial" pitchFamily="34" charset="-122"/>
                <a:cs typeface="Arial" pitchFamily="34" charset="-120"/>
              </a:rPr>
              <a:t>Risks · </a:t>
            </a:r>
            <a:pPr algn="l" indent="0" marL="0">
              <a:lnSpc>
                <a:spcPct val="135000"/>
              </a:lnSpc>
              <a:buNone/>
            </a:pPr>
            <a:r>
              <a:rPr lang="en-US" sz="1500" dirty="0">
                <a:solidFill>
                  <a:srgbClr val="5A6478"/>
                </a:solidFill>
                <a:latin typeface="Arial" pitchFamily="34" charset="0"/>
                <a:ea typeface="Arial" pitchFamily="34" charset="-122"/>
                <a:cs typeface="Arial" pitchFamily="34" charset="-120"/>
              </a:rPr>
              <a:t>path forward</a:t>
            </a:r>
            <a:endParaRPr lang="en-US" sz="1500" dirty="0"/>
          </a:p>
        </p:txBody>
      </p:sp>
      <p:sp>
        <p:nvSpPr>
          <p:cNvPr id="31" name="Shape 29"/>
          <p:cNvSpPr/>
          <p:nvPr/>
        </p:nvSpPr>
        <p:spPr>
          <a:xfrm>
            <a:off x="1047750" y="8017371"/>
            <a:ext cx="16192500" cy="9525"/>
          </a:xfrm>
          <a:prstGeom prst="rect">
            <a:avLst/>
          </a:prstGeom>
          <a:solidFill>
            <a:srgbClr val="E3E6EE"/>
          </a:solidFill>
          <a:ln/>
        </p:spPr>
      </p:sp>
      <p:sp>
        <p:nvSpPr>
          <p:cNvPr id="32" name="Text 30"/>
          <p:cNvSpPr/>
          <p:nvPr/>
        </p:nvSpPr>
        <p:spPr>
          <a:xfrm>
            <a:off x="1047750" y="8293596"/>
            <a:ext cx="1448098"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spc="198" kern="0" dirty="0">
                <a:solidFill>
                  <a:srgbClr val="7C8597"/>
                </a:solidFill>
                <a:latin typeface="Arial" pitchFamily="34" charset="0"/>
                <a:ea typeface="Arial" pitchFamily="34" charset="-122"/>
                <a:cs typeface="Arial" pitchFamily="34" charset="-120"/>
              </a:rPr>
              <a:t>AUTHOR</a:t>
            </a:r>
            <a:endParaRPr lang="en-US" sz="1650" dirty="0"/>
          </a:p>
        </p:txBody>
      </p:sp>
      <p:sp>
        <p:nvSpPr>
          <p:cNvPr id="33" name="Text 31"/>
          <p:cNvSpPr/>
          <p:nvPr/>
        </p:nvSpPr>
        <p:spPr>
          <a:xfrm>
            <a:off x="1047750" y="8673554"/>
            <a:ext cx="1448098" cy="479971"/>
          </a:xfrm>
          <a:prstGeom prst="rect">
            <a:avLst/>
          </a:prstGeom>
          <a:noFill/>
          <a:ln/>
        </p:spPr>
        <p:txBody>
          <a:bodyPr wrap="square" lIns="25400" tIns="25400" rIns="25400" bIns="25400" rtlCol="0" anchor="t">
            <a:normAutofit/>
          </a:bodyPr>
          <a:lstStyle/>
          <a:p>
            <a:pPr algn="l" indent="0" marL="0">
              <a:lnSpc>
                <a:spcPct val="145000"/>
              </a:lnSpc>
              <a:buNone/>
            </a:pPr>
            <a:r>
              <a:rPr lang="en-US" sz="2400" b="1" dirty="0">
                <a:solidFill>
                  <a:srgbClr val="1F2A44"/>
                </a:solidFill>
                <a:latin typeface="Arial" pitchFamily="34" charset="0"/>
                <a:ea typeface="Arial" pitchFamily="34" charset="-122"/>
                <a:cs typeface="Arial" pitchFamily="34" charset="-120"/>
              </a:rPr>
              <a:t>Zuraiz</a:t>
            </a:r>
            <a:endParaRPr lang="en-US" sz="2400" dirty="0"/>
          </a:p>
        </p:txBody>
      </p:sp>
      <p:sp>
        <p:nvSpPr>
          <p:cNvPr id="34" name="Text 32"/>
          <p:cNvSpPr/>
          <p:nvPr/>
        </p:nvSpPr>
        <p:spPr>
          <a:xfrm>
            <a:off x="1047750" y="9153525"/>
            <a:ext cx="1448098"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5A6478"/>
                </a:solidFill>
                <a:latin typeface="Courier New" pitchFamily="34" charset="0"/>
                <a:ea typeface="Courier New" pitchFamily="34" charset="-122"/>
                <a:cs typeface="Courier New" pitchFamily="34" charset="-120"/>
              </a:rPr>
              <a:t>Mat. 2177213</a:t>
            </a:r>
            <a:endParaRPr lang="en-US" sz="1500" dirty="0"/>
          </a:p>
        </p:txBody>
      </p:sp>
      <p:sp>
        <p:nvSpPr>
          <p:cNvPr id="35" name="Text 33"/>
          <p:cNvSpPr/>
          <p:nvPr/>
        </p:nvSpPr>
        <p:spPr>
          <a:xfrm>
            <a:off x="13351054" y="8404027"/>
            <a:ext cx="3889196" cy="341858"/>
          </a:xfrm>
          <a:prstGeom prst="rect">
            <a:avLst/>
          </a:prstGeom>
          <a:noFill/>
          <a:ln/>
        </p:spPr>
        <p:txBody>
          <a:bodyPr wrap="square" lIns="25400" tIns="25400" rIns="25400" bIns="25400" rtlCol="0" anchor="t">
            <a:normAutofit/>
          </a:bodyPr>
          <a:lstStyle/>
          <a:p>
            <a:pPr algn="r" indent="0" marL="0">
              <a:lnSpc>
                <a:spcPct val="145000"/>
              </a:lnSpc>
              <a:buNone/>
            </a:pPr>
            <a:r>
              <a:rPr lang="en-US" sz="1650" spc="198" kern="0" dirty="0">
                <a:solidFill>
                  <a:srgbClr val="7C8597"/>
                </a:solidFill>
                <a:latin typeface="Arial" pitchFamily="34" charset="0"/>
                <a:ea typeface="Arial" pitchFamily="34" charset="-122"/>
                <a:cs typeface="Arial" pitchFamily="34" charset="-120"/>
              </a:rPr>
              <a:t>P1 CALLBACK</a:t>
            </a:r>
            <a:endParaRPr lang="en-US" sz="1650" dirty="0"/>
          </a:p>
        </p:txBody>
      </p:sp>
      <p:sp>
        <p:nvSpPr>
          <p:cNvPr id="36" name="Text 34"/>
          <p:cNvSpPr/>
          <p:nvPr/>
        </p:nvSpPr>
        <p:spPr>
          <a:xfrm>
            <a:off x="13351054" y="8783985"/>
            <a:ext cx="3889196" cy="369540"/>
          </a:xfrm>
          <a:prstGeom prst="rect">
            <a:avLst/>
          </a:prstGeom>
          <a:noFill/>
          <a:ln/>
        </p:spPr>
        <p:txBody>
          <a:bodyPr wrap="square" lIns="25400" tIns="25400" rIns="25400" bIns="25400" rtlCol="0" anchor="t">
            <a:normAutofit/>
          </a:bodyPr>
          <a:lstStyle/>
          <a:p>
            <a:pPr algn="r" indent="0" marL="0">
              <a:lnSpc>
                <a:spcPct val="145000"/>
              </a:lnSpc>
              <a:buNone/>
            </a:pPr>
            <a:r>
              <a:rPr lang="en-US" sz="1800" dirty="0">
                <a:solidFill>
                  <a:srgbClr val="1F2A44"/>
                </a:solidFill>
                <a:latin typeface="Arial" pitchFamily="34" charset="0"/>
                <a:ea typeface="Arial" pitchFamily="34" charset="-122"/>
                <a:cs typeface="Arial" pitchFamily="34" charset="-120"/>
              </a:rPr>
              <a:t>Closing the loop on </a:t>
            </a:r>
            <a:pPr algn="r" indent="0" marL="0">
              <a:lnSpc>
                <a:spcPct val="145000"/>
              </a:lnSpc>
              <a:buNone/>
            </a:pPr>
            <a:r>
              <a:rPr lang="en-US" sz="1800" b="1" dirty="0">
                <a:solidFill>
                  <a:srgbClr val="1F2A44"/>
                </a:solidFill>
                <a:latin typeface="Arial" pitchFamily="34" charset="0"/>
                <a:ea typeface="Arial" pitchFamily="34" charset="-122"/>
                <a:cs typeface="Arial" pitchFamily="34" charset="-120"/>
              </a:rPr>
              <a:t>contamination</a:t>
            </a:r>
            <a:endParaRPr lang="en-US" sz="1800" dirty="0"/>
          </a:p>
        </p:txBody>
      </p:sp>
      <p:sp>
        <p:nvSpPr>
          <p:cNvPr id="37" name="Text 35"/>
          <p:cNvSpPr/>
          <p:nvPr/>
        </p:nvSpPr>
        <p:spPr>
          <a:xfrm>
            <a:off x="13351054" y="9153525"/>
            <a:ext cx="3889196" cy="314325"/>
          </a:xfrm>
          <a:prstGeom prst="rect">
            <a:avLst/>
          </a:prstGeom>
          <a:noFill/>
          <a:ln/>
        </p:spPr>
        <p:txBody>
          <a:bodyPr wrap="square" lIns="25400" tIns="25400" rIns="25400" bIns="25400" rtlCol="0" anchor="t">
            <a:normAutofit/>
          </a:bodyPr>
          <a:lstStyle/>
          <a:p>
            <a:pPr algn="r" indent="0" marL="0">
              <a:lnSpc>
                <a:spcPct val="145000"/>
              </a:lnSpc>
              <a:buNone/>
            </a:pPr>
            <a:r>
              <a:rPr lang="en-US" sz="1500" i="1" dirty="0">
                <a:solidFill>
                  <a:srgbClr val="5A6478"/>
                </a:solidFill>
                <a:latin typeface="Arial" pitchFamily="34" charset="0"/>
                <a:ea typeface="Arial" pitchFamily="34" charset="-122"/>
                <a:cs typeface="Arial" pitchFamily="34" charset="-120"/>
              </a:rPr>
              <a:t>— the Risk to Watch I named last time.</a:t>
            </a:r>
            <a:endParaRPr lang="en-US" sz="1500" dirty="0"/>
          </a:p>
        </p:txBody>
      </p:sp>
      <p:sp>
        <p:nvSpPr>
          <p:cNvPr id="38" name="Text 36"/>
          <p:cNvSpPr/>
          <p:nvPr/>
        </p:nvSpPr>
        <p:spPr>
          <a:xfrm>
            <a:off x="762000" y="9725025"/>
            <a:ext cx="2242989"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spc="30" kern="0" dirty="0">
                <a:solidFill>
                  <a:srgbClr val="7C8597"/>
                </a:solidFill>
                <a:latin typeface="Arial" pitchFamily="34" charset="0"/>
                <a:ea typeface="Arial" pitchFamily="34" charset="-122"/>
                <a:cs typeface="Arial" pitchFamily="34" charset="-120"/>
              </a:rPr>
              <a:t>Zuraiz · P2 · 2026-05-18</a:t>
            </a:r>
            <a:endParaRPr lang="en-US" sz="1500" dirty="0"/>
          </a:p>
        </p:txBody>
      </p:sp>
      <p:sp>
        <p:nvSpPr>
          <p:cNvPr id="39" name="Text 37"/>
          <p:cNvSpPr/>
          <p:nvPr/>
        </p:nvSpPr>
        <p:spPr>
          <a:xfrm>
            <a:off x="17154079" y="9725025"/>
            <a:ext cx="448121"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spc="30" kern="0" dirty="0">
                <a:solidFill>
                  <a:srgbClr val="7C8597"/>
                </a:solidFill>
                <a:latin typeface="Arial" pitchFamily="34" charset="0"/>
                <a:ea typeface="Arial" pitchFamily="34" charset="-122"/>
                <a:cs typeface="Arial" pitchFamily="34" charset="-120"/>
              </a:rPr>
              <a:t>Title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7183100" y="419100"/>
            <a:ext cx="342900" cy="19050"/>
          </a:xfrm>
          <a:prstGeom prst="rect">
            <a:avLst/>
          </a:prstGeom>
          <a:solidFill>
            <a:srgbClr val="1F2A44"/>
          </a:solidFill>
          <a:ln/>
        </p:spPr>
      </p:sp>
      <p:sp>
        <p:nvSpPr>
          <p:cNvPr id="3" name="Shape 1"/>
          <p:cNvSpPr/>
          <p:nvPr/>
        </p:nvSpPr>
        <p:spPr>
          <a:xfrm>
            <a:off x="17297400" y="495300"/>
            <a:ext cx="228600" cy="19050"/>
          </a:xfrm>
          <a:prstGeom prst="rect">
            <a:avLst/>
          </a:prstGeom>
          <a:solidFill>
            <a:srgbClr val="1F2A44"/>
          </a:solidFill>
          <a:ln/>
        </p:spPr>
      </p:sp>
      <p:sp>
        <p:nvSpPr>
          <p:cNvPr id="4" name="Shape 2"/>
          <p:cNvSpPr/>
          <p:nvPr/>
        </p:nvSpPr>
        <p:spPr>
          <a:xfrm>
            <a:off x="17392650" y="571500"/>
            <a:ext cx="133350" cy="19050"/>
          </a:xfrm>
          <a:prstGeom prst="rect">
            <a:avLst/>
          </a:prstGeom>
          <a:solidFill>
            <a:srgbClr val="1F2A44"/>
          </a:solidFill>
          <a:ln/>
        </p:spPr>
      </p:sp>
      <p:sp>
        <p:nvSpPr>
          <p:cNvPr id="5" name="Text 3"/>
          <p:cNvSpPr/>
          <p:nvPr/>
        </p:nvSpPr>
        <p:spPr>
          <a:xfrm>
            <a:off x="762000" y="685800"/>
            <a:ext cx="17266920"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spc="270" kern="0" dirty="0">
                <a:solidFill>
                  <a:srgbClr val="3A5FCD"/>
                </a:solidFill>
                <a:latin typeface="Arial" pitchFamily="34" charset="0"/>
                <a:ea typeface="Arial" pitchFamily="34" charset="-122"/>
                <a:cs typeface="Arial" pitchFamily="34" charset="-120"/>
              </a:rPr>
              <a:t>P2 · DATA ACQUISITION STRATEGY</a:t>
            </a:r>
            <a:endParaRPr lang="en-US" sz="1500" dirty="0"/>
          </a:p>
        </p:txBody>
      </p:sp>
      <p:sp>
        <p:nvSpPr>
          <p:cNvPr id="6" name="Text 4"/>
          <p:cNvSpPr/>
          <p:nvPr/>
        </p:nvSpPr>
        <p:spPr>
          <a:xfrm>
            <a:off x="762000" y="1114425"/>
            <a:ext cx="17266920" cy="582811"/>
          </a:xfrm>
          <a:prstGeom prst="rect">
            <a:avLst/>
          </a:prstGeom>
          <a:noFill/>
          <a:ln/>
        </p:spPr>
        <p:txBody>
          <a:bodyPr wrap="square" lIns="25400" tIns="25400" rIns="25400" bIns="25400" rtlCol="0" anchor="t">
            <a:normAutofit/>
          </a:bodyPr>
          <a:lstStyle/>
          <a:p>
            <a:pPr algn="l" indent="0" marL="0">
              <a:lnSpc>
                <a:spcPct val="110000"/>
              </a:lnSpc>
              <a:buNone/>
            </a:pPr>
            <a:r>
              <a:rPr lang="en-US" sz="3900" b="1" spc="-58" kern="0" dirty="0">
                <a:solidFill>
                  <a:srgbClr val="1F2A44"/>
                </a:solidFill>
                <a:latin typeface="Arial" pitchFamily="34" charset="0"/>
                <a:ea typeface="Arial" pitchFamily="34" charset="-122"/>
                <a:cs typeface="Arial" pitchFamily="34" charset="-120"/>
              </a:rPr>
              <a:t>Clotho v2.1 </a:t>
            </a:r>
            <a:pPr algn="l" indent="0" marL="0">
              <a:lnSpc>
                <a:spcPct val="110000"/>
              </a:lnSpc>
              <a:buNone/>
            </a:pPr>
            <a:r>
              <a:rPr lang="en-US" sz="3900" spc="-58" kern="0" dirty="0">
                <a:solidFill>
                  <a:srgbClr val="C8CDD8"/>
                </a:solidFill>
                <a:latin typeface="Arial" pitchFamily="34" charset="0"/>
                <a:ea typeface="Arial" pitchFamily="34" charset="-122"/>
                <a:cs typeface="Arial" pitchFamily="34" charset="-120"/>
              </a:rPr>
              <a:t>— </a:t>
            </a:r>
            <a:pPr algn="l" indent="0" marL="0">
              <a:lnSpc>
                <a:spcPct val="110000"/>
              </a:lnSpc>
              <a:buNone/>
            </a:pPr>
            <a:r>
              <a:rPr lang="en-US" sz="3900" b="1" spc="-58" kern="0" dirty="0">
                <a:solidFill>
                  <a:srgbClr val="1F2A44"/>
                </a:solidFill>
                <a:latin typeface="Arial" pitchFamily="34" charset="0"/>
                <a:ea typeface="Arial" pitchFamily="34" charset="-122"/>
                <a:cs typeface="Arial" pitchFamily="34" charset="-120"/>
              </a:rPr>
              <a:t>and why it is the right test corpus</a:t>
            </a:r>
            <a:endParaRPr lang="en-US" sz="3900" dirty="0"/>
          </a:p>
        </p:txBody>
      </p:sp>
      <p:sp>
        <p:nvSpPr>
          <p:cNvPr id="7" name="Text 5"/>
          <p:cNvSpPr/>
          <p:nvPr/>
        </p:nvSpPr>
        <p:spPr>
          <a:xfrm>
            <a:off x="762000" y="1830586"/>
            <a:ext cx="14225588"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i="1" dirty="0">
                <a:solidFill>
                  <a:srgbClr val="5A6478"/>
                </a:solidFill>
                <a:latin typeface="Arial" pitchFamily="34" charset="0"/>
                <a:ea typeface="Arial" pitchFamily="34" charset="-122"/>
                <a:cs typeface="Arial" pitchFamily="34" charset="-120"/>
              </a:rPr>
              <a:t>Zero-shot evaluation, so no recording. The question is which test corpus.</a:t>
            </a:r>
            <a:endParaRPr lang="en-US" sz="1950" dirty="0"/>
          </a:p>
        </p:txBody>
      </p:sp>
      <p:sp>
        <p:nvSpPr>
          <p:cNvPr id="8" name="Text 6"/>
          <p:cNvSpPr/>
          <p:nvPr/>
        </p:nvSpPr>
        <p:spPr>
          <a:xfrm>
            <a:off x="762000" y="2583954"/>
            <a:ext cx="10664285"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spc="270" kern="0" dirty="0">
                <a:solidFill>
                  <a:srgbClr val="1F2A44"/>
                </a:solidFill>
                <a:latin typeface="Arial" pitchFamily="34" charset="0"/>
                <a:ea typeface="Arial" pitchFamily="34" charset="-122"/>
                <a:cs typeface="Arial" pitchFamily="34" charset="-120"/>
              </a:rPr>
              <a:t>CHOSEN — CLOTHO V2.1</a:t>
            </a:r>
            <a:endParaRPr lang="en-US" sz="1500" dirty="0"/>
          </a:p>
        </p:txBody>
      </p:sp>
      <p:sp>
        <p:nvSpPr>
          <p:cNvPr id="9" name="Text 7"/>
          <p:cNvSpPr/>
          <p:nvPr/>
        </p:nvSpPr>
        <p:spPr>
          <a:xfrm>
            <a:off x="762000" y="3279279"/>
            <a:ext cx="34290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3A5FCD"/>
                </a:solidFill>
                <a:latin typeface="Arial" pitchFamily="34" charset="0"/>
                <a:ea typeface="Arial" pitchFamily="34" charset="-122"/>
                <a:cs typeface="Arial" pitchFamily="34" charset="-120"/>
              </a:rPr>
              <a:t>✓</a:t>
            </a:r>
            <a:endParaRPr lang="en-US" sz="1800" dirty="0"/>
          </a:p>
        </p:txBody>
      </p:sp>
      <p:sp>
        <p:nvSpPr>
          <p:cNvPr id="10" name="Text 8"/>
          <p:cNvSpPr/>
          <p:nvPr/>
        </p:nvSpPr>
        <p:spPr>
          <a:xfrm>
            <a:off x="1162050" y="3279279"/>
            <a:ext cx="6091249"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1F2A44"/>
                </a:solidFill>
                <a:latin typeface="Arial" pitchFamily="34" charset="0"/>
                <a:ea typeface="Arial" pitchFamily="34" charset="-122"/>
                <a:cs typeface="Arial" pitchFamily="34" charset="-120"/>
              </a:rPr>
              <a:t>DCASE Task 6 official benchmark </a:t>
            </a:r>
            <a:pPr algn="l" indent="0" marL="0">
              <a:lnSpc>
                <a:spcPct val="140000"/>
              </a:lnSpc>
              <a:buNone/>
            </a:pPr>
            <a:r>
              <a:rPr lang="en-US" sz="1800" dirty="0">
                <a:solidFill>
                  <a:srgbClr val="5A6478"/>
                </a:solidFill>
                <a:latin typeface="Arial" pitchFamily="34" charset="0"/>
                <a:ea typeface="Arial" pitchFamily="34" charset="-122"/>
                <a:cs typeface="Arial" pitchFamily="34" charset="-120"/>
              </a:rPr>
              <a:t>— leaderboard parity</a:t>
            </a:r>
            <a:endParaRPr lang="en-US" sz="1800" dirty="0"/>
          </a:p>
        </p:txBody>
      </p:sp>
      <p:sp>
        <p:nvSpPr>
          <p:cNvPr id="11" name="Text 9"/>
          <p:cNvSpPr/>
          <p:nvPr/>
        </p:nvSpPr>
        <p:spPr>
          <a:xfrm>
            <a:off x="762000" y="3751659"/>
            <a:ext cx="34290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3A5FCD"/>
                </a:solidFill>
                <a:latin typeface="Arial" pitchFamily="34" charset="0"/>
                <a:ea typeface="Arial" pitchFamily="34" charset="-122"/>
                <a:cs typeface="Arial" pitchFamily="34" charset="-120"/>
              </a:rPr>
              <a:t>✓</a:t>
            </a:r>
            <a:endParaRPr lang="en-US" sz="1800" dirty="0"/>
          </a:p>
        </p:txBody>
      </p:sp>
      <p:sp>
        <p:nvSpPr>
          <p:cNvPr id="12" name="Text 10"/>
          <p:cNvSpPr/>
          <p:nvPr/>
        </p:nvSpPr>
        <p:spPr>
          <a:xfrm>
            <a:off x="1162050" y="3751659"/>
            <a:ext cx="8080839"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1F2A44"/>
                </a:solidFill>
                <a:latin typeface="Arial" pitchFamily="34" charset="0"/>
                <a:ea typeface="Arial" pitchFamily="34" charset="-122"/>
                <a:cs typeface="Arial" pitchFamily="34" charset="-120"/>
              </a:rPr>
              <a:t>5 captions per clip </a:t>
            </a:r>
            <a:pPr algn="l" indent="0" marL="0">
              <a:lnSpc>
                <a:spcPct val="140000"/>
              </a:lnSpc>
              <a:buNone/>
            </a:pPr>
            <a:r>
              <a:rPr lang="en-US" sz="1800" dirty="0">
                <a:solidFill>
                  <a:srgbClr val="5A6478"/>
                </a:solidFill>
                <a:latin typeface="Arial" pitchFamily="34" charset="0"/>
                <a:ea typeface="Arial" pitchFamily="34" charset="-122"/>
                <a:cs typeface="Arial" pitchFamily="34" charset="-120"/>
              </a:rPr>
              <a:t>— dense annotation enables under-description detection</a:t>
            </a:r>
            <a:endParaRPr lang="en-US" sz="1800" dirty="0"/>
          </a:p>
        </p:txBody>
      </p:sp>
      <p:sp>
        <p:nvSpPr>
          <p:cNvPr id="13" name="Text 11"/>
          <p:cNvSpPr/>
          <p:nvPr/>
        </p:nvSpPr>
        <p:spPr>
          <a:xfrm>
            <a:off x="762000" y="4224040"/>
            <a:ext cx="34290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3A5FCD"/>
                </a:solidFill>
                <a:latin typeface="Arial" pitchFamily="34" charset="0"/>
                <a:ea typeface="Arial" pitchFamily="34" charset="-122"/>
                <a:cs typeface="Arial" pitchFamily="34" charset="-120"/>
              </a:rPr>
              <a:t>✓</a:t>
            </a:r>
            <a:endParaRPr lang="en-US" sz="1800" dirty="0"/>
          </a:p>
        </p:txBody>
      </p:sp>
      <p:sp>
        <p:nvSpPr>
          <p:cNvPr id="14" name="Text 12"/>
          <p:cNvSpPr/>
          <p:nvPr/>
        </p:nvSpPr>
        <p:spPr>
          <a:xfrm>
            <a:off x="1162050" y="4224040"/>
            <a:ext cx="838114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1F2A44"/>
                </a:solidFill>
                <a:latin typeface="Arial" pitchFamily="34" charset="0"/>
                <a:ea typeface="Arial" pitchFamily="34" charset="-122"/>
                <a:cs typeface="Arial" pitchFamily="34" charset="-120"/>
              </a:rPr>
              <a:t>FreeSound-sourced</a:t>
            </a:r>
            <a:pPr algn="l" indent="0" marL="0">
              <a:lnSpc>
                <a:spcPct val="140000"/>
              </a:lnSpc>
              <a:buNone/>
            </a:pPr>
            <a:r>
              <a:rPr lang="en-US" sz="1800" dirty="0">
                <a:solidFill>
                  <a:srgbClr val="14182A"/>
                </a:solidFill>
                <a:latin typeface="Arial" pitchFamily="34" charset="0"/>
                <a:ea typeface="Arial" pitchFamily="34" charset="-122"/>
                <a:cs typeface="Arial" pitchFamily="34" charset="-120"/>
              </a:rPr>
              <a:t>, </a:t>
            </a:r>
            <a:pPr algn="l" indent="0" marL="0">
              <a:lnSpc>
                <a:spcPct val="140000"/>
              </a:lnSpc>
              <a:buNone/>
            </a:pPr>
            <a:r>
              <a:rPr lang="en-US" sz="1800" dirty="0">
                <a:solidFill>
                  <a:srgbClr val="5A6478"/>
                </a:solidFill>
                <a:latin typeface="Arial" pitchFamily="34" charset="0"/>
                <a:ea typeface="Arial" pitchFamily="34" charset="-122"/>
                <a:cs typeface="Arial" pitchFamily="34" charset="-120"/>
              </a:rPr>
              <a:t>not AudioSet — lower contamination risk than AudioCaps</a:t>
            </a:r>
            <a:endParaRPr lang="en-US" sz="1800" dirty="0"/>
          </a:p>
        </p:txBody>
      </p:sp>
      <p:sp>
        <p:nvSpPr>
          <p:cNvPr id="15" name="Shape 13"/>
          <p:cNvSpPr/>
          <p:nvPr/>
        </p:nvSpPr>
        <p:spPr>
          <a:xfrm>
            <a:off x="762000" y="4886920"/>
            <a:ext cx="2469207" cy="447675"/>
          </a:xfrm>
          <a:prstGeom prst="roundRect">
            <a:avLst>
              <a:gd name="adj" fmla="val 50000"/>
            </a:avLst>
          </a:prstGeom>
          <a:solidFill>
            <a:srgbClr val="E6ECFB"/>
          </a:solidFill>
          <a:ln w="9525">
            <a:solidFill>
              <a:srgbClr val="D6DEEF"/>
            </a:solidFill>
            <a:prstDash val="solid"/>
          </a:ln>
        </p:spPr>
      </p:sp>
      <p:sp>
        <p:nvSpPr>
          <p:cNvPr id="16" name="Shape 14"/>
          <p:cNvSpPr/>
          <p:nvPr/>
        </p:nvSpPr>
        <p:spPr>
          <a:xfrm>
            <a:off x="904875" y="5072658"/>
            <a:ext cx="76200" cy="76200"/>
          </a:xfrm>
          <a:prstGeom prst="ellipse">
            <a:avLst/>
          </a:prstGeom>
          <a:solidFill>
            <a:srgbClr val="3A5FCD"/>
          </a:solidFill>
          <a:ln/>
        </p:spPr>
      </p:sp>
      <p:sp>
        <p:nvSpPr>
          <p:cNvPr id="17" name="Text 15"/>
          <p:cNvSpPr/>
          <p:nvPr/>
        </p:nvSpPr>
        <p:spPr>
          <a:xfrm>
            <a:off x="1057275" y="4991695"/>
            <a:ext cx="2107257" cy="266700"/>
          </a:xfrm>
          <a:prstGeom prst="rect">
            <a:avLst/>
          </a:prstGeom>
          <a:noFill/>
          <a:ln/>
        </p:spPr>
        <p:txBody>
          <a:bodyPr wrap="square" lIns="0" tIns="0" rIns="0" bIns="0" rtlCol="0" anchor="t">
            <a:normAutofit/>
          </a:bodyPr>
          <a:lstStyle/>
          <a:p>
            <a:pPr algn="l" indent="0" marL="0">
              <a:lnSpc>
                <a:spcPct val="145000"/>
              </a:lnSpc>
              <a:buNone/>
            </a:pPr>
            <a:r>
              <a:rPr lang="en-US" sz="1500" dirty="0">
                <a:solidFill>
                  <a:srgbClr val="1F2A44"/>
                </a:solidFill>
                <a:latin typeface="Arial" pitchFamily="34" charset="0"/>
                <a:ea typeface="Arial" pitchFamily="34" charset="-122"/>
                <a:cs typeface="Arial" pitchFamily="34" charset="-120"/>
              </a:rPr>
              <a:t>Zenodo · DOI 4783391</a:t>
            </a:r>
            <a:endParaRPr lang="en-US" sz="1500" dirty="0"/>
          </a:p>
        </p:txBody>
      </p:sp>
      <p:sp>
        <p:nvSpPr>
          <p:cNvPr id="18" name="Shape 16"/>
          <p:cNvSpPr/>
          <p:nvPr/>
        </p:nvSpPr>
        <p:spPr>
          <a:xfrm>
            <a:off x="3326457" y="4886920"/>
            <a:ext cx="1408509" cy="447675"/>
          </a:xfrm>
          <a:prstGeom prst="roundRect">
            <a:avLst>
              <a:gd name="adj" fmla="val 50000"/>
            </a:avLst>
          </a:prstGeom>
          <a:solidFill>
            <a:srgbClr val="FDF3E7"/>
          </a:solidFill>
          <a:ln w="9525">
            <a:solidFill>
              <a:srgbClr val="F0DEB8"/>
            </a:solidFill>
            <a:prstDash val="solid"/>
          </a:ln>
        </p:spPr>
      </p:sp>
      <p:sp>
        <p:nvSpPr>
          <p:cNvPr id="19" name="Shape 17"/>
          <p:cNvSpPr/>
          <p:nvPr/>
        </p:nvSpPr>
        <p:spPr>
          <a:xfrm>
            <a:off x="3469332" y="5072658"/>
            <a:ext cx="76200" cy="76200"/>
          </a:xfrm>
          <a:prstGeom prst="ellipse">
            <a:avLst/>
          </a:prstGeom>
          <a:solidFill>
            <a:srgbClr val="C98A2A"/>
          </a:solidFill>
          <a:ln/>
        </p:spPr>
      </p:sp>
      <p:sp>
        <p:nvSpPr>
          <p:cNvPr id="20" name="Text 18"/>
          <p:cNvSpPr/>
          <p:nvPr/>
        </p:nvSpPr>
        <p:spPr>
          <a:xfrm>
            <a:off x="3621732" y="4991695"/>
            <a:ext cx="1046559" cy="266700"/>
          </a:xfrm>
          <a:prstGeom prst="rect">
            <a:avLst/>
          </a:prstGeom>
          <a:noFill/>
          <a:ln/>
        </p:spPr>
        <p:txBody>
          <a:bodyPr wrap="square" lIns="0" tIns="0" rIns="0" bIns="0" rtlCol="0" anchor="t">
            <a:normAutofit/>
          </a:bodyPr>
          <a:lstStyle/>
          <a:p>
            <a:pPr algn="l" indent="0" marL="0">
              <a:lnSpc>
                <a:spcPct val="145000"/>
              </a:lnSpc>
              <a:buNone/>
            </a:pPr>
            <a:r>
              <a:rPr lang="en-US" sz="1500" dirty="0">
                <a:solidFill>
                  <a:srgbClr val="1F2A44"/>
                </a:solidFill>
                <a:latin typeface="Arial" pitchFamily="34" charset="0"/>
                <a:ea typeface="Arial" pitchFamily="34" charset="-122"/>
                <a:cs typeface="Arial" pitchFamily="34" charset="-120"/>
              </a:rPr>
              <a:t>CC-BY 4.0</a:t>
            </a:r>
            <a:endParaRPr lang="en-US" sz="1500" dirty="0"/>
          </a:p>
        </p:txBody>
      </p:sp>
      <p:sp>
        <p:nvSpPr>
          <p:cNvPr id="21" name="Shape 19"/>
          <p:cNvSpPr/>
          <p:nvPr/>
        </p:nvSpPr>
        <p:spPr>
          <a:xfrm>
            <a:off x="4830217" y="4886920"/>
            <a:ext cx="843558" cy="447675"/>
          </a:xfrm>
          <a:prstGeom prst="roundRect">
            <a:avLst>
              <a:gd name="adj" fmla="val 50000"/>
            </a:avLst>
          </a:prstGeom>
          <a:solidFill>
            <a:srgbClr val="E6EFE2"/>
          </a:solidFill>
          <a:ln w="9525">
            <a:solidFill>
              <a:srgbClr val="C6DBC0"/>
            </a:solidFill>
            <a:prstDash val="solid"/>
          </a:ln>
        </p:spPr>
      </p:sp>
      <p:sp>
        <p:nvSpPr>
          <p:cNvPr id="22" name="Shape 20"/>
          <p:cNvSpPr/>
          <p:nvPr/>
        </p:nvSpPr>
        <p:spPr>
          <a:xfrm>
            <a:off x="4973092" y="5072658"/>
            <a:ext cx="76200" cy="76200"/>
          </a:xfrm>
          <a:prstGeom prst="ellipse">
            <a:avLst/>
          </a:prstGeom>
          <a:solidFill>
            <a:srgbClr val="4D8A4A"/>
          </a:solidFill>
          <a:ln/>
        </p:spPr>
      </p:sp>
      <p:sp>
        <p:nvSpPr>
          <p:cNvPr id="23" name="Text 21"/>
          <p:cNvSpPr/>
          <p:nvPr/>
        </p:nvSpPr>
        <p:spPr>
          <a:xfrm>
            <a:off x="5125492" y="4991695"/>
            <a:ext cx="481608" cy="266700"/>
          </a:xfrm>
          <a:prstGeom prst="rect">
            <a:avLst/>
          </a:prstGeom>
          <a:noFill/>
          <a:ln/>
        </p:spPr>
        <p:txBody>
          <a:bodyPr wrap="square" lIns="0" tIns="0" rIns="0" bIns="0" rtlCol="0" anchor="t">
            <a:normAutofit/>
          </a:bodyPr>
          <a:lstStyle/>
          <a:p>
            <a:pPr algn="l" indent="0" marL="0">
              <a:lnSpc>
                <a:spcPct val="145000"/>
              </a:lnSpc>
              <a:buNone/>
            </a:pPr>
            <a:r>
              <a:rPr lang="en-US" sz="1500" dirty="0">
                <a:solidFill>
                  <a:srgbClr val="1F2A44"/>
                </a:solidFill>
                <a:latin typeface="Arial" pitchFamily="34" charset="0"/>
                <a:ea typeface="Arial" pitchFamily="34" charset="-122"/>
                <a:cs typeface="Arial" pitchFamily="34" charset="-120"/>
              </a:rPr>
              <a:t>FAIR</a:t>
            </a:r>
            <a:endParaRPr lang="en-US" sz="1500" dirty="0"/>
          </a:p>
        </p:txBody>
      </p:sp>
      <p:sp>
        <p:nvSpPr>
          <p:cNvPr id="24" name="Shape 22"/>
          <p:cNvSpPr/>
          <p:nvPr/>
        </p:nvSpPr>
        <p:spPr>
          <a:xfrm>
            <a:off x="762000" y="5715595"/>
            <a:ext cx="5062538" cy="1924050"/>
          </a:xfrm>
          <a:prstGeom prst="roundRect">
            <a:avLst>
              <a:gd name="adj" fmla="val 2970"/>
            </a:avLst>
          </a:prstGeom>
          <a:solidFill>
            <a:srgbClr val="FFFFFF"/>
          </a:solidFill>
          <a:ln w="9525">
            <a:solidFill>
              <a:srgbClr val="E3E6EE"/>
            </a:solidFill>
            <a:prstDash val="solid"/>
          </a:ln>
        </p:spPr>
      </p:sp>
      <p:sp>
        <p:nvSpPr>
          <p:cNvPr id="25" name="Shape 23"/>
          <p:cNvSpPr/>
          <p:nvPr/>
        </p:nvSpPr>
        <p:spPr>
          <a:xfrm>
            <a:off x="771525" y="5725120"/>
            <a:ext cx="5043488" cy="1905000"/>
          </a:xfrm>
          <a:prstGeom prst="rect">
            <a:avLst/>
          </a:prstGeom>
          <a:solidFill>
            <a:srgbClr val="FFFFFF"/>
          </a:solidFill>
          <a:ln/>
        </p:spPr>
      </p:sp>
      <p:pic>
        <p:nvPicPr>
          <p:cNvPr id="26" name="Image 0" descr="preencoded.png">    </p:cNvPr>
          <p:cNvPicPr>
            <a:picLocks noChangeAspect="1"/>
          </p:cNvPicPr>
          <p:nvPr/>
        </p:nvPicPr>
        <p:blipFill>
          <a:blip r:embed="rId1"/>
          <a:srcRect l="0" r="0" t="0" b="0"/>
          <a:stretch/>
        </p:blipFill>
        <p:spPr>
          <a:xfrm>
            <a:off x="771525" y="5725120"/>
            <a:ext cx="5043488" cy="1905000"/>
          </a:xfrm>
          <a:prstGeom prst="rect">
            <a:avLst/>
          </a:prstGeom>
        </p:spPr>
      </p:pic>
      <p:sp>
        <p:nvSpPr>
          <p:cNvPr id="27" name="Shape 24"/>
          <p:cNvSpPr/>
          <p:nvPr/>
        </p:nvSpPr>
        <p:spPr>
          <a:xfrm>
            <a:off x="6053138" y="5715595"/>
            <a:ext cx="5062538" cy="1924050"/>
          </a:xfrm>
          <a:prstGeom prst="roundRect">
            <a:avLst>
              <a:gd name="adj" fmla="val 2970"/>
            </a:avLst>
          </a:prstGeom>
          <a:solidFill>
            <a:srgbClr val="FFFFFF"/>
          </a:solidFill>
          <a:ln w="9525">
            <a:solidFill>
              <a:srgbClr val="E3E6EE"/>
            </a:solidFill>
            <a:prstDash val="solid"/>
          </a:ln>
        </p:spPr>
      </p:sp>
      <p:sp>
        <p:nvSpPr>
          <p:cNvPr id="28" name="Shape 25"/>
          <p:cNvSpPr/>
          <p:nvPr/>
        </p:nvSpPr>
        <p:spPr>
          <a:xfrm>
            <a:off x="6062663" y="5725120"/>
            <a:ext cx="5043488" cy="1905000"/>
          </a:xfrm>
          <a:prstGeom prst="rect">
            <a:avLst/>
          </a:prstGeom>
          <a:solidFill>
            <a:srgbClr val="FFFFFF"/>
          </a:solidFill>
          <a:ln/>
        </p:spPr>
      </p:sp>
      <p:pic>
        <p:nvPicPr>
          <p:cNvPr id="29" name="Image 1" descr="preencoded.png">    </p:cNvPr>
          <p:cNvPicPr>
            <a:picLocks noChangeAspect="1"/>
          </p:cNvPicPr>
          <p:nvPr/>
        </p:nvPicPr>
        <p:blipFill>
          <a:blip r:embed="rId2"/>
          <a:srcRect l="0" r="0" t="0" b="0"/>
          <a:stretch/>
        </p:blipFill>
        <p:spPr>
          <a:xfrm>
            <a:off x="6062663" y="5725120"/>
            <a:ext cx="5043488" cy="1905000"/>
          </a:xfrm>
          <a:prstGeom prst="rect">
            <a:avLst/>
          </a:prstGeom>
        </p:spPr>
      </p:pic>
      <p:sp>
        <p:nvSpPr>
          <p:cNvPr id="30" name="Shape 26"/>
          <p:cNvSpPr/>
          <p:nvPr/>
        </p:nvSpPr>
        <p:spPr>
          <a:xfrm>
            <a:off x="11649075" y="2583954"/>
            <a:ext cx="9525" cy="6027688"/>
          </a:xfrm>
          <a:prstGeom prst="rect">
            <a:avLst/>
          </a:prstGeom>
          <a:solidFill>
            <a:srgbClr val="E3E6EE"/>
          </a:solidFill>
          <a:ln/>
        </p:spPr>
      </p:sp>
      <p:sp>
        <p:nvSpPr>
          <p:cNvPr id="31" name="Text 27"/>
          <p:cNvSpPr/>
          <p:nvPr/>
        </p:nvSpPr>
        <p:spPr>
          <a:xfrm>
            <a:off x="12192000" y="2583954"/>
            <a:ext cx="5494020"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spc="270" kern="0" dirty="0">
                <a:solidFill>
                  <a:srgbClr val="C25A4F"/>
                </a:solidFill>
                <a:latin typeface="Arial" pitchFamily="34" charset="0"/>
                <a:ea typeface="Arial" pitchFamily="34" charset="-122"/>
                <a:cs typeface="Arial" pitchFamily="34" charset="-120"/>
              </a:rPr>
              <a:t>CONSIDERED &amp; REJECTED</a:t>
            </a:r>
            <a:endParaRPr lang="en-US" sz="1500" dirty="0"/>
          </a:p>
        </p:txBody>
      </p:sp>
      <p:sp>
        <p:nvSpPr>
          <p:cNvPr id="32" name="Text 28"/>
          <p:cNvSpPr/>
          <p:nvPr/>
        </p:nvSpPr>
        <p:spPr>
          <a:xfrm>
            <a:off x="12192000" y="3279279"/>
            <a:ext cx="342900"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b="1" dirty="0">
                <a:solidFill>
                  <a:srgbClr val="C25A4F"/>
                </a:solidFill>
                <a:latin typeface="Arial" pitchFamily="34" charset="0"/>
                <a:ea typeface="Arial" pitchFamily="34" charset="-122"/>
                <a:cs typeface="Arial" pitchFamily="34" charset="-120"/>
              </a:rPr>
              <a:t>✕</a:t>
            </a:r>
            <a:endParaRPr lang="en-US" sz="1650" dirty="0"/>
          </a:p>
        </p:txBody>
      </p:sp>
      <p:sp>
        <p:nvSpPr>
          <p:cNvPr id="33" name="Text 29"/>
          <p:cNvSpPr/>
          <p:nvPr/>
        </p:nvSpPr>
        <p:spPr>
          <a:xfrm>
            <a:off x="12592050" y="3279279"/>
            <a:ext cx="5081969" cy="634305"/>
          </a:xfrm>
          <a:prstGeom prst="rect">
            <a:avLst/>
          </a:prstGeom>
          <a:noFill/>
          <a:ln/>
        </p:spPr>
        <p:txBody>
          <a:bodyPr wrap="square" lIns="25400" tIns="25400" rIns="25400" bIns="25400" rtlCol="0" anchor="t">
            <a:normAutofit/>
          </a:bodyPr>
          <a:lstStyle/>
          <a:p>
            <a:pPr algn="l" indent="0" marL="0">
              <a:lnSpc>
                <a:spcPct val="140000"/>
              </a:lnSpc>
              <a:buNone/>
            </a:pPr>
            <a:r>
              <a:rPr lang="en-US" sz="1650" b="1" dirty="0">
                <a:solidFill>
                  <a:srgbClr val="1F2A44"/>
                </a:solidFill>
                <a:latin typeface="Arial" pitchFamily="34" charset="0"/>
                <a:ea typeface="Arial" pitchFamily="34" charset="-122"/>
                <a:cs typeface="Arial" pitchFamily="34" charset="-120"/>
              </a:rPr>
              <a:t>AudioCaps </a:t>
            </a:r>
            <a:pPr algn="l" indent="0" marL="0">
              <a:lnSpc>
                <a:spcPct val="140000"/>
              </a:lnSpc>
              <a:buNone/>
            </a:pPr>
            <a:r>
              <a:rPr lang="en-US" sz="1650" dirty="0">
                <a:solidFill>
                  <a:srgbClr val="5A6478"/>
                </a:solidFill>
                <a:latin typeface="Arial" pitchFamily="34" charset="0"/>
                <a:ea typeface="Arial" pitchFamily="34" charset="-122"/>
                <a:cs typeface="Arial" pitchFamily="34" charset="-120"/>
              </a:rPr>
              <a:t>— derived from AudioSet (LALM training overlap)</a:t>
            </a:r>
            <a:endParaRPr lang="en-US" sz="1650" dirty="0"/>
          </a:p>
        </p:txBody>
      </p:sp>
      <p:sp>
        <p:nvSpPr>
          <p:cNvPr id="34" name="Text 30"/>
          <p:cNvSpPr/>
          <p:nvPr/>
        </p:nvSpPr>
        <p:spPr>
          <a:xfrm>
            <a:off x="12192000" y="4027884"/>
            <a:ext cx="342900"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b="1" dirty="0">
                <a:solidFill>
                  <a:srgbClr val="C25A4F"/>
                </a:solidFill>
                <a:latin typeface="Arial" pitchFamily="34" charset="0"/>
                <a:ea typeface="Arial" pitchFamily="34" charset="-122"/>
                <a:cs typeface="Arial" pitchFamily="34" charset="-120"/>
              </a:rPr>
              <a:t>✕</a:t>
            </a:r>
            <a:endParaRPr lang="en-US" sz="1650" dirty="0"/>
          </a:p>
        </p:txBody>
      </p:sp>
      <p:sp>
        <p:nvSpPr>
          <p:cNvPr id="35" name="Text 31"/>
          <p:cNvSpPr/>
          <p:nvPr/>
        </p:nvSpPr>
        <p:spPr>
          <a:xfrm>
            <a:off x="12592050" y="4027884"/>
            <a:ext cx="3924607" cy="340965"/>
          </a:xfrm>
          <a:prstGeom prst="rect">
            <a:avLst/>
          </a:prstGeom>
          <a:noFill/>
          <a:ln/>
        </p:spPr>
        <p:txBody>
          <a:bodyPr wrap="square" lIns="25400" tIns="25400" rIns="25400" bIns="25400" rtlCol="0" anchor="t">
            <a:normAutofit/>
          </a:bodyPr>
          <a:lstStyle/>
          <a:p>
            <a:pPr algn="l" indent="0" marL="0">
              <a:lnSpc>
                <a:spcPct val="140000"/>
              </a:lnSpc>
              <a:buNone/>
            </a:pPr>
            <a:r>
              <a:rPr lang="en-US" sz="1650" b="1" dirty="0">
                <a:solidFill>
                  <a:srgbClr val="1F2A44"/>
                </a:solidFill>
                <a:latin typeface="Arial" pitchFamily="34" charset="0"/>
                <a:ea typeface="Arial" pitchFamily="34" charset="-122"/>
                <a:cs typeface="Arial" pitchFamily="34" charset="-120"/>
              </a:rPr>
              <a:t>AudioSetCaps </a:t>
            </a:r>
            <a:pPr algn="l" indent="0" marL="0">
              <a:lnSpc>
                <a:spcPct val="140000"/>
              </a:lnSpc>
              <a:buNone/>
            </a:pPr>
            <a:r>
              <a:rPr lang="en-US" sz="1650" dirty="0">
                <a:solidFill>
                  <a:srgbClr val="5A6478"/>
                </a:solidFill>
                <a:latin typeface="Arial" pitchFamily="34" charset="0"/>
                <a:ea typeface="Arial" pitchFamily="34" charset="-122"/>
                <a:cs typeface="Arial" pitchFamily="34" charset="-120"/>
              </a:rPr>
              <a:t>— same AudioSet family</a:t>
            </a:r>
            <a:endParaRPr lang="en-US" sz="1650" dirty="0"/>
          </a:p>
        </p:txBody>
      </p:sp>
      <p:sp>
        <p:nvSpPr>
          <p:cNvPr id="36" name="Text 32"/>
          <p:cNvSpPr/>
          <p:nvPr/>
        </p:nvSpPr>
        <p:spPr>
          <a:xfrm>
            <a:off x="12192000" y="4483150"/>
            <a:ext cx="342900"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b="1" dirty="0">
                <a:solidFill>
                  <a:srgbClr val="C25A4F"/>
                </a:solidFill>
                <a:latin typeface="Arial" pitchFamily="34" charset="0"/>
                <a:ea typeface="Arial" pitchFamily="34" charset="-122"/>
                <a:cs typeface="Arial" pitchFamily="34" charset="-120"/>
              </a:rPr>
              <a:t>✕</a:t>
            </a:r>
            <a:endParaRPr lang="en-US" sz="1650" dirty="0"/>
          </a:p>
        </p:txBody>
      </p:sp>
      <p:sp>
        <p:nvSpPr>
          <p:cNvPr id="37" name="Text 33"/>
          <p:cNvSpPr/>
          <p:nvPr/>
        </p:nvSpPr>
        <p:spPr>
          <a:xfrm>
            <a:off x="12592050" y="4483150"/>
            <a:ext cx="5081969" cy="634305"/>
          </a:xfrm>
          <a:prstGeom prst="rect">
            <a:avLst/>
          </a:prstGeom>
          <a:noFill/>
          <a:ln/>
        </p:spPr>
        <p:txBody>
          <a:bodyPr wrap="square" lIns="25400" tIns="25400" rIns="25400" bIns="25400" rtlCol="0" anchor="t">
            <a:normAutofit/>
          </a:bodyPr>
          <a:lstStyle/>
          <a:p>
            <a:pPr algn="l" indent="0" marL="0">
              <a:lnSpc>
                <a:spcPct val="140000"/>
              </a:lnSpc>
              <a:buNone/>
            </a:pPr>
            <a:r>
              <a:rPr lang="en-US" sz="1650" b="1" dirty="0">
                <a:solidFill>
                  <a:srgbClr val="1F2A44"/>
                </a:solidFill>
                <a:latin typeface="Arial" pitchFamily="34" charset="0"/>
                <a:ea typeface="Arial" pitchFamily="34" charset="-122"/>
                <a:cs typeface="Arial" pitchFamily="34" charset="-120"/>
              </a:rPr>
              <a:t>WavCaps </a:t>
            </a:r>
            <a:pPr algn="l" indent="0" marL="0">
              <a:lnSpc>
                <a:spcPct val="140000"/>
              </a:lnSpc>
              <a:buNone/>
            </a:pPr>
            <a:r>
              <a:rPr lang="en-US" sz="1650" dirty="0">
                <a:solidFill>
                  <a:srgbClr val="5A6478"/>
                </a:solidFill>
                <a:latin typeface="Arial" pitchFamily="34" charset="0"/>
                <a:ea typeface="Arial" pitchFamily="34" charset="-122"/>
                <a:cs typeface="Arial" pitchFamily="34" charset="-120"/>
              </a:rPr>
              <a:t>— web-scraped, overlap risk with Clotho / AudioCaps</a:t>
            </a:r>
            <a:endParaRPr lang="en-US" sz="1650" dirty="0"/>
          </a:p>
        </p:txBody>
      </p:sp>
      <p:sp>
        <p:nvSpPr>
          <p:cNvPr id="38" name="Text 34"/>
          <p:cNvSpPr/>
          <p:nvPr/>
        </p:nvSpPr>
        <p:spPr>
          <a:xfrm>
            <a:off x="12192000" y="5231755"/>
            <a:ext cx="342900"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b="1" dirty="0">
                <a:solidFill>
                  <a:srgbClr val="C25A4F"/>
                </a:solidFill>
                <a:latin typeface="Arial" pitchFamily="34" charset="0"/>
                <a:ea typeface="Arial" pitchFamily="34" charset="-122"/>
                <a:cs typeface="Arial" pitchFamily="34" charset="-120"/>
              </a:rPr>
              <a:t>✕</a:t>
            </a:r>
            <a:endParaRPr lang="en-US" sz="1650" dirty="0"/>
          </a:p>
        </p:txBody>
      </p:sp>
      <p:sp>
        <p:nvSpPr>
          <p:cNvPr id="39" name="Text 35"/>
          <p:cNvSpPr/>
          <p:nvPr/>
        </p:nvSpPr>
        <p:spPr>
          <a:xfrm>
            <a:off x="12592050" y="5231755"/>
            <a:ext cx="5081969" cy="634305"/>
          </a:xfrm>
          <a:prstGeom prst="rect">
            <a:avLst/>
          </a:prstGeom>
          <a:noFill/>
          <a:ln/>
        </p:spPr>
        <p:txBody>
          <a:bodyPr wrap="square" lIns="25400" tIns="25400" rIns="25400" bIns="25400" rtlCol="0" anchor="t">
            <a:normAutofit/>
          </a:bodyPr>
          <a:lstStyle/>
          <a:p>
            <a:pPr algn="l" indent="0" marL="0">
              <a:lnSpc>
                <a:spcPct val="140000"/>
              </a:lnSpc>
              <a:buNone/>
            </a:pPr>
            <a:r>
              <a:rPr lang="en-US" sz="1650" b="1" dirty="0">
                <a:solidFill>
                  <a:srgbClr val="1F2A44"/>
                </a:solidFill>
                <a:latin typeface="Arial" pitchFamily="34" charset="0"/>
                <a:ea typeface="Arial" pitchFamily="34" charset="-122"/>
                <a:cs typeface="Arial" pitchFamily="34" charset="-120"/>
              </a:rPr>
              <a:t>Cacophony </a:t>
            </a:r>
            <a:pPr algn="l" indent="0" marL="0">
              <a:lnSpc>
                <a:spcPct val="140000"/>
              </a:lnSpc>
              <a:buNone/>
            </a:pPr>
            <a:r>
              <a:rPr lang="en-US" sz="1650" dirty="0">
                <a:solidFill>
                  <a:srgbClr val="5A6478"/>
                </a:solidFill>
                <a:latin typeface="Arial" pitchFamily="34" charset="0"/>
                <a:ea typeface="Arial" pitchFamily="34" charset="-122"/>
                <a:cs typeface="Arial" pitchFamily="34" charset="-120"/>
              </a:rPr>
              <a:t>— contrastive training corpus, not an eval benchmark</a:t>
            </a:r>
            <a:endParaRPr lang="en-US" sz="1650" dirty="0"/>
          </a:p>
        </p:txBody>
      </p:sp>
      <p:sp>
        <p:nvSpPr>
          <p:cNvPr id="40" name="Shape 36"/>
          <p:cNvSpPr/>
          <p:nvPr/>
        </p:nvSpPr>
        <p:spPr>
          <a:xfrm>
            <a:off x="762000" y="8878342"/>
            <a:ext cx="16764000" cy="722858"/>
          </a:xfrm>
          <a:prstGeom prst="roundRect">
            <a:avLst>
              <a:gd name="adj" fmla="val 5271"/>
            </a:avLst>
          </a:prstGeom>
          <a:solidFill>
            <a:srgbClr val="1F2A44"/>
          </a:solidFill>
          <a:ln/>
        </p:spPr>
      </p:sp>
      <p:sp>
        <p:nvSpPr>
          <p:cNvPr id="41" name="Text 37"/>
          <p:cNvSpPr/>
          <p:nvPr/>
        </p:nvSpPr>
        <p:spPr>
          <a:xfrm>
            <a:off x="1066800" y="9101584"/>
            <a:ext cx="913656"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spc="270" kern="0" dirty="0">
                <a:solidFill>
                  <a:srgbClr val="FFFFFF">
                    <a:alpha val="55000"/>
                  </a:srgbClr>
                </a:solidFill>
                <a:latin typeface="Arial" pitchFamily="34" charset="0"/>
                <a:ea typeface="Arial" pitchFamily="34" charset="-122"/>
                <a:cs typeface="Arial" pitchFamily="34" charset="-120"/>
              </a:rPr>
              <a:t>FRAME</a:t>
            </a:r>
            <a:endParaRPr lang="en-US" sz="1500" dirty="0"/>
          </a:p>
        </p:txBody>
      </p:sp>
      <p:sp>
        <p:nvSpPr>
          <p:cNvPr id="42" name="Text 38"/>
          <p:cNvSpPr/>
          <p:nvPr/>
        </p:nvSpPr>
        <p:spPr>
          <a:xfrm>
            <a:off x="2113806" y="9087892"/>
            <a:ext cx="14565745"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i="1" dirty="0">
                <a:solidFill>
                  <a:srgbClr val="FFFFFF"/>
                </a:solidFill>
                <a:latin typeface="Arial" pitchFamily="34" charset="0"/>
                <a:ea typeface="Arial" pitchFamily="34" charset="-122"/>
                <a:cs typeface="Arial" pitchFamily="34" charset="-120"/>
              </a:rPr>
              <a:t>The ALM Datasets Survey 2025 calls unverified pretrain overlap the </a:t>
            </a:r>
            <a:pPr algn="l" indent="0" marL="0">
              <a:lnSpc>
                <a:spcPct val="145000"/>
              </a:lnSpc>
              <a:buNone/>
            </a:pPr>
            <a:r>
              <a:rPr lang="en-US" sz="1650" b="1" dirty="0">
                <a:solidFill>
                  <a:srgbClr val="FFFFFF"/>
                </a:solidFill>
                <a:latin typeface="Arial" pitchFamily="34" charset="0"/>
                <a:ea typeface="Arial" pitchFamily="34" charset="-122"/>
                <a:cs typeface="Arial" pitchFamily="34" charset="-120"/>
              </a:rPr>
              <a:t>"zero-shot illusion." </a:t>
            </a:r>
            <a:pPr algn="l" indent="0" marL="0">
              <a:lnSpc>
                <a:spcPct val="145000"/>
              </a:lnSpc>
              <a:buNone/>
            </a:pPr>
            <a:r>
              <a:rPr lang="en-US" sz="1650" i="1" dirty="0">
                <a:solidFill>
                  <a:srgbClr val="FFFFFF"/>
                </a:solidFill>
                <a:latin typeface="Arial" pitchFamily="34" charset="0"/>
                <a:ea typeface="Arial" pitchFamily="34" charset="-122"/>
                <a:cs typeface="Arial" pitchFamily="34" charset="-120"/>
              </a:rPr>
              <a:t>This deck makes our test-corpus choice defensible against it.</a:t>
            </a:r>
            <a:endParaRPr lang="en-US" sz="1650" dirty="0"/>
          </a:p>
        </p:txBody>
      </p:sp>
      <p:sp>
        <p:nvSpPr>
          <p:cNvPr id="43" name="Text 39"/>
          <p:cNvSpPr/>
          <p:nvPr/>
        </p:nvSpPr>
        <p:spPr>
          <a:xfrm>
            <a:off x="762000" y="9725025"/>
            <a:ext cx="2242989"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spc="30" kern="0" dirty="0">
                <a:solidFill>
                  <a:srgbClr val="7C8597"/>
                </a:solidFill>
                <a:latin typeface="Arial" pitchFamily="34" charset="0"/>
                <a:ea typeface="Arial" pitchFamily="34" charset="-122"/>
                <a:cs typeface="Arial" pitchFamily="34" charset="-120"/>
              </a:rPr>
              <a:t>Zuraiz · P2 · 2026-05-18</a:t>
            </a:r>
            <a:endParaRPr lang="en-US" sz="1500" dirty="0"/>
          </a:p>
        </p:txBody>
      </p:sp>
      <p:sp>
        <p:nvSpPr>
          <p:cNvPr id="44" name="Text 40"/>
          <p:cNvSpPr/>
          <p:nvPr/>
        </p:nvSpPr>
        <p:spPr>
          <a:xfrm>
            <a:off x="16916698" y="9725025"/>
            <a:ext cx="685502"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spc="30" kern="0" dirty="0">
                <a:solidFill>
                  <a:srgbClr val="7C8597"/>
                </a:solidFill>
                <a:latin typeface="Arial" pitchFamily="34" charset="0"/>
                <a:ea typeface="Arial" pitchFamily="34" charset="-122"/>
                <a:cs typeface="Arial" pitchFamily="34" charset="-120"/>
              </a:rPr>
              <a:t>01 / 06</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7183100" y="419100"/>
            <a:ext cx="342900" cy="19050"/>
          </a:xfrm>
          <a:prstGeom prst="rect">
            <a:avLst/>
          </a:prstGeom>
          <a:solidFill>
            <a:srgbClr val="1F2A44"/>
          </a:solidFill>
          <a:ln/>
        </p:spPr>
      </p:sp>
      <p:sp>
        <p:nvSpPr>
          <p:cNvPr id="3" name="Shape 1"/>
          <p:cNvSpPr/>
          <p:nvPr/>
        </p:nvSpPr>
        <p:spPr>
          <a:xfrm>
            <a:off x="17297400" y="495300"/>
            <a:ext cx="228600" cy="19050"/>
          </a:xfrm>
          <a:prstGeom prst="rect">
            <a:avLst/>
          </a:prstGeom>
          <a:solidFill>
            <a:srgbClr val="1F2A44"/>
          </a:solidFill>
          <a:ln/>
        </p:spPr>
      </p:sp>
      <p:sp>
        <p:nvSpPr>
          <p:cNvPr id="4" name="Shape 2"/>
          <p:cNvSpPr/>
          <p:nvPr/>
        </p:nvSpPr>
        <p:spPr>
          <a:xfrm>
            <a:off x="17392650" y="571500"/>
            <a:ext cx="133350" cy="19050"/>
          </a:xfrm>
          <a:prstGeom prst="rect">
            <a:avLst/>
          </a:prstGeom>
          <a:solidFill>
            <a:srgbClr val="1F2A44"/>
          </a:solidFill>
          <a:ln/>
        </p:spPr>
      </p:sp>
      <p:sp>
        <p:nvSpPr>
          <p:cNvPr id="5" name="Text 3"/>
          <p:cNvSpPr/>
          <p:nvPr/>
        </p:nvSpPr>
        <p:spPr>
          <a:xfrm>
            <a:off x="762000" y="685800"/>
            <a:ext cx="17266920"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spc="270" kern="0" dirty="0">
                <a:solidFill>
                  <a:srgbClr val="3A5FCD"/>
                </a:solidFill>
                <a:latin typeface="Arial" pitchFamily="34" charset="0"/>
                <a:ea typeface="Arial" pitchFamily="34" charset="-122"/>
                <a:cs typeface="Arial" pitchFamily="34" charset="-120"/>
              </a:rPr>
              <a:t>ACQUISITION</a:t>
            </a:r>
            <a:endParaRPr lang="en-US" sz="1500" dirty="0"/>
          </a:p>
        </p:txBody>
      </p:sp>
      <p:sp>
        <p:nvSpPr>
          <p:cNvPr id="6" name="Text 4"/>
          <p:cNvSpPr/>
          <p:nvPr/>
        </p:nvSpPr>
        <p:spPr>
          <a:xfrm>
            <a:off x="762000" y="1114425"/>
            <a:ext cx="17266920" cy="582811"/>
          </a:xfrm>
          <a:prstGeom prst="rect">
            <a:avLst/>
          </a:prstGeom>
          <a:noFill/>
          <a:ln/>
        </p:spPr>
        <p:txBody>
          <a:bodyPr wrap="square" lIns="25400" tIns="25400" rIns="25400" bIns="25400" rtlCol="0" anchor="t">
            <a:normAutofit/>
          </a:bodyPr>
          <a:lstStyle/>
          <a:p>
            <a:pPr algn="l" indent="0" marL="0">
              <a:lnSpc>
                <a:spcPct val="110000"/>
              </a:lnSpc>
              <a:buNone/>
            </a:pPr>
            <a:r>
              <a:rPr lang="en-US" sz="3900" b="1" spc="-58" kern="0" dirty="0">
                <a:solidFill>
                  <a:srgbClr val="1F2A44"/>
                </a:solidFill>
                <a:latin typeface="Arial" pitchFamily="34" charset="0"/>
                <a:ea typeface="Arial" pitchFamily="34" charset="-122"/>
                <a:cs typeface="Arial" pitchFamily="34" charset="-120"/>
              </a:rPr>
              <a:t>Which mics? </a:t>
            </a:r>
            <a:pPr algn="l" indent="0" marL="0">
              <a:lnSpc>
                <a:spcPct val="110000"/>
              </a:lnSpc>
              <a:buNone/>
            </a:pPr>
            <a:r>
              <a:rPr lang="en-US" sz="3900" spc="-58" kern="0" dirty="0">
                <a:solidFill>
                  <a:srgbClr val="5A6478"/>
                </a:solidFill>
                <a:latin typeface="Arial" pitchFamily="34" charset="0"/>
                <a:ea typeface="Arial" pitchFamily="34" charset="-122"/>
                <a:cs typeface="Arial" pitchFamily="34" charset="-120"/>
              </a:rPr>
              <a:t>— community-curated, heterogeneous devices</a:t>
            </a:r>
            <a:endParaRPr lang="en-US" sz="3900" dirty="0"/>
          </a:p>
        </p:txBody>
      </p:sp>
      <p:sp>
        <p:nvSpPr>
          <p:cNvPr id="7" name="Text 5"/>
          <p:cNvSpPr/>
          <p:nvPr/>
        </p:nvSpPr>
        <p:spPr>
          <a:xfrm>
            <a:off x="762000" y="1830586"/>
            <a:ext cx="14225588"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i="1" dirty="0">
                <a:solidFill>
                  <a:srgbClr val="5A6478"/>
                </a:solidFill>
                <a:latin typeface="Arial" pitchFamily="34" charset="0"/>
                <a:ea typeface="Arial" pitchFamily="34" charset="-122"/>
                <a:cs typeface="Arial" pitchFamily="34" charset="-120"/>
              </a:rPr>
              <a:t>The honest answer is all of them. Device mismatch is built in.</a:t>
            </a:r>
            <a:endParaRPr lang="en-US" sz="1950" dirty="0"/>
          </a:p>
        </p:txBody>
      </p:sp>
      <p:sp>
        <p:nvSpPr>
          <p:cNvPr id="8" name="Shape 6"/>
          <p:cNvSpPr/>
          <p:nvPr/>
        </p:nvSpPr>
        <p:spPr>
          <a:xfrm>
            <a:off x="762000" y="2507754"/>
            <a:ext cx="28575" cy="1060996"/>
          </a:xfrm>
          <a:prstGeom prst="rect">
            <a:avLst/>
          </a:prstGeom>
          <a:solidFill>
            <a:srgbClr val="3A5FCD"/>
          </a:solidFill>
          <a:ln/>
        </p:spPr>
      </p:sp>
      <p:sp>
        <p:nvSpPr>
          <p:cNvPr id="9" name="Text 7"/>
          <p:cNvSpPr/>
          <p:nvPr/>
        </p:nvSpPr>
        <p:spPr>
          <a:xfrm>
            <a:off x="1000125" y="2545854"/>
            <a:ext cx="11390281"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1F2A44"/>
                </a:solidFill>
                <a:latin typeface="Arial" pitchFamily="34" charset="0"/>
                <a:ea typeface="Arial" pitchFamily="34" charset="-122"/>
                <a:cs typeface="Arial" pitchFamily="34" charset="-120"/>
              </a:rPr>
              <a:t>Curated, not recorded.</a:t>
            </a:r>
            <a:endParaRPr lang="en-US" sz="1800" dirty="0"/>
          </a:p>
        </p:txBody>
      </p:sp>
      <p:sp>
        <p:nvSpPr>
          <p:cNvPr id="10" name="Text 8"/>
          <p:cNvSpPr/>
          <p:nvPr/>
        </p:nvSpPr>
        <p:spPr>
          <a:xfrm>
            <a:off x="1000125" y="2934444"/>
            <a:ext cx="11390281" cy="634305"/>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5A6478"/>
                </a:solidFill>
                <a:latin typeface="Arial" pitchFamily="34" charset="0"/>
                <a:ea typeface="Arial" pitchFamily="34" charset="-122"/>
                <a:cs typeface="Arial" pitchFamily="34" charset="-120"/>
              </a:rPr>
              <a:t>Drossos, Lipping &amp; Virtanen (Tampere) assembled Clotho from </a:t>
            </a:r>
            <a:pPr algn="l" indent="0" marL="0">
              <a:lnSpc>
                <a:spcPct val="140000"/>
              </a:lnSpc>
              <a:buNone/>
            </a:pPr>
            <a:r>
              <a:rPr lang="en-US" sz="1650" b="1" dirty="0">
                <a:solidFill>
                  <a:srgbClr val="1F2A44"/>
                </a:solidFill>
                <a:latin typeface="Arial" pitchFamily="34" charset="0"/>
                <a:ea typeface="Arial" pitchFamily="34" charset="-122"/>
                <a:cs typeface="Arial" pitchFamily="34" charset="-120"/>
              </a:rPr>
              <a:t>FreeSound </a:t>
            </a:r>
            <a:pPr algn="l" indent="0" marL="0">
              <a:lnSpc>
                <a:spcPct val="140000"/>
              </a:lnSpc>
              <a:buNone/>
            </a:pPr>
            <a:r>
              <a:rPr lang="en-US" sz="1650" dirty="0">
                <a:solidFill>
                  <a:srgbClr val="5A6478"/>
                </a:solidFill>
                <a:latin typeface="Arial" pitchFamily="34" charset="0"/>
                <a:ea typeface="Arial" pitchFamily="34" charset="-122"/>
                <a:cs typeface="Arial" pitchFamily="34" charset="-120"/>
              </a:rPr>
              <a:t>uploads. The team's contribution is the captions — every clip carries its uploader's recording device.</a:t>
            </a:r>
            <a:endParaRPr lang="en-US" sz="1650" dirty="0"/>
          </a:p>
        </p:txBody>
      </p:sp>
      <p:sp>
        <p:nvSpPr>
          <p:cNvPr id="11" name="Shape 9"/>
          <p:cNvSpPr/>
          <p:nvPr/>
        </p:nvSpPr>
        <p:spPr>
          <a:xfrm>
            <a:off x="762000" y="3740200"/>
            <a:ext cx="28575" cy="1060996"/>
          </a:xfrm>
          <a:prstGeom prst="rect">
            <a:avLst/>
          </a:prstGeom>
          <a:solidFill>
            <a:srgbClr val="1F2A44"/>
          </a:solidFill>
          <a:ln/>
        </p:spPr>
      </p:sp>
      <p:sp>
        <p:nvSpPr>
          <p:cNvPr id="12" name="Text 10"/>
          <p:cNvSpPr/>
          <p:nvPr/>
        </p:nvSpPr>
        <p:spPr>
          <a:xfrm>
            <a:off x="1000125" y="3778300"/>
            <a:ext cx="11390281"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1F2A44"/>
                </a:solidFill>
                <a:latin typeface="Arial" pitchFamily="34" charset="0"/>
                <a:ea typeface="Arial" pitchFamily="34" charset="-122"/>
                <a:cs typeface="Arial" pitchFamily="34" charset="-120"/>
              </a:rPr>
              <a:t>Device mismatch is built in.</a:t>
            </a:r>
            <a:endParaRPr lang="en-US" sz="1800" dirty="0"/>
          </a:p>
        </p:txBody>
      </p:sp>
      <p:sp>
        <p:nvSpPr>
          <p:cNvPr id="13" name="Text 11"/>
          <p:cNvSpPr/>
          <p:nvPr/>
        </p:nvSpPr>
        <p:spPr>
          <a:xfrm>
            <a:off x="1000125" y="4166890"/>
            <a:ext cx="11390281" cy="634305"/>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5A6478"/>
                </a:solidFill>
                <a:latin typeface="Arial" pitchFamily="34" charset="0"/>
                <a:ea typeface="Arial" pitchFamily="34" charset="-122"/>
                <a:cs typeface="Arial" pitchFamily="34" charset="-120"/>
              </a:rPr>
              <a:t>Studio condensers, field recorders, mobile phones with MEMS mics — Clotho samples </a:t>
            </a:r>
            <a:pPr algn="l" indent="0" marL="0">
              <a:lnSpc>
                <a:spcPct val="140000"/>
              </a:lnSpc>
              <a:buNone/>
            </a:pPr>
            <a:r>
              <a:rPr lang="en-US" sz="1650" b="1" dirty="0">
                <a:solidFill>
                  <a:srgbClr val="1F2A44"/>
                </a:solidFill>
                <a:latin typeface="Arial" pitchFamily="34" charset="0"/>
                <a:ea typeface="Arial" pitchFamily="34" charset="-122"/>
                <a:cs typeface="Arial" pitchFamily="34" charset="-120"/>
              </a:rPr>
              <a:t>all of them </a:t>
            </a:r>
            <a:pPr algn="l" indent="0" marL="0">
              <a:lnSpc>
                <a:spcPct val="140000"/>
              </a:lnSpc>
              <a:buNone/>
            </a:pPr>
            <a:r>
              <a:rPr lang="en-US" sz="1650" dirty="0">
                <a:solidFill>
                  <a:srgbClr val="5A6478"/>
                </a:solidFill>
                <a:latin typeface="Arial" pitchFamily="34" charset="0"/>
                <a:ea typeface="Arial" pitchFamily="34" charset="-122"/>
                <a:cs typeface="Arial" pitchFamily="34" charset="-120"/>
              </a:rPr>
              <a:t>. This is a generalisation hazard we acknowledge; we treat it as a realistic property of deployment audio.</a:t>
            </a:r>
            <a:endParaRPr lang="en-US" sz="1650" dirty="0"/>
          </a:p>
        </p:txBody>
      </p:sp>
      <p:sp>
        <p:nvSpPr>
          <p:cNvPr id="14" name="Shape 12"/>
          <p:cNvSpPr/>
          <p:nvPr/>
        </p:nvSpPr>
        <p:spPr>
          <a:xfrm>
            <a:off x="762000" y="4972645"/>
            <a:ext cx="28575" cy="1051471"/>
          </a:xfrm>
          <a:prstGeom prst="rect">
            <a:avLst/>
          </a:prstGeom>
          <a:solidFill>
            <a:srgbClr val="C25A4F"/>
          </a:solidFill>
          <a:ln/>
        </p:spPr>
      </p:sp>
      <p:sp>
        <p:nvSpPr>
          <p:cNvPr id="15" name="Text 13"/>
          <p:cNvSpPr/>
          <p:nvPr/>
        </p:nvSpPr>
        <p:spPr>
          <a:xfrm>
            <a:off x="1000125" y="5010745"/>
            <a:ext cx="11390281"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1F2A44"/>
                </a:solidFill>
                <a:latin typeface="Arial" pitchFamily="34" charset="0"/>
                <a:ea typeface="Arial" pitchFamily="34" charset="-122"/>
                <a:cs typeface="Arial" pitchFamily="34" charset="-120"/>
              </a:rPr>
              <a:t>The strip below makes it visible.</a:t>
            </a:r>
            <a:endParaRPr lang="en-US" sz="1800" dirty="0"/>
          </a:p>
        </p:txBody>
      </p:sp>
      <p:sp>
        <p:nvSpPr>
          <p:cNvPr id="16" name="Text 14"/>
          <p:cNvSpPr/>
          <p:nvPr/>
        </p:nvSpPr>
        <p:spPr>
          <a:xfrm>
            <a:off x="1000125" y="5399336"/>
            <a:ext cx="11390281" cy="62478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5A6478"/>
                </a:solidFill>
                <a:latin typeface="Arial" pitchFamily="34" charset="0"/>
                <a:ea typeface="Arial" pitchFamily="34" charset="-122"/>
                <a:cs typeface="Arial" pitchFamily="34" charset="-120"/>
              </a:rPr>
              <a:t>Same nominal sound (rain) from three corpora. Length, SNR &amp; recording quality differ visibly across Clotho / AudioCaps / WavCaps.</a:t>
            </a:r>
            <a:endParaRPr lang="en-US" sz="1650" dirty="0"/>
          </a:p>
        </p:txBody>
      </p:sp>
      <p:sp>
        <p:nvSpPr>
          <p:cNvPr id="17" name="Shape 15"/>
          <p:cNvSpPr/>
          <p:nvPr/>
        </p:nvSpPr>
        <p:spPr>
          <a:xfrm>
            <a:off x="12515850" y="2507754"/>
            <a:ext cx="5010150" cy="3516362"/>
          </a:xfrm>
          <a:prstGeom prst="roundRect">
            <a:avLst>
              <a:gd name="adj" fmla="val 1625"/>
            </a:avLst>
          </a:prstGeom>
          <a:solidFill>
            <a:srgbClr val="FBFBFD"/>
          </a:solidFill>
          <a:ln w="9525">
            <a:solidFill>
              <a:srgbClr val="E3E6EE"/>
            </a:solidFill>
            <a:prstDash val="solid"/>
          </a:ln>
        </p:spPr>
      </p:sp>
      <p:sp>
        <p:nvSpPr>
          <p:cNvPr id="18" name="Text 16"/>
          <p:cNvSpPr/>
          <p:nvPr/>
        </p:nvSpPr>
        <p:spPr>
          <a:xfrm>
            <a:off x="12830175" y="2839492"/>
            <a:ext cx="4512945"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spc="270" kern="0" dirty="0">
                <a:solidFill>
                  <a:srgbClr val="1F2A44"/>
                </a:solidFill>
                <a:latin typeface="Arial" pitchFamily="34" charset="0"/>
                <a:ea typeface="Arial" pitchFamily="34" charset="-122"/>
                <a:cs typeface="Arial" pitchFamily="34" charset="-120"/>
              </a:rPr>
              <a:t>DEVICE MISMATCH · IN ONE LINE</a:t>
            </a:r>
            <a:endParaRPr lang="en-US" sz="1500" dirty="0"/>
          </a:p>
        </p:txBody>
      </p:sp>
      <p:sp>
        <p:nvSpPr>
          <p:cNvPr id="19" name="Text 17"/>
          <p:cNvSpPr/>
          <p:nvPr/>
        </p:nvSpPr>
        <p:spPr>
          <a:xfrm>
            <a:off x="12830175" y="3249067"/>
            <a:ext cx="4512945" cy="347663"/>
          </a:xfrm>
          <a:prstGeom prst="rect">
            <a:avLst/>
          </a:prstGeom>
          <a:noFill/>
          <a:ln/>
        </p:spPr>
        <p:txBody>
          <a:bodyPr wrap="square" lIns="25400" tIns="25400" rIns="25400" bIns="25400" rtlCol="0" anchor="t">
            <a:normAutofit/>
          </a:bodyPr>
          <a:lstStyle/>
          <a:p>
            <a:pPr algn="l" indent="0" marL="0">
              <a:lnSpc>
                <a:spcPct val="125000"/>
              </a:lnSpc>
              <a:buNone/>
            </a:pPr>
            <a:r>
              <a:rPr lang="en-US" sz="1950" b="1" dirty="0">
                <a:solidFill>
                  <a:srgbClr val="1F2A44"/>
                </a:solidFill>
                <a:latin typeface="Arial" pitchFamily="34" charset="0"/>
                <a:ea typeface="Arial" pitchFamily="34" charset="-122"/>
                <a:cs typeface="Arial" pitchFamily="34" charset="-120"/>
              </a:rPr>
              <a:t>Studio condenser </a:t>
            </a:r>
            <a:pPr algn="l" indent="0" marL="0">
              <a:lnSpc>
                <a:spcPct val="125000"/>
              </a:lnSpc>
              <a:buNone/>
            </a:pPr>
            <a:r>
              <a:rPr lang="en-US" sz="1950" dirty="0">
                <a:solidFill>
                  <a:srgbClr val="5A6478"/>
                </a:solidFill>
                <a:latin typeface="Arial" pitchFamily="34" charset="0"/>
                <a:ea typeface="Arial" pitchFamily="34" charset="-122"/>
                <a:cs typeface="Arial" pitchFamily="34" charset="-120"/>
              </a:rPr>
              <a:t>vs. </a:t>
            </a:r>
            <a:pPr algn="l" indent="0" marL="0">
              <a:lnSpc>
                <a:spcPct val="125000"/>
              </a:lnSpc>
              <a:buNone/>
            </a:pPr>
            <a:r>
              <a:rPr lang="en-US" sz="1950" b="1" dirty="0">
                <a:solidFill>
                  <a:srgbClr val="1F2A44"/>
                </a:solidFill>
                <a:latin typeface="Arial" pitchFamily="34" charset="0"/>
                <a:ea typeface="Arial" pitchFamily="34" charset="-122"/>
                <a:cs typeface="Arial" pitchFamily="34" charset="-120"/>
              </a:rPr>
              <a:t>MEMS mic</a:t>
            </a:r>
            <a:endParaRPr lang="en-US" sz="1950" dirty="0"/>
          </a:p>
        </p:txBody>
      </p:sp>
      <p:sp>
        <p:nvSpPr>
          <p:cNvPr id="20" name="Text 18"/>
          <p:cNvSpPr/>
          <p:nvPr/>
        </p:nvSpPr>
        <p:spPr>
          <a:xfrm>
            <a:off x="12830175" y="3691979"/>
            <a:ext cx="4512945" cy="14192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5A6478"/>
                </a:solidFill>
                <a:latin typeface="Arial" pitchFamily="34" charset="0"/>
                <a:ea typeface="Arial" pitchFamily="34" charset="-122"/>
                <a:cs typeface="Arial" pitchFamily="34" charset="-120"/>
              </a:rPr>
              <a:t>Frequency response, self-noise &amp; SPL handling differ by an order of magnitude. </a:t>
            </a:r>
            <a:pPr algn="l" indent="0" marL="0">
              <a:lnSpc>
                <a:spcPct val="145000"/>
              </a:lnSpc>
              <a:buNone/>
            </a:pPr>
            <a:r>
              <a:rPr lang="en-US" sz="1500" b="1" dirty="0">
                <a:solidFill>
                  <a:srgbClr val="1F2A44"/>
                </a:solidFill>
                <a:latin typeface="Arial" pitchFamily="34" charset="0"/>
                <a:ea typeface="Arial" pitchFamily="34" charset="-122"/>
                <a:cs typeface="Arial" pitchFamily="34" charset="-120"/>
              </a:rPr>
              <a:t>Real deployment audio is a mixture of both </a:t>
            </a:r>
            <a:pPr algn="l" indent="0" marL="0">
              <a:lnSpc>
                <a:spcPct val="145000"/>
              </a:lnSpc>
              <a:buNone/>
            </a:pPr>
            <a:r>
              <a:rPr lang="en-US" sz="1500" dirty="0">
                <a:solidFill>
                  <a:srgbClr val="5A6478"/>
                </a:solidFill>
                <a:latin typeface="Arial" pitchFamily="34" charset="0"/>
                <a:ea typeface="Arial" pitchFamily="34" charset="-122"/>
                <a:cs typeface="Arial" pitchFamily="34" charset="-120"/>
              </a:rPr>
              <a:t>— Clotho's heterogeneous FreeSound provenance is a feature, not a bug.</a:t>
            </a:r>
            <a:endParaRPr lang="en-US" sz="1500" dirty="0"/>
          </a:p>
        </p:txBody>
      </p:sp>
      <p:sp>
        <p:nvSpPr>
          <p:cNvPr id="21" name="Shape 19"/>
          <p:cNvSpPr/>
          <p:nvPr/>
        </p:nvSpPr>
        <p:spPr>
          <a:xfrm>
            <a:off x="12830175" y="5244554"/>
            <a:ext cx="2044303" cy="447675"/>
          </a:xfrm>
          <a:prstGeom prst="roundRect">
            <a:avLst>
              <a:gd name="adj" fmla="val 50000"/>
            </a:avLst>
          </a:prstGeom>
          <a:solidFill>
            <a:srgbClr val="E6ECFB"/>
          </a:solidFill>
          <a:ln w="9525">
            <a:solidFill>
              <a:srgbClr val="D6DEEF"/>
            </a:solidFill>
            <a:prstDash val="solid"/>
          </a:ln>
        </p:spPr>
      </p:sp>
      <p:sp>
        <p:nvSpPr>
          <p:cNvPr id="22" name="Shape 20"/>
          <p:cNvSpPr/>
          <p:nvPr/>
        </p:nvSpPr>
        <p:spPr>
          <a:xfrm>
            <a:off x="12973050" y="5430292"/>
            <a:ext cx="76200" cy="76200"/>
          </a:xfrm>
          <a:prstGeom prst="ellipse">
            <a:avLst/>
          </a:prstGeom>
          <a:solidFill>
            <a:srgbClr val="3A5FCD"/>
          </a:solidFill>
          <a:ln/>
        </p:spPr>
      </p:sp>
      <p:sp>
        <p:nvSpPr>
          <p:cNvPr id="23" name="Text 21"/>
          <p:cNvSpPr/>
          <p:nvPr/>
        </p:nvSpPr>
        <p:spPr>
          <a:xfrm>
            <a:off x="13125450" y="5349329"/>
            <a:ext cx="1682353" cy="266700"/>
          </a:xfrm>
          <a:prstGeom prst="rect">
            <a:avLst/>
          </a:prstGeom>
          <a:noFill/>
          <a:ln/>
        </p:spPr>
        <p:txBody>
          <a:bodyPr wrap="square" lIns="0" tIns="0" rIns="0" bIns="0" rtlCol="0" anchor="t">
            <a:normAutofit/>
          </a:bodyPr>
          <a:lstStyle/>
          <a:p>
            <a:pPr algn="l" indent="0" marL="0">
              <a:lnSpc>
                <a:spcPct val="145000"/>
              </a:lnSpc>
              <a:buNone/>
            </a:pPr>
            <a:r>
              <a:rPr lang="en-US" sz="1500" dirty="0">
                <a:solidFill>
                  <a:srgbClr val="1F2A44"/>
                </a:solidFill>
                <a:latin typeface="Arial" pitchFamily="34" charset="0"/>
                <a:ea typeface="Arial" pitchFamily="34" charset="-122"/>
                <a:cs typeface="Arial" pitchFamily="34" charset="-120"/>
              </a:rPr>
              <a:t>Studio condenser</a:t>
            </a:r>
            <a:endParaRPr lang="en-US" sz="1500" dirty="0"/>
          </a:p>
        </p:txBody>
      </p:sp>
      <p:sp>
        <p:nvSpPr>
          <p:cNvPr id="24" name="Shape 22"/>
          <p:cNvSpPr/>
          <p:nvPr/>
        </p:nvSpPr>
        <p:spPr>
          <a:xfrm>
            <a:off x="14950678" y="5244554"/>
            <a:ext cx="2026444" cy="447675"/>
          </a:xfrm>
          <a:prstGeom prst="roundRect">
            <a:avLst>
              <a:gd name="adj" fmla="val 50000"/>
            </a:avLst>
          </a:prstGeom>
          <a:solidFill>
            <a:srgbClr val="E6ECFB"/>
          </a:solidFill>
          <a:ln w="9525">
            <a:solidFill>
              <a:srgbClr val="D6DEEF"/>
            </a:solidFill>
            <a:prstDash val="solid"/>
          </a:ln>
        </p:spPr>
      </p:sp>
      <p:sp>
        <p:nvSpPr>
          <p:cNvPr id="25" name="Shape 23"/>
          <p:cNvSpPr/>
          <p:nvPr/>
        </p:nvSpPr>
        <p:spPr>
          <a:xfrm>
            <a:off x="15093553" y="5430292"/>
            <a:ext cx="76200" cy="76200"/>
          </a:xfrm>
          <a:prstGeom prst="ellipse">
            <a:avLst/>
          </a:prstGeom>
          <a:solidFill>
            <a:srgbClr val="C25A4F"/>
          </a:solidFill>
          <a:ln/>
        </p:spPr>
      </p:sp>
      <p:sp>
        <p:nvSpPr>
          <p:cNvPr id="26" name="Text 24"/>
          <p:cNvSpPr/>
          <p:nvPr/>
        </p:nvSpPr>
        <p:spPr>
          <a:xfrm>
            <a:off x="15245953" y="5349329"/>
            <a:ext cx="1664494" cy="266700"/>
          </a:xfrm>
          <a:prstGeom prst="rect">
            <a:avLst/>
          </a:prstGeom>
          <a:noFill/>
          <a:ln/>
        </p:spPr>
        <p:txBody>
          <a:bodyPr wrap="square" lIns="0" tIns="0" rIns="0" bIns="0" rtlCol="0" anchor="t">
            <a:normAutofit/>
          </a:bodyPr>
          <a:lstStyle/>
          <a:p>
            <a:pPr algn="l" indent="0" marL="0">
              <a:lnSpc>
                <a:spcPct val="145000"/>
              </a:lnSpc>
              <a:buNone/>
            </a:pPr>
            <a:r>
              <a:rPr lang="en-US" sz="1500" dirty="0">
                <a:solidFill>
                  <a:srgbClr val="1F2A44"/>
                </a:solidFill>
                <a:latin typeface="Arial" pitchFamily="34" charset="0"/>
                <a:ea typeface="Arial" pitchFamily="34" charset="-122"/>
                <a:cs typeface="Arial" pitchFamily="34" charset="-120"/>
              </a:rPr>
              <a:t>MEMS phone mic</a:t>
            </a:r>
            <a:endParaRPr lang="en-US" sz="1500" dirty="0"/>
          </a:p>
        </p:txBody>
      </p:sp>
      <p:sp>
        <p:nvSpPr>
          <p:cNvPr id="27" name="Text 25"/>
          <p:cNvSpPr/>
          <p:nvPr/>
        </p:nvSpPr>
        <p:spPr>
          <a:xfrm>
            <a:off x="762000" y="6290816"/>
            <a:ext cx="17266920"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spc="270" kern="0" dirty="0">
                <a:solidFill>
                  <a:srgbClr val="5A6478"/>
                </a:solidFill>
                <a:latin typeface="Arial" pitchFamily="34" charset="0"/>
                <a:ea typeface="Arial" pitchFamily="34" charset="-122"/>
                <a:cs typeface="Arial" pitchFamily="34" charset="-120"/>
              </a:rPr>
              <a:t>SAME NOMINAL SOUND — RAIN — THREE CORPORA</a:t>
            </a:r>
            <a:endParaRPr lang="en-US" sz="1500" dirty="0"/>
          </a:p>
        </p:txBody>
      </p:sp>
      <p:sp>
        <p:nvSpPr>
          <p:cNvPr id="28" name="Shape 26"/>
          <p:cNvSpPr/>
          <p:nvPr/>
        </p:nvSpPr>
        <p:spPr>
          <a:xfrm>
            <a:off x="762000" y="6681341"/>
            <a:ext cx="5460950" cy="2686050"/>
          </a:xfrm>
          <a:prstGeom prst="roundRect">
            <a:avLst>
              <a:gd name="adj" fmla="val 2128"/>
            </a:avLst>
          </a:prstGeom>
          <a:solidFill>
            <a:srgbClr val="FFFFFF"/>
          </a:solidFill>
          <a:ln w="9525">
            <a:solidFill>
              <a:srgbClr val="E3E6EE"/>
            </a:solidFill>
            <a:prstDash val="solid"/>
          </a:ln>
        </p:spPr>
      </p:sp>
      <p:sp>
        <p:nvSpPr>
          <p:cNvPr id="29" name="Shape 27"/>
          <p:cNvSpPr/>
          <p:nvPr/>
        </p:nvSpPr>
        <p:spPr>
          <a:xfrm>
            <a:off x="771525" y="6690866"/>
            <a:ext cx="5441900" cy="2667000"/>
          </a:xfrm>
          <a:prstGeom prst="rect">
            <a:avLst/>
          </a:prstGeom>
          <a:solidFill>
            <a:srgbClr val="FFFFFF"/>
          </a:solidFill>
          <a:ln/>
        </p:spPr>
      </p:sp>
      <p:pic>
        <p:nvPicPr>
          <p:cNvPr id="30" name="Image 0" descr="preencoded.png">    </p:cNvPr>
          <p:cNvPicPr>
            <a:picLocks noChangeAspect="1"/>
          </p:cNvPicPr>
          <p:nvPr/>
        </p:nvPicPr>
        <p:blipFill>
          <a:blip r:embed="rId1"/>
          <a:srcRect l="0" r="0" t="0" b="0"/>
          <a:stretch/>
        </p:blipFill>
        <p:spPr>
          <a:xfrm>
            <a:off x="771525" y="6690866"/>
            <a:ext cx="5441900" cy="2667000"/>
          </a:xfrm>
          <a:prstGeom prst="rect">
            <a:avLst/>
          </a:prstGeom>
        </p:spPr>
      </p:pic>
      <p:sp>
        <p:nvSpPr>
          <p:cNvPr id="31" name="Shape 28"/>
          <p:cNvSpPr/>
          <p:nvPr/>
        </p:nvSpPr>
        <p:spPr>
          <a:xfrm>
            <a:off x="771525" y="9357866"/>
            <a:ext cx="5441900" cy="438150"/>
          </a:xfrm>
          <a:prstGeom prst="rect">
            <a:avLst/>
          </a:prstGeom>
          <a:solidFill>
            <a:srgbClr val="FBFBFD"/>
          </a:solidFill>
          <a:ln/>
        </p:spPr>
      </p:sp>
      <p:sp>
        <p:nvSpPr>
          <p:cNvPr id="32" name="Shape 29"/>
          <p:cNvSpPr/>
          <p:nvPr/>
        </p:nvSpPr>
        <p:spPr>
          <a:xfrm>
            <a:off x="771525" y="9357866"/>
            <a:ext cx="5441900" cy="9525"/>
          </a:xfrm>
          <a:prstGeom prst="rect">
            <a:avLst/>
          </a:prstGeom>
          <a:solidFill>
            <a:srgbClr val="EEF0F6"/>
          </a:solidFill>
          <a:ln/>
        </p:spPr>
      </p:sp>
      <p:sp>
        <p:nvSpPr>
          <p:cNvPr id="33" name="Text 30"/>
          <p:cNvSpPr/>
          <p:nvPr/>
        </p:nvSpPr>
        <p:spPr>
          <a:xfrm>
            <a:off x="904875" y="9443591"/>
            <a:ext cx="5338457"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dirty="0">
                <a:solidFill>
                  <a:srgbClr val="1F2A44"/>
                </a:solidFill>
                <a:latin typeface="Arial" pitchFamily="34" charset="0"/>
                <a:ea typeface="Arial" pitchFamily="34" charset="-122"/>
                <a:cs typeface="Arial" pitchFamily="34" charset="-120"/>
              </a:rPr>
              <a:t>Clotho </a:t>
            </a:r>
            <a:pPr algn="l" indent="0" marL="0">
              <a:lnSpc>
                <a:spcPct val="145000"/>
              </a:lnSpc>
              <a:buNone/>
            </a:pPr>
            <a:r>
              <a:rPr lang="en-US" sz="1500" dirty="0">
                <a:solidFill>
                  <a:srgbClr val="7C8597"/>
                </a:solidFill>
                <a:highlight>
                  <a:srgbClr val="FBFBFD"/>
                </a:highlight>
                <a:latin typeface="Arial" pitchFamily="34" charset="0"/>
                <a:ea typeface="Arial" pitchFamily="34" charset="-122"/>
                <a:cs typeface="Arial" pitchFamily="34" charset="-120"/>
              </a:rPr>
              <a:t>· curated, 15–30 s, mono WAV</a:t>
            </a:r>
            <a:endParaRPr lang="en-US" sz="1500" dirty="0"/>
          </a:p>
        </p:txBody>
      </p:sp>
      <p:sp>
        <p:nvSpPr>
          <p:cNvPr id="34" name="Shape 31"/>
          <p:cNvSpPr/>
          <p:nvPr/>
        </p:nvSpPr>
        <p:spPr>
          <a:xfrm>
            <a:off x="6413450" y="6681341"/>
            <a:ext cx="5461099" cy="2686050"/>
          </a:xfrm>
          <a:prstGeom prst="roundRect">
            <a:avLst>
              <a:gd name="adj" fmla="val 2128"/>
            </a:avLst>
          </a:prstGeom>
          <a:solidFill>
            <a:srgbClr val="FFFFFF"/>
          </a:solidFill>
          <a:ln w="9525">
            <a:solidFill>
              <a:srgbClr val="E3E6EE"/>
            </a:solidFill>
            <a:prstDash val="solid"/>
          </a:ln>
        </p:spPr>
      </p:sp>
      <p:sp>
        <p:nvSpPr>
          <p:cNvPr id="35" name="Shape 32"/>
          <p:cNvSpPr/>
          <p:nvPr/>
        </p:nvSpPr>
        <p:spPr>
          <a:xfrm>
            <a:off x="6422975" y="6690866"/>
            <a:ext cx="5442049" cy="2667000"/>
          </a:xfrm>
          <a:prstGeom prst="rect">
            <a:avLst/>
          </a:prstGeom>
          <a:solidFill>
            <a:srgbClr val="FFFFFF"/>
          </a:solidFill>
          <a:ln/>
        </p:spPr>
      </p:sp>
      <p:pic>
        <p:nvPicPr>
          <p:cNvPr id="36" name="Image 1" descr="preencoded.png">    </p:cNvPr>
          <p:cNvPicPr>
            <a:picLocks noChangeAspect="1"/>
          </p:cNvPicPr>
          <p:nvPr/>
        </p:nvPicPr>
        <p:blipFill>
          <a:blip r:embed="rId2"/>
          <a:srcRect l="0" r="0" t="0" b="0"/>
          <a:stretch/>
        </p:blipFill>
        <p:spPr>
          <a:xfrm>
            <a:off x="6422975" y="6690866"/>
            <a:ext cx="5442049" cy="2667000"/>
          </a:xfrm>
          <a:prstGeom prst="rect">
            <a:avLst/>
          </a:prstGeom>
        </p:spPr>
      </p:pic>
      <p:sp>
        <p:nvSpPr>
          <p:cNvPr id="37" name="Shape 33"/>
          <p:cNvSpPr/>
          <p:nvPr/>
        </p:nvSpPr>
        <p:spPr>
          <a:xfrm>
            <a:off x="6422975" y="9357866"/>
            <a:ext cx="5442049" cy="438150"/>
          </a:xfrm>
          <a:prstGeom prst="rect">
            <a:avLst/>
          </a:prstGeom>
          <a:solidFill>
            <a:srgbClr val="FBFBFD"/>
          </a:solidFill>
          <a:ln/>
        </p:spPr>
      </p:sp>
      <p:sp>
        <p:nvSpPr>
          <p:cNvPr id="38" name="Shape 34"/>
          <p:cNvSpPr/>
          <p:nvPr/>
        </p:nvSpPr>
        <p:spPr>
          <a:xfrm>
            <a:off x="6422975" y="9357866"/>
            <a:ext cx="5442049" cy="9525"/>
          </a:xfrm>
          <a:prstGeom prst="rect">
            <a:avLst/>
          </a:prstGeom>
          <a:solidFill>
            <a:srgbClr val="EEF0F6"/>
          </a:solidFill>
          <a:ln/>
        </p:spPr>
      </p:sp>
      <p:sp>
        <p:nvSpPr>
          <p:cNvPr id="39" name="Text 35"/>
          <p:cNvSpPr/>
          <p:nvPr/>
        </p:nvSpPr>
        <p:spPr>
          <a:xfrm>
            <a:off x="6556325" y="9443591"/>
            <a:ext cx="5338611"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dirty="0">
                <a:solidFill>
                  <a:srgbClr val="1F2A44"/>
                </a:solidFill>
                <a:latin typeface="Arial" pitchFamily="34" charset="0"/>
                <a:ea typeface="Arial" pitchFamily="34" charset="-122"/>
                <a:cs typeface="Arial" pitchFamily="34" charset="-120"/>
              </a:rPr>
              <a:t>AudioCaps </a:t>
            </a:r>
            <a:pPr algn="l" indent="0" marL="0">
              <a:lnSpc>
                <a:spcPct val="145000"/>
              </a:lnSpc>
              <a:buNone/>
            </a:pPr>
            <a:r>
              <a:rPr lang="en-US" sz="1500" dirty="0">
                <a:solidFill>
                  <a:srgbClr val="7C8597"/>
                </a:solidFill>
                <a:highlight>
                  <a:srgbClr val="FBFBFD"/>
                </a:highlight>
                <a:latin typeface="Arial" pitchFamily="34" charset="0"/>
                <a:ea typeface="Arial" pitchFamily="34" charset="-122"/>
                <a:cs typeface="Arial" pitchFamily="34" charset="-120"/>
              </a:rPr>
              <a:t>· YouTube 10 s, encoding artifacts</a:t>
            </a:r>
            <a:endParaRPr lang="en-US" sz="1500" dirty="0"/>
          </a:p>
        </p:txBody>
      </p:sp>
      <p:sp>
        <p:nvSpPr>
          <p:cNvPr id="40" name="Shape 36"/>
          <p:cNvSpPr/>
          <p:nvPr/>
        </p:nvSpPr>
        <p:spPr>
          <a:xfrm>
            <a:off x="12065050" y="6681341"/>
            <a:ext cx="5460950" cy="2686050"/>
          </a:xfrm>
          <a:prstGeom prst="roundRect">
            <a:avLst>
              <a:gd name="adj" fmla="val 2128"/>
            </a:avLst>
          </a:prstGeom>
          <a:solidFill>
            <a:srgbClr val="FFFFFF"/>
          </a:solidFill>
          <a:ln w="9525">
            <a:solidFill>
              <a:srgbClr val="E3E6EE"/>
            </a:solidFill>
            <a:prstDash val="solid"/>
          </a:ln>
        </p:spPr>
      </p:sp>
      <p:sp>
        <p:nvSpPr>
          <p:cNvPr id="41" name="Shape 37"/>
          <p:cNvSpPr/>
          <p:nvPr/>
        </p:nvSpPr>
        <p:spPr>
          <a:xfrm>
            <a:off x="12074575" y="6690866"/>
            <a:ext cx="5441900" cy="2667000"/>
          </a:xfrm>
          <a:prstGeom prst="rect">
            <a:avLst/>
          </a:prstGeom>
          <a:solidFill>
            <a:srgbClr val="FFFFFF"/>
          </a:solidFill>
          <a:ln/>
        </p:spPr>
      </p:sp>
      <p:pic>
        <p:nvPicPr>
          <p:cNvPr id="42" name="Image 2" descr="preencoded.png">    </p:cNvPr>
          <p:cNvPicPr>
            <a:picLocks noChangeAspect="1"/>
          </p:cNvPicPr>
          <p:nvPr/>
        </p:nvPicPr>
        <p:blipFill>
          <a:blip r:embed="rId3"/>
          <a:srcRect l="0" r="0" t="0" b="0"/>
          <a:stretch/>
        </p:blipFill>
        <p:spPr>
          <a:xfrm>
            <a:off x="12074575" y="6690866"/>
            <a:ext cx="5441900" cy="2667000"/>
          </a:xfrm>
          <a:prstGeom prst="rect">
            <a:avLst/>
          </a:prstGeom>
        </p:spPr>
      </p:pic>
      <p:sp>
        <p:nvSpPr>
          <p:cNvPr id="43" name="Shape 38"/>
          <p:cNvSpPr/>
          <p:nvPr/>
        </p:nvSpPr>
        <p:spPr>
          <a:xfrm>
            <a:off x="12074575" y="9357866"/>
            <a:ext cx="5441900" cy="438150"/>
          </a:xfrm>
          <a:prstGeom prst="rect">
            <a:avLst/>
          </a:prstGeom>
          <a:solidFill>
            <a:srgbClr val="FBFBFD"/>
          </a:solidFill>
          <a:ln/>
        </p:spPr>
      </p:sp>
      <p:sp>
        <p:nvSpPr>
          <p:cNvPr id="44" name="Shape 39"/>
          <p:cNvSpPr/>
          <p:nvPr/>
        </p:nvSpPr>
        <p:spPr>
          <a:xfrm>
            <a:off x="12074575" y="9357866"/>
            <a:ext cx="5441900" cy="9525"/>
          </a:xfrm>
          <a:prstGeom prst="rect">
            <a:avLst/>
          </a:prstGeom>
          <a:solidFill>
            <a:srgbClr val="EEF0F6"/>
          </a:solidFill>
          <a:ln/>
        </p:spPr>
      </p:sp>
      <p:sp>
        <p:nvSpPr>
          <p:cNvPr id="45" name="Text 40"/>
          <p:cNvSpPr/>
          <p:nvPr/>
        </p:nvSpPr>
        <p:spPr>
          <a:xfrm>
            <a:off x="12207925" y="9443591"/>
            <a:ext cx="5338457"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dirty="0">
                <a:solidFill>
                  <a:srgbClr val="1F2A44"/>
                </a:solidFill>
                <a:latin typeface="Arial" pitchFamily="34" charset="0"/>
                <a:ea typeface="Arial" pitchFamily="34" charset="-122"/>
                <a:cs typeface="Arial" pitchFamily="34" charset="-120"/>
              </a:rPr>
              <a:t>WavCaps </a:t>
            </a:r>
            <a:pPr algn="l" indent="0" marL="0">
              <a:lnSpc>
                <a:spcPct val="145000"/>
              </a:lnSpc>
              <a:buNone/>
            </a:pPr>
            <a:r>
              <a:rPr lang="en-US" sz="1500" dirty="0">
                <a:solidFill>
                  <a:srgbClr val="7C8597"/>
                </a:solidFill>
                <a:highlight>
                  <a:srgbClr val="FBFBFD"/>
                </a:highlight>
                <a:latin typeface="Arial" pitchFamily="34" charset="0"/>
                <a:ea typeface="Arial" pitchFamily="34" charset="-122"/>
                <a:cs typeface="Arial" pitchFamily="34" charset="-120"/>
              </a:rPr>
              <a:t>· web-scraped, variable length &amp; SNR</a:t>
            </a:r>
            <a:endParaRPr lang="en-US" sz="1500" dirty="0"/>
          </a:p>
        </p:txBody>
      </p:sp>
      <p:sp>
        <p:nvSpPr>
          <p:cNvPr id="46" name="Text 41"/>
          <p:cNvSpPr/>
          <p:nvPr/>
        </p:nvSpPr>
        <p:spPr>
          <a:xfrm>
            <a:off x="762000" y="9725025"/>
            <a:ext cx="2242989"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spc="30" kern="0" dirty="0">
                <a:solidFill>
                  <a:srgbClr val="7C8597"/>
                </a:solidFill>
                <a:latin typeface="Arial" pitchFamily="34" charset="0"/>
                <a:ea typeface="Arial" pitchFamily="34" charset="-122"/>
                <a:cs typeface="Arial" pitchFamily="34" charset="-120"/>
              </a:rPr>
              <a:t>Zuraiz · P2 · 2026-05-18</a:t>
            </a:r>
            <a:endParaRPr lang="en-US" sz="1500" dirty="0"/>
          </a:p>
        </p:txBody>
      </p:sp>
      <p:sp>
        <p:nvSpPr>
          <p:cNvPr id="47" name="Text 42"/>
          <p:cNvSpPr/>
          <p:nvPr/>
        </p:nvSpPr>
        <p:spPr>
          <a:xfrm>
            <a:off x="16916698" y="9725025"/>
            <a:ext cx="685502"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spc="30" kern="0" dirty="0">
                <a:solidFill>
                  <a:srgbClr val="7C8597"/>
                </a:solidFill>
                <a:latin typeface="Arial" pitchFamily="34" charset="0"/>
                <a:ea typeface="Arial" pitchFamily="34" charset="-122"/>
                <a:cs typeface="Arial" pitchFamily="34" charset="-120"/>
              </a:rPr>
              <a:t>02 / 06</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7183100" y="419100"/>
            <a:ext cx="342900" cy="19050"/>
          </a:xfrm>
          <a:prstGeom prst="rect">
            <a:avLst/>
          </a:prstGeom>
          <a:solidFill>
            <a:srgbClr val="1F2A44"/>
          </a:solidFill>
          <a:ln/>
        </p:spPr>
      </p:sp>
      <p:sp>
        <p:nvSpPr>
          <p:cNvPr id="3" name="Shape 1"/>
          <p:cNvSpPr/>
          <p:nvPr/>
        </p:nvSpPr>
        <p:spPr>
          <a:xfrm>
            <a:off x="17297400" y="495300"/>
            <a:ext cx="228600" cy="19050"/>
          </a:xfrm>
          <a:prstGeom prst="rect">
            <a:avLst/>
          </a:prstGeom>
          <a:solidFill>
            <a:srgbClr val="1F2A44"/>
          </a:solidFill>
          <a:ln/>
        </p:spPr>
      </p:sp>
      <p:sp>
        <p:nvSpPr>
          <p:cNvPr id="4" name="Shape 2"/>
          <p:cNvSpPr/>
          <p:nvPr/>
        </p:nvSpPr>
        <p:spPr>
          <a:xfrm>
            <a:off x="17392650" y="571500"/>
            <a:ext cx="133350" cy="19050"/>
          </a:xfrm>
          <a:prstGeom prst="rect">
            <a:avLst/>
          </a:prstGeom>
          <a:solidFill>
            <a:srgbClr val="1F2A44"/>
          </a:solidFill>
          <a:ln/>
        </p:spPr>
      </p:sp>
      <p:sp>
        <p:nvSpPr>
          <p:cNvPr id="5" name="Text 3"/>
          <p:cNvSpPr/>
          <p:nvPr/>
        </p:nvSpPr>
        <p:spPr>
          <a:xfrm>
            <a:off x="762000" y="685800"/>
            <a:ext cx="17266920"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spc="270" kern="0" dirty="0">
                <a:solidFill>
                  <a:srgbClr val="3A5FCD"/>
                </a:solidFill>
                <a:latin typeface="Arial" pitchFamily="34" charset="0"/>
                <a:ea typeface="Arial" pitchFamily="34" charset="-122"/>
                <a:cs typeface="Arial" pitchFamily="34" charset="-120"/>
              </a:rPr>
              <a:t>PROPERTIES &amp; ANNOTATION</a:t>
            </a:r>
            <a:endParaRPr lang="en-US" sz="1500" dirty="0"/>
          </a:p>
        </p:txBody>
      </p:sp>
      <p:sp>
        <p:nvSpPr>
          <p:cNvPr id="6" name="Text 4"/>
          <p:cNvSpPr/>
          <p:nvPr/>
        </p:nvSpPr>
        <p:spPr>
          <a:xfrm>
            <a:off x="762000" y="1114425"/>
            <a:ext cx="17266920" cy="582811"/>
          </a:xfrm>
          <a:prstGeom prst="rect">
            <a:avLst/>
          </a:prstGeom>
          <a:noFill/>
          <a:ln/>
        </p:spPr>
        <p:txBody>
          <a:bodyPr wrap="square" lIns="25400" tIns="25400" rIns="25400" bIns="25400" rtlCol="0" anchor="t">
            <a:normAutofit/>
          </a:bodyPr>
          <a:lstStyle/>
          <a:p>
            <a:pPr algn="l" indent="0" marL="0">
              <a:lnSpc>
                <a:spcPct val="110000"/>
              </a:lnSpc>
              <a:buNone/>
            </a:pPr>
            <a:r>
              <a:rPr lang="en-US" sz="3900" b="1" spc="-58" kern="0" dirty="0">
                <a:solidFill>
                  <a:srgbClr val="1F2A44"/>
                </a:solidFill>
                <a:latin typeface="Arial" pitchFamily="34" charset="0"/>
                <a:ea typeface="Arial" pitchFamily="34" charset="-122"/>
                <a:cs typeface="Arial" pitchFamily="34" charset="-120"/>
              </a:rPr>
              <a:t>Audio properties </a:t>
            </a:r>
            <a:pPr algn="l" indent="0" marL="0">
              <a:lnSpc>
                <a:spcPct val="110000"/>
              </a:lnSpc>
              <a:buNone/>
            </a:pPr>
            <a:r>
              <a:rPr lang="en-US" sz="3900" spc="-58" kern="0" dirty="0">
                <a:solidFill>
                  <a:srgbClr val="5A6478"/>
                </a:solidFill>
                <a:latin typeface="Arial" pitchFamily="34" charset="0"/>
                <a:ea typeface="Arial" pitchFamily="34" charset="-122"/>
                <a:cs typeface="Arial" pitchFamily="34" charset="-120"/>
              </a:rPr>
              <a:t>+ </a:t>
            </a:r>
            <a:pPr algn="l" indent="0" marL="0">
              <a:lnSpc>
                <a:spcPct val="110000"/>
              </a:lnSpc>
              <a:buNone/>
            </a:pPr>
            <a:r>
              <a:rPr lang="en-US" sz="3900" b="1" spc="-58" kern="0" dirty="0">
                <a:solidFill>
                  <a:srgbClr val="1F2A44"/>
                </a:solidFill>
                <a:latin typeface="Arial" pitchFamily="34" charset="0"/>
                <a:ea typeface="Arial" pitchFamily="34" charset="-122"/>
                <a:cs typeface="Arial" pitchFamily="34" charset="-120"/>
              </a:rPr>
              <a:t>annotation</a:t>
            </a:r>
            <a:endParaRPr lang="en-US" sz="3900" dirty="0"/>
          </a:p>
        </p:txBody>
      </p:sp>
      <p:sp>
        <p:nvSpPr>
          <p:cNvPr id="7" name="Text 5"/>
          <p:cNvSpPr/>
          <p:nvPr/>
        </p:nvSpPr>
        <p:spPr>
          <a:xfrm>
            <a:off x="762000" y="1830586"/>
            <a:ext cx="14225588" cy="400943"/>
          </a:xfrm>
          <a:prstGeom prst="rect">
            <a:avLst/>
          </a:prstGeom>
          <a:noFill/>
          <a:ln/>
        </p:spPr>
        <p:txBody>
          <a:bodyPr wrap="square" lIns="25400" tIns="25400" rIns="25400" bIns="25400" rtlCol="0" anchor="t">
            <a:normAutofit/>
          </a:bodyPr>
          <a:lstStyle/>
          <a:p>
            <a:pPr algn="l" indent="0" marL="0">
              <a:lnSpc>
                <a:spcPct val="135000"/>
              </a:lnSpc>
              <a:buNone/>
            </a:pPr>
            <a:r>
              <a:rPr lang="en-US" sz="1950" i="1" dirty="0">
                <a:solidFill>
                  <a:srgbClr val="5A6478"/>
                </a:solidFill>
                <a:latin typeface="Arial" pitchFamily="34" charset="0"/>
                <a:ea typeface="Arial" pitchFamily="34" charset="-122"/>
                <a:cs typeface="Arial" pitchFamily="34" charset="-120"/>
              </a:rPr>
              <a:t>Weak-label benchmark, 5 captions per clip, spectrograms via </a:t>
            </a:r>
            <a:pPr algn="l" indent="0" marL="0">
              <a:lnSpc>
                <a:spcPct val="135000"/>
              </a:lnSpc>
              <a:buNone/>
            </a:pPr>
            <a:r>
              <a:rPr lang="en-US" sz="1950" dirty="0">
                <a:solidFill>
                  <a:srgbClr val="5A6478"/>
                </a:solidFill>
                <a:latin typeface="Courier New" pitchFamily="34" charset="0"/>
                <a:ea typeface="Courier New" pitchFamily="34" charset="-122"/>
                <a:cs typeface="Courier New" pitchFamily="34" charset="-120"/>
              </a:rPr>
              <a:t>librosa.stft</a:t>
            </a:r>
            <a:pPr algn="l" indent="0" marL="0">
              <a:lnSpc>
                <a:spcPct val="135000"/>
              </a:lnSpc>
              <a:buNone/>
            </a:pPr>
            <a:r>
              <a:rPr lang="en-US" sz="1950" i="1" dirty="0">
                <a:solidFill>
                  <a:srgbClr val="5A6478"/>
                </a:solidFill>
                <a:latin typeface="Arial" pitchFamily="34" charset="0"/>
                <a:ea typeface="Arial" pitchFamily="34" charset="-122"/>
                <a:cs typeface="Arial" pitchFamily="34" charset="-120"/>
              </a:rPr>
              <a:t>.</a:t>
            </a:r>
            <a:endParaRPr lang="en-US" sz="1950" dirty="0"/>
          </a:p>
        </p:txBody>
      </p:sp>
      <p:sp>
        <p:nvSpPr>
          <p:cNvPr id="8" name="Text 6"/>
          <p:cNvSpPr/>
          <p:nvPr/>
        </p:nvSpPr>
        <p:spPr>
          <a:xfrm>
            <a:off x="762000" y="2536329"/>
            <a:ext cx="7456170"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spc="270" kern="0" dirty="0">
                <a:solidFill>
                  <a:srgbClr val="1F2A44"/>
                </a:solidFill>
                <a:latin typeface="Arial" pitchFamily="34" charset="0"/>
                <a:ea typeface="Arial" pitchFamily="34" charset="-122"/>
                <a:cs typeface="Arial" pitchFamily="34" charset="-120"/>
              </a:rPr>
              <a:t>AT A GLANCE</a:t>
            </a:r>
            <a:endParaRPr lang="en-US" sz="1500" dirty="0"/>
          </a:p>
        </p:txBody>
      </p:sp>
      <p:sp>
        <p:nvSpPr>
          <p:cNvPr id="9" name="Shape 7"/>
          <p:cNvSpPr/>
          <p:nvPr/>
        </p:nvSpPr>
        <p:spPr>
          <a:xfrm>
            <a:off x="762000" y="3136404"/>
            <a:ext cx="7239000" cy="4866382"/>
          </a:xfrm>
          <a:prstGeom prst="roundRect">
            <a:avLst>
              <a:gd name="adj" fmla="val 1174"/>
            </a:avLst>
          </a:prstGeom>
          <a:solidFill>
            <a:srgbClr val="FBFBFD"/>
          </a:solidFill>
          <a:ln w="9525">
            <a:solidFill>
              <a:srgbClr val="E3E6EE"/>
            </a:solidFill>
            <a:prstDash val="solid"/>
          </a:ln>
        </p:spPr>
      </p:sp>
      <p:sp>
        <p:nvSpPr>
          <p:cNvPr id="10" name="Text 8"/>
          <p:cNvSpPr/>
          <p:nvPr/>
        </p:nvSpPr>
        <p:spPr>
          <a:xfrm>
            <a:off x="1114425" y="3450729"/>
            <a:ext cx="1981200"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5A6478"/>
                </a:solidFill>
                <a:latin typeface="Arial" pitchFamily="34" charset="0"/>
                <a:ea typeface="Arial" pitchFamily="34" charset="-122"/>
                <a:cs typeface="Arial" pitchFamily="34" charset="-120"/>
              </a:rPr>
              <a:t>Sample rate</a:t>
            </a:r>
            <a:endParaRPr lang="en-US" sz="1650" dirty="0"/>
          </a:p>
        </p:txBody>
      </p:sp>
      <p:sp>
        <p:nvSpPr>
          <p:cNvPr id="11" name="Text 9"/>
          <p:cNvSpPr/>
          <p:nvPr/>
        </p:nvSpPr>
        <p:spPr>
          <a:xfrm>
            <a:off x="3248025" y="3450729"/>
            <a:ext cx="4532567"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b="1" dirty="0">
                <a:solidFill>
                  <a:srgbClr val="1F2A44"/>
                </a:solidFill>
                <a:latin typeface="Arial" pitchFamily="34" charset="0"/>
                <a:ea typeface="Arial" pitchFamily="34" charset="-122"/>
                <a:cs typeface="Arial" pitchFamily="34" charset="-120"/>
              </a:rPr>
              <a:t>44.1 kHz</a:t>
            </a:r>
            <a:endParaRPr lang="en-US" sz="1650" dirty="0"/>
          </a:p>
        </p:txBody>
      </p:sp>
      <p:sp>
        <p:nvSpPr>
          <p:cNvPr id="12" name="Text 10"/>
          <p:cNvSpPr/>
          <p:nvPr/>
        </p:nvSpPr>
        <p:spPr>
          <a:xfrm>
            <a:off x="1114425" y="3887837"/>
            <a:ext cx="1981200"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5A6478"/>
                </a:solidFill>
                <a:latin typeface="Arial" pitchFamily="34" charset="0"/>
                <a:ea typeface="Arial" pitchFamily="34" charset="-122"/>
                <a:cs typeface="Arial" pitchFamily="34" charset="-120"/>
              </a:rPr>
              <a:t>Channels</a:t>
            </a:r>
            <a:endParaRPr lang="en-US" sz="1650" dirty="0"/>
          </a:p>
        </p:txBody>
      </p:sp>
      <p:sp>
        <p:nvSpPr>
          <p:cNvPr id="13" name="Text 11"/>
          <p:cNvSpPr/>
          <p:nvPr/>
        </p:nvSpPr>
        <p:spPr>
          <a:xfrm>
            <a:off x="3248025" y="3887837"/>
            <a:ext cx="4532567"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b="1" dirty="0">
                <a:solidFill>
                  <a:srgbClr val="1F2A44"/>
                </a:solidFill>
                <a:latin typeface="Arial" pitchFamily="34" charset="0"/>
                <a:ea typeface="Arial" pitchFamily="34" charset="-122"/>
                <a:cs typeface="Arial" pitchFamily="34" charset="-120"/>
              </a:rPr>
              <a:t>1 (mono)</a:t>
            </a:r>
            <a:endParaRPr lang="en-US" sz="1650" dirty="0"/>
          </a:p>
        </p:txBody>
      </p:sp>
      <p:sp>
        <p:nvSpPr>
          <p:cNvPr id="14" name="Text 12"/>
          <p:cNvSpPr/>
          <p:nvPr/>
        </p:nvSpPr>
        <p:spPr>
          <a:xfrm>
            <a:off x="1114425" y="4324945"/>
            <a:ext cx="1981200"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5A6478"/>
                </a:solidFill>
                <a:latin typeface="Arial" pitchFamily="34" charset="0"/>
                <a:ea typeface="Arial" pitchFamily="34" charset="-122"/>
                <a:cs typeface="Arial" pitchFamily="34" charset="-120"/>
              </a:rPr>
              <a:t>Bit depth</a:t>
            </a:r>
            <a:endParaRPr lang="en-US" sz="1650" dirty="0"/>
          </a:p>
        </p:txBody>
      </p:sp>
      <p:sp>
        <p:nvSpPr>
          <p:cNvPr id="15" name="Text 13"/>
          <p:cNvSpPr/>
          <p:nvPr/>
        </p:nvSpPr>
        <p:spPr>
          <a:xfrm>
            <a:off x="3248025" y="4324945"/>
            <a:ext cx="4532567"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b="1" dirty="0">
                <a:solidFill>
                  <a:srgbClr val="1F2A44"/>
                </a:solidFill>
                <a:latin typeface="Arial" pitchFamily="34" charset="0"/>
                <a:ea typeface="Arial" pitchFamily="34" charset="-122"/>
                <a:cs typeface="Arial" pitchFamily="34" charset="-120"/>
              </a:rPr>
              <a:t>16-bit</a:t>
            </a:r>
            <a:endParaRPr lang="en-US" sz="1650" dirty="0"/>
          </a:p>
        </p:txBody>
      </p:sp>
      <p:sp>
        <p:nvSpPr>
          <p:cNvPr id="16" name="Text 14"/>
          <p:cNvSpPr/>
          <p:nvPr/>
        </p:nvSpPr>
        <p:spPr>
          <a:xfrm>
            <a:off x="1114425" y="4762054"/>
            <a:ext cx="1981200"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5A6478"/>
                </a:solidFill>
                <a:latin typeface="Arial" pitchFamily="34" charset="0"/>
                <a:ea typeface="Arial" pitchFamily="34" charset="-122"/>
                <a:cs typeface="Arial" pitchFamily="34" charset="-120"/>
              </a:rPr>
              <a:t>Format</a:t>
            </a:r>
            <a:endParaRPr lang="en-US" sz="1650" dirty="0"/>
          </a:p>
        </p:txBody>
      </p:sp>
      <p:sp>
        <p:nvSpPr>
          <p:cNvPr id="17" name="Text 15"/>
          <p:cNvSpPr/>
          <p:nvPr/>
        </p:nvSpPr>
        <p:spPr>
          <a:xfrm>
            <a:off x="3248025" y="4762054"/>
            <a:ext cx="4532567"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b="1" dirty="0">
                <a:solidFill>
                  <a:srgbClr val="1F2A44"/>
                </a:solidFill>
                <a:latin typeface="Arial" pitchFamily="34" charset="0"/>
                <a:ea typeface="Arial" pitchFamily="34" charset="-122"/>
                <a:cs typeface="Arial" pitchFamily="34" charset="-120"/>
              </a:rPr>
              <a:t>WAV (PCM)</a:t>
            </a:r>
            <a:endParaRPr lang="en-US" sz="1650" dirty="0"/>
          </a:p>
        </p:txBody>
      </p:sp>
      <p:sp>
        <p:nvSpPr>
          <p:cNvPr id="18" name="Text 16"/>
          <p:cNvSpPr/>
          <p:nvPr/>
        </p:nvSpPr>
        <p:spPr>
          <a:xfrm>
            <a:off x="1114425" y="5199162"/>
            <a:ext cx="1981200"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5A6478"/>
                </a:solidFill>
                <a:latin typeface="Arial" pitchFamily="34" charset="0"/>
                <a:ea typeface="Arial" pitchFamily="34" charset="-122"/>
                <a:cs typeface="Arial" pitchFamily="34" charset="-120"/>
              </a:rPr>
              <a:t>Clip duration</a:t>
            </a:r>
            <a:endParaRPr lang="en-US" sz="1650" dirty="0"/>
          </a:p>
        </p:txBody>
      </p:sp>
      <p:sp>
        <p:nvSpPr>
          <p:cNvPr id="19" name="Text 17"/>
          <p:cNvSpPr/>
          <p:nvPr/>
        </p:nvSpPr>
        <p:spPr>
          <a:xfrm>
            <a:off x="3248025" y="5199162"/>
            <a:ext cx="4532567"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b="1" dirty="0">
                <a:solidFill>
                  <a:srgbClr val="1F2A44"/>
                </a:solidFill>
                <a:latin typeface="Arial" pitchFamily="34" charset="0"/>
                <a:ea typeface="Arial" pitchFamily="34" charset="-122"/>
                <a:cs typeface="Arial" pitchFamily="34" charset="-120"/>
              </a:rPr>
              <a:t>15 – 30 s</a:t>
            </a:r>
            <a:endParaRPr lang="en-US" sz="1650" dirty="0"/>
          </a:p>
        </p:txBody>
      </p:sp>
      <p:sp>
        <p:nvSpPr>
          <p:cNvPr id="20" name="Text 18"/>
          <p:cNvSpPr/>
          <p:nvPr/>
        </p:nvSpPr>
        <p:spPr>
          <a:xfrm>
            <a:off x="1114425" y="5636270"/>
            <a:ext cx="1981200"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5A6478"/>
                </a:solidFill>
                <a:latin typeface="Arial" pitchFamily="34" charset="0"/>
                <a:ea typeface="Arial" pitchFamily="34" charset="-122"/>
                <a:cs typeface="Arial" pitchFamily="34" charset="-120"/>
              </a:rPr>
              <a:t>Captions / clip</a:t>
            </a:r>
            <a:endParaRPr lang="en-US" sz="1650" dirty="0"/>
          </a:p>
        </p:txBody>
      </p:sp>
      <p:sp>
        <p:nvSpPr>
          <p:cNvPr id="21" name="Text 19"/>
          <p:cNvSpPr/>
          <p:nvPr/>
        </p:nvSpPr>
        <p:spPr>
          <a:xfrm>
            <a:off x="3248025" y="5636270"/>
            <a:ext cx="4532567"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b="1" dirty="0">
                <a:solidFill>
                  <a:srgbClr val="1F2A44"/>
                </a:solidFill>
                <a:latin typeface="Arial" pitchFamily="34" charset="0"/>
                <a:ea typeface="Arial" pitchFamily="34" charset="-122"/>
                <a:cs typeface="Arial" pitchFamily="34" charset="-120"/>
              </a:rPr>
              <a:t>5</a:t>
            </a:r>
            <a:endParaRPr lang="en-US" sz="1650" dirty="0"/>
          </a:p>
        </p:txBody>
      </p:sp>
      <p:sp>
        <p:nvSpPr>
          <p:cNvPr id="22" name="Text 20"/>
          <p:cNvSpPr/>
          <p:nvPr/>
        </p:nvSpPr>
        <p:spPr>
          <a:xfrm>
            <a:off x="1114425" y="6073378"/>
            <a:ext cx="1981200"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5A6478"/>
                </a:solidFill>
                <a:latin typeface="Arial" pitchFamily="34" charset="0"/>
                <a:ea typeface="Arial" pitchFamily="34" charset="-122"/>
                <a:cs typeface="Arial" pitchFamily="34" charset="-120"/>
              </a:rPr>
              <a:t>Caption length</a:t>
            </a:r>
            <a:endParaRPr lang="en-US" sz="1650" dirty="0"/>
          </a:p>
        </p:txBody>
      </p:sp>
      <p:sp>
        <p:nvSpPr>
          <p:cNvPr id="23" name="Text 21"/>
          <p:cNvSpPr/>
          <p:nvPr/>
        </p:nvSpPr>
        <p:spPr>
          <a:xfrm>
            <a:off x="3248025" y="6073378"/>
            <a:ext cx="4532567"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b="1" dirty="0">
                <a:solidFill>
                  <a:srgbClr val="1F2A44"/>
                </a:solidFill>
                <a:latin typeface="Arial" pitchFamily="34" charset="0"/>
                <a:ea typeface="Arial" pitchFamily="34" charset="-122"/>
                <a:cs typeface="Arial" pitchFamily="34" charset="-120"/>
              </a:rPr>
              <a:t>8 – 20 words</a:t>
            </a:r>
            <a:endParaRPr lang="en-US" sz="1650" dirty="0"/>
          </a:p>
        </p:txBody>
      </p:sp>
      <p:sp>
        <p:nvSpPr>
          <p:cNvPr id="24" name="Text 22"/>
          <p:cNvSpPr/>
          <p:nvPr/>
        </p:nvSpPr>
        <p:spPr>
          <a:xfrm>
            <a:off x="1114425" y="6510486"/>
            <a:ext cx="1981200"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5A6478"/>
                </a:solidFill>
                <a:latin typeface="Arial" pitchFamily="34" charset="0"/>
                <a:ea typeface="Arial" pitchFamily="34" charset="-122"/>
                <a:cs typeface="Arial" pitchFamily="34" charset="-120"/>
              </a:rPr>
              <a:t>Vocabulary</a:t>
            </a:r>
            <a:endParaRPr lang="en-US" sz="1650" dirty="0"/>
          </a:p>
        </p:txBody>
      </p:sp>
      <p:sp>
        <p:nvSpPr>
          <p:cNvPr id="25" name="Text 23"/>
          <p:cNvSpPr/>
          <p:nvPr/>
        </p:nvSpPr>
        <p:spPr>
          <a:xfrm>
            <a:off x="3248025" y="6510486"/>
            <a:ext cx="4532567"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b="1" dirty="0">
                <a:solidFill>
                  <a:srgbClr val="1F2A44"/>
                </a:solidFill>
                <a:latin typeface="Arial" pitchFamily="34" charset="0"/>
                <a:ea typeface="Arial" pitchFamily="34" charset="-122"/>
                <a:cs typeface="Arial" pitchFamily="34" charset="-120"/>
              </a:rPr>
              <a:t>open (no fixed taxonomy)</a:t>
            </a:r>
            <a:endParaRPr lang="en-US" sz="1650" dirty="0"/>
          </a:p>
        </p:txBody>
      </p:sp>
      <p:sp>
        <p:nvSpPr>
          <p:cNvPr id="26" name="Text 24"/>
          <p:cNvSpPr/>
          <p:nvPr/>
        </p:nvSpPr>
        <p:spPr>
          <a:xfrm>
            <a:off x="1114425" y="6947595"/>
            <a:ext cx="1981200"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5A6478"/>
                </a:solidFill>
                <a:latin typeface="Arial" pitchFamily="34" charset="0"/>
                <a:ea typeface="Arial" pitchFamily="34" charset="-122"/>
                <a:cs typeface="Arial" pitchFamily="34" charset="-120"/>
              </a:rPr>
              <a:t>Licence</a:t>
            </a:r>
            <a:endParaRPr lang="en-US" sz="1650" dirty="0"/>
          </a:p>
        </p:txBody>
      </p:sp>
      <p:sp>
        <p:nvSpPr>
          <p:cNvPr id="27" name="Text 25"/>
          <p:cNvSpPr/>
          <p:nvPr/>
        </p:nvSpPr>
        <p:spPr>
          <a:xfrm>
            <a:off x="3248025" y="6947595"/>
            <a:ext cx="4532567"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b="1" dirty="0">
                <a:solidFill>
                  <a:srgbClr val="1F2A44"/>
                </a:solidFill>
                <a:latin typeface="Arial" pitchFamily="34" charset="0"/>
                <a:ea typeface="Arial" pitchFamily="34" charset="-122"/>
                <a:cs typeface="Arial" pitchFamily="34" charset="-120"/>
              </a:rPr>
              <a:t>CC-BY 4.0</a:t>
            </a:r>
            <a:endParaRPr lang="en-US" sz="1650" dirty="0"/>
          </a:p>
        </p:txBody>
      </p:sp>
      <p:sp>
        <p:nvSpPr>
          <p:cNvPr id="28" name="Text 26"/>
          <p:cNvSpPr/>
          <p:nvPr/>
        </p:nvSpPr>
        <p:spPr>
          <a:xfrm>
            <a:off x="1114425" y="7384703"/>
            <a:ext cx="1981200"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5A6478"/>
                </a:solidFill>
                <a:latin typeface="Arial" pitchFamily="34" charset="0"/>
                <a:ea typeface="Arial" pitchFamily="34" charset="-122"/>
                <a:cs typeface="Arial" pitchFamily="34" charset="-120"/>
              </a:rPr>
              <a:t>Distribution</a:t>
            </a:r>
            <a:endParaRPr lang="en-US" sz="1650" dirty="0"/>
          </a:p>
        </p:txBody>
      </p:sp>
      <p:sp>
        <p:nvSpPr>
          <p:cNvPr id="29" name="Text 27"/>
          <p:cNvSpPr/>
          <p:nvPr/>
        </p:nvSpPr>
        <p:spPr>
          <a:xfrm>
            <a:off x="3248025" y="7384703"/>
            <a:ext cx="4532567"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b="1" dirty="0">
                <a:solidFill>
                  <a:srgbClr val="1F2A44"/>
                </a:solidFill>
                <a:latin typeface="Arial" pitchFamily="34" charset="0"/>
                <a:ea typeface="Arial" pitchFamily="34" charset="-122"/>
                <a:cs typeface="Arial" pitchFamily="34" charset="-120"/>
              </a:rPr>
              <a:t>Zenodo record 4783391 · FAIR</a:t>
            </a:r>
            <a:endParaRPr lang="en-US" sz="1650" dirty="0"/>
          </a:p>
        </p:txBody>
      </p:sp>
      <p:sp>
        <p:nvSpPr>
          <p:cNvPr id="30" name="Shape 28"/>
          <p:cNvSpPr/>
          <p:nvPr/>
        </p:nvSpPr>
        <p:spPr>
          <a:xfrm>
            <a:off x="8458200" y="2536329"/>
            <a:ext cx="9067800" cy="3257550"/>
          </a:xfrm>
          <a:prstGeom prst="roundRect">
            <a:avLst>
              <a:gd name="adj" fmla="val 1754"/>
            </a:avLst>
          </a:prstGeom>
          <a:solidFill>
            <a:srgbClr val="FFFFFF"/>
          </a:solidFill>
          <a:ln w="9525">
            <a:solidFill>
              <a:srgbClr val="E3E6EE"/>
            </a:solidFill>
            <a:prstDash val="solid"/>
          </a:ln>
        </p:spPr>
      </p:sp>
      <p:sp>
        <p:nvSpPr>
          <p:cNvPr id="31" name="Shape 29"/>
          <p:cNvSpPr/>
          <p:nvPr/>
        </p:nvSpPr>
        <p:spPr>
          <a:xfrm>
            <a:off x="8467725" y="2545854"/>
            <a:ext cx="9048750" cy="3238500"/>
          </a:xfrm>
          <a:prstGeom prst="rect">
            <a:avLst/>
          </a:prstGeom>
          <a:solidFill>
            <a:srgbClr val="FFFFFF"/>
          </a:solidFill>
          <a:ln/>
        </p:spPr>
      </p:sp>
      <p:pic>
        <p:nvPicPr>
          <p:cNvPr id="32" name="Image 0" descr="preencoded.png">    </p:cNvPr>
          <p:cNvPicPr>
            <a:picLocks noChangeAspect="1"/>
          </p:cNvPicPr>
          <p:nvPr/>
        </p:nvPicPr>
        <p:blipFill>
          <a:blip r:embed="rId1"/>
          <a:srcRect l="0" r="0" t="0" b="0"/>
          <a:stretch/>
        </p:blipFill>
        <p:spPr>
          <a:xfrm>
            <a:off x="8467725" y="2545854"/>
            <a:ext cx="9048750" cy="3238500"/>
          </a:xfrm>
          <a:prstGeom prst="rect">
            <a:avLst/>
          </a:prstGeom>
        </p:spPr>
      </p:pic>
      <p:sp>
        <p:nvSpPr>
          <p:cNvPr id="33" name="Shape 30"/>
          <p:cNvSpPr/>
          <p:nvPr/>
        </p:nvSpPr>
        <p:spPr>
          <a:xfrm>
            <a:off x="8467725" y="5784354"/>
            <a:ext cx="9048750" cy="447675"/>
          </a:xfrm>
          <a:prstGeom prst="rect">
            <a:avLst/>
          </a:prstGeom>
          <a:solidFill>
            <a:srgbClr val="FBFBFD"/>
          </a:solidFill>
          <a:ln/>
        </p:spPr>
      </p:sp>
      <p:sp>
        <p:nvSpPr>
          <p:cNvPr id="34" name="Shape 31"/>
          <p:cNvSpPr/>
          <p:nvPr/>
        </p:nvSpPr>
        <p:spPr>
          <a:xfrm>
            <a:off x="8467725" y="5784354"/>
            <a:ext cx="9048750" cy="9525"/>
          </a:xfrm>
          <a:prstGeom prst="rect">
            <a:avLst/>
          </a:prstGeom>
          <a:solidFill>
            <a:srgbClr val="EEF0F6"/>
          </a:solidFill>
          <a:ln/>
        </p:spPr>
      </p:sp>
      <p:sp>
        <p:nvSpPr>
          <p:cNvPr id="35" name="Text 32"/>
          <p:cNvSpPr/>
          <p:nvPr/>
        </p:nvSpPr>
        <p:spPr>
          <a:xfrm>
            <a:off x="8601075" y="5870079"/>
            <a:ext cx="9053513" cy="32385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7C8597"/>
                </a:solidFill>
                <a:highlight>
                  <a:srgbClr val="FBFBFD"/>
                </a:highlight>
                <a:latin typeface="Arial" pitchFamily="34" charset="0"/>
                <a:ea typeface="Arial" pitchFamily="34" charset="-122"/>
                <a:cs typeface="Arial" pitchFamily="34" charset="-120"/>
              </a:rPr>
              <a:t>Canonical Clotho clip · waveform + log-mel · </a:t>
            </a:r>
            <a:pPr algn="l" indent="0" marL="0">
              <a:lnSpc>
                <a:spcPct val="145000"/>
              </a:lnSpc>
              <a:buNone/>
            </a:pPr>
            <a:r>
              <a:rPr lang="en-US" sz="1500" dirty="0">
                <a:solidFill>
                  <a:srgbClr val="7C8597"/>
                </a:solidFill>
                <a:latin typeface="Courier New" pitchFamily="34" charset="0"/>
                <a:ea typeface="Courier New" pitchFamily="34" charset="-122"/>
                <a:cs typeface="Courier New" pitchFamily="34" charset="-120"/>
              </a:rPr>
              <a:t>librosa.stft</a:t>
            </a:r>
            <a:endParaRPr lang="en-US" sz="1500" dirty="0"/>
          </a:p>
        </p:txBody>
      </p:sp>
      <p:sp>
        <p:nvSpPr>
          <p:cNvPr id="36" name="Shape 33"/>
          <p:cNvSpPr/>
          <p:nvPr/>
        </p:nvSpPr>
        <p:spPr>
          <a:xfrm>
            <a:off x="8458200" y="5965329"/>
            <a:ext cx="9067800" cy="2304901"/>
          </a:xfrm>
          <a:prstGeom prst="roundRect">
            <a:avLst>
              <a:gd name="adj" fmla="val 2479"/>
            </a:avLst>
          </a:prstGeom>
          <a:solidFill>
            <a:srgbClr val="E6ECFB"/>
          </a:solidFill>
          <a:ln/>
        </p:spPr>
      </p:sp>
      <p:sp>
        <p:nvSpPr>
          <p:cNvPr id="37" name="Text 34"/>
          <p:cNvSpPr/>
          <p:nvPr/>
        </p:nvSpPr>
        <p:spPr>
          <a:xfrm>
            <a:off x="8667750" y="6136779"/>
            <a:ext cx="8908161"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spc="270" kern="0" dirty="0">
                <a:solidFill>
                  <a:srgbClr val="3A5FCD"/>
                </a:solidFill>
                <a:latin typeface="Arial" pitchFamily="34" charset="0"/>
                <a:ea typeface="Arial" pitchFamily="34" charset="-122"/>
                <a:cs typeface="Arial" pitchFamily="34" charset="-120"/>
              </a:rPr>
              <a:t>ANNOTATION TYPE · WEAK (CLIP-LEVEL, NO TIME-STAMPS)</a:t>
            </a:r>
            <a:endParaRPr lang="en-US" sz="1500" dirty="0"/>
          </a:p>
        </p:txBody>
      </p:sp>
      <p:sp>
        <p:nvSpPr>
          <p:cNvPr id="38" name="Text 35"/>
          <p:cNvSpPr/>
          <p:nvPr/>
        </p:nvSpPr>
        <p:spPr>
          <a:xfrm>
            <a:off x="8667750" y="6508254"/>
            <a:ext cx="8908161" cy="937171"/>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5A6478"/>
                </a:solidFill>
                <a:latin typeface="Arial" pitchFamily="34" charset="0"/>
                <a:ea typeface="Arial" pitchFamily="34" charset="-122"/>
                <a:cs typeface="Arial" pitchFamily="34" charset="-120"/>
              </a:rPr>
              <a:t>5 human-written captions per clip, 8–20 words, crowdsourced via Amazon MTurk. Post-processed to remove unique words, named entities &amp; speech transcription — </a:t>
            </a:r>
            <a:pPr algn="l" indent="0" marL="0">
              <a:lnSpc>
                <a:spcPct val="140000"/>
              </a:lnSpc>
              <a:buNone/>
            </a:pPr>
            <a:r>
              <a:rPr lang="en-US" sz="1650" b="1" dirty="0">
                <a:solidFill>
                  <a:srgbClr val="1F2A44"/>
                </a:solidFill>
                <a:latin typeface="Arial" pitchFamily="34" charset="0"/>
                <a:ea typeface="Arial" pitchFamily="34" charset="-122"/>
                <a:cs typeface="Arial" pitchFamily="34" charset="-120"/>
              </a:rPr>
              <a:t>Clotho is not a speech corpus.</a:t>
            </a:r>
            <a:endParaRPr lang="en-US" sz="1650" dirty="0"/>
          </a:p>
        </p:txBody>
      </p:sp>
      <p:sp>
        <p:nvSpPr>
          <p:cNvPr id="39" name="Text 36"/>
          <p:cNvSpPr/>
          <p:nvPr/>
        </p:nvSpPr>
        <p:spPr>
          <a:xfrm>
            <a:off x="8667750" y="7502575"/>
            <a:ext cx="8908161" cy="634305"/>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5A6478"/>
                </a:solidFill>
                <a:latin typeface="Arial" pitchFamily="34" charset="0"/>
                <a:ea typeface="Arial" pitchFamily="34" charset="-122"/>
                <a:cs typeface="Arial" pitchFamily="34" charset="-120"/>
              </a:rPr>
              <a:t>Strong (segment-level) labels are </a:t>
            </a:r>
            <a:pPr algn="l" indent="0" marL="0">
              <a:lnSpc>
                <a:spcPct val="140000"/>
              </a:lnSpc>
              <a:buNone/>
            </a:pPr>
            <a:r>
              <a:rPr lang="en-US" sz="1650" b="1" dirty="0">
                <a:solidFill>
                  <a:srgbClr val="1F2A44"/>
                </a:solidFill>
                <a:latin typeface="Arial" pitchFamily="34" charset="0"/>
                <a:ea typeface="Arial" pitchFamily="34" charset="-122"/>
                <a:cs typeface="Arial" pitchFamily="34" charset="-120"/>
              </a:rPr>
              <a:t>derived later </a:t>
            </a:r>
            <a:pPr algn="l" indent="0" marL="0">
              <a:lnSpc>
                <a:spcPct val="140000"/>
              </a:lnSpc>
              <a:buNone/>
            </a:pPr>
            <a:r>
              <a:rPr lang="en-US" sz="1650" dirty="0">
                <a:solidFill>
                  <a:srgbClr val="5A6478"/>
                </a:solidFill>
                <a:latin typeface="Arial" pitchFamily="34" charset="0"/>
                <a:ea typeface="Arial" pitchFamily="34" charset="-122"/>
                <a:cs typeface="Arial" pitchFamily="34" charset="-120"/>
              </a:rPr>
              <a:t>via PaSST / PANNs SED for the polyphony split.</a:t>
            </a:r>
            <a:endParaRPr lang="en-US" sz="1650" dirty="0"/>
          </a:p>
        </p:txBody>
      </p:sp>
      <p:sp>
        <p:nvSpPr>
          <p:cNvPr id="40" name="Text 37"/>
          <p:cNvSpPr/>
          <p:nvPr/>
        </p:nvSpPr>
        <p:spPr>
          <a:xfrm>
            <a:off x="762000" y="9725025"/>
            <a:ext cx="2242989"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spc="30" kern="0" dirty="0">
                <a:solidFill>
                  <a:srgbClr val="7C8597"/>
                </a:solidFill>
                <a:latin typeface="Arial" pitchFamily="34" charset="0"/>
                <a:ea typeface="Arial" pitchFamily="34" charset="-122"/>
                <a:cs typeface="Arial" pitchFamily="34" charset="-120"/>
              </a:rPr>
              <a:t>Zuraiz · P2 · 2026-05-18</a:t>
            </a:r>
            <a:endParaRPr lang="en-US" sz="1500" dirty="0"/>
          </a:p>
        </p:txBody>
      </p:sp>
      <p:sp>
        <p:nvSpPr>
          <p:cNvPr id="41" name="Text 38"/>
          <p:cNvSpPr/>
          <p:nvPr/>
        </p:nvSpPr>
        <p:spPr>
          <a:xfrm>
            <a:off x="16916698" y="9725025"/>
            <a:ext cx="685502"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spc="30" kern="0" dirty="0">
                <a:solidFill>
                  <a:srgbClr val="7C8597"/>
                </a:solidFill>
                <a:latin typeface="Arial" pitchFamily="34" charset="0"/>
                <a:ea typeface="Arial" pitchFamily="34" charset="-122"/>
                <a:cs typeface="Arial" pitchFamily="34" charset="-120"/>
              </a:rPr>
              <a:t>03 / 06</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7183100" y="419100"/>
            <a:ext cx="342900" cy="19050"/>
          </a:xfrm>
          <a:prstGeom prst="rect">
            <a:avLst/>
          </a:prstGeom>
          <a:solidFill>
            <a:srgbClr val="1F2A44"/>
          </a:solidFill>
          <a:ln/>
        </p:spPr>
      </p:sp>
      <p:sp>
        <p:nvSpPr>
          <p:cNvPr id="3" name="Shape 1"/>
          <p:cNvSpPr/>
          <p:nvPr/>
        </p:nvSpPr>
        <p:spPr>
          <a:xfrm>
            <a:off x="17297400" y="495300"/>
            <a:ext cx="228600" cy="19050"/>
          </a:xfrm>
          <a:prstGeom prst="rect">
            <a:avLst/>
          </a:prstGeom>
          <a:solidFill>
            <a:srgbClr val="1F2A44"/>
          </a:solidFill>
          <a:ln/>
        </p:spPr>
      </p:sp>
      <p:sp>
        <p:nvSpPr>
          <p:cNvPr id="4" name="Shape 2"/>
          <p:cNvSpPr/>
          <p:nvPr/>
        </p:nvSpPr>
        <p:spPr>
          <a:xfrm>
            <a:off x="17392650" y="571500"/>
            <a:ext cx="133350" cy="19050"/>
          </a:xfrm>
          <a:prstGeom prst="rect">
            <a:avLst/>
          </a:prstGeom>
          <a:solidFill>
            <a:srgbClr val="1F2A44"/>
          </a:solidFill>
          <a:ln/>
        </p:spPr>
      </p:sp>
      <p:sp>
        <p:nvSpPr>
          <p:cNvPr id="5" name="Text 3"/>
          <p:cNvSpPr/>
          <p:nvPr/>
        </p:nvSpPr>
        <p:spPr>
          <a:xfrm>
            <a:off x="762000" y="685800"/>
            <a:ext cx="17266920"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spc="270" kern="0" dirty="0">
                <a:solidFill>
                  <a:srgbClr val="3A5FCD"/>
                </a:solidFill>
                <a:latin typeface="Arial" pitchFamily="34" charset="0"/>
                <a:ea typeface="Arial" pitchFamily="34" charset="-122"/>
                <a:cs typeface="Arial" pitchFamily="34" charset="-120"/>
              </a:rPr>
              <a:t>CLASSES · EXAMPLES · THE FORMAL TEST</a:t>
            </a:r>
            <a:endParaRPr lang="en-US" sz="1500" dirty="0"/>
          </a:p>
        </p:txBody>
      </p:sp>
      <p:sp>
        <p:nvSpPr>
          <p:cNvPr id="6" name="Text 4"/>
          <p:cNvSpPr/>
          <p:nvPr/>
        </p:nvSpPr>
        <p:spPr>
          <a:xfrm>
            <a:off x="762000" y="1114425"/>
            <a:ext cx="17266920" cy="582811"/>
          </a:xfrm>
          <a:prstGeom prst="rect">
            <a:avLst/>
          </a:prstGeom>
          <a:noFill/>
          <a:ln/>
        </p:spPr>
        <p:txBody>
          <a:bodyPr wrap="square" lIns="25400" tIns="25400" rIns="25400" bIns="25400" rtlCol="0" anchor="t">
            <a:normAutofit/>
          </a:bodyPr>
          <a:lstStyle/>
          <a:p>
            <a:pPr algn="l" indent="0" marL="0">
              <a:lnSpc>
                <a:spcPct val="110000"/>
              </a:lnSpc>
              <a:buNone/>
            </a:pPr>
            <a:r>
              <a:rPr lang="en-US" sz="3900" b="1" spc="-58" kern="0" dirty="0">
                <a:solidFill>
                  <a:srgbClr val="1F2A44"/>
                </a:solidFill>
                <a:latin typeface="Arial" pitchFamily="34" charset="0"/>
                <a:ea typeface="Arial" pitchFamily="34" charset="-122"/>
                <a:cs typeface="Arial" pitchFamily="34" charset="-120"/>
              </a:rPr>
              <a:t>Sound classes, examples </a:t>
            </a:r>
            <a:pPr algn="l" indent="0" marL="0">
              <a:lnSpc>
                <a:spcPct val="110000"/>
              </a:lnSpc>
              <a:buNone/>
            </a:pPr>
            <a:r>
              <a:rPr lang="en-US" sz="3900" spc="-58" kern="0" dirty="0">
                <a:solidFill>
                  <a:srgbClr val="5A6478"/>
                </a:solidFill>
                <a:latin typeface="Arial" pitchFamily="34" charset="0"/>
                <a:ea typeface="Arial" pitchFamily="34" charset="-122"/>
                <a:cs typeface="Arial" pitchFamily="34" charset="-120"/>
              </a:rPr>
              <a:t>— and how I detect under-description</a:t>
            </a:r>
            <a:endParaRPr lang="en-US" sz="3900" dirty="0"/>
          </a:p>
        </p:txBody>
      </p:sp>
      <p:sp>
        <p:nvSpPr>
          <p:cNvPr id="7" name="Shape 5"/>
          <p:cNvSpPr/>
          <p:nvPr/>
        </p:nvSpPr>
        <p:spPr>
          <a:xfrm>
            <a:off x="762000" y="1963936"/>
            <a:ext cx="7239000" cy="2876550"/>
          </a:xfrm>
          <a:prstGeom prst="roundRect">
            <a:avLst>
              <a:gd name="adj" fmla="val 1987"/>
            </a:avLst>
          </a:prstGeom>
          <a:solidFill>
            <a:srgbClr val="FFFFFF"/>
          </a:solidFill>
          <a:ln w="9525">
            <a:solidFill>
              <a:srgbClr val="E3E6EE"/>
            </a:solidFill>
            <a:prstDash val="solid"/>
          </a:ln>
        </p:spPr>
      </p:sp>
      <p:sp>
        <p:nvSpPr>
          <p:cNvPr id="8" name="Shape 6"/>
          <p:cNvSpPr/>
          <p:nvPr/>
        </p:nvSpPr>
        <p:spPr>
          <a:xfrm>
            <a:off x="771525" y="1973461"/>
            <a:ext cx="7219950" cy="2857500"/>
          </a:xfrm>
          <a:prstGeom prst="rect">
            <a:avLst/>
          </a:prstGeom>
          <a:solidFill>
            <a:srgbClr val="FFFFFF"/>
          </a:solidFill>
          <a:ln/>
        </p:spPr>
      </p:sp>
      <p:pic>
        <p:nvPicPr>
          <p:cNvPr id="9" name="Image 0" descr="preencoded.png">    </p:cNvPr>
          <p:cNvPicPr>
            <a:picLocks noChangeAspect="1"/>
          </p:cNvPicPr>
          <p:nvPr/>
        </p:nvPicPr>
        <p:blipFill>
          <a:blip r:embed="rId1"/>
          <a:srcRect l="0" r="0" t="0" b="0"/>
          <a:stretch/>
        </p:blipFill>
        <p:spPr>
          <a:xfrm>
            <a:off x="771525" y="1973461"/>
            <a:ext cx="7219950" cy="2857500"/>
          </a:xfrm>
          <a:prstGeom prst="rect">
            <a:avLst/>
          </a:prstGeom>
        </p:spPr>
      </p:pic>
      <p:sp>
        <p:nvSpPr>
          <p:cNvPr id="10" name="Shape 7"/>
          <p:cNvSpPr/>
          <p:nvPr/>
        </p:nvSpPr>
        <p:spPr>
          <a:xfrm>
            <a:off x="771525" y="4830961"/>
            <a:ext cx="7219950" cy="438150"/>
          </a:xfrm>
          <a:prstGeom prst="rect">
            <a:avLst/>
          </a:prstGeom>
          <a:solidFill>
            <a:srgbClr val="FBFBFD"/>
          </a:solidFill>
          <a:ln/>
        </p:spPr>
      </p:sp>
      <p:sp>
        <p:nvSpPr>
          <p:cNvPr id="11" name="Shape 8"/>
          <p:cNvSpPr/>
          <p:nvPr/>
        </p:nvSpPr>
        <p:spPr>
          <a:xfrm>
            <a:off x="771525" y="4830961"/>
            <a:ext cx="7219950" cy="9525"/>
          </a:xfrm>
          <a:prstGeom prst="rect">
            <a:avLst/>
          </a:prstGeom>
          <a:solidFill>
            <a:srgbClr val="EEF0F6"/>
          </a:solidFill>
          <a:ln/>
        </p:spPr>
      </p:sp>
      <p:sp>
        <p:nvSpPr>
          <p:cNvPr id="12" name="Text 9"/>
          <p:cNvSpPr/>
          <p:nvPr/>
        </p:nvSpPr>
        <p:spPr>
          <a:xfrm>
            <a:off x="904875" y="4916686"/>
            <a:ext cx="7169849"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7C8597"/>
                </a:solidFill>
                <a:latin typeface="Arial" pitchFamily="34" charset="0"/>
                <a:ea typeface="Arial" pitchFamily="34" charset="-122"/>
                <a:cs typeface="Arial" pitchFamily="34" charset="-120"/>
              </a:rPr>
              <a:t>Top-20 caption-keyword proxy · PaSST / PANNs CNN14 SED on the dev split</a:t>
            </a:r>
            <a:endParaRPr lang="en-US" sz="1500" dirty="0"/>
          </a:p>
        </p:txBody>
      </p:sp>
      <p:sp>
        <p:nvSpPr>
          <p:cNvPr id="13" name="Text 10"/>
          <p:cNvSpPr/>
          <p:nvPr/>
        </p:nvSpPr>
        <p:spPr>
          <a:xfrm>
            <a:off x="762000" y="4973836"/>
            <a:ext cx="34290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3A5FCD"/>
                </a:solidFill>
                <a:latin typeface="Arial" pitchFamily="34" charset="0"/>
                <a:ea typeface="Arial" pitchFamily="34" charset="-122"/>
                <a:cs typeface="Arial" pitchFamily="34" charset="-120"/>
              </a:rPr>
              <a:t>→</a:t>
            </a:r>
            <a:endParaRPr lang="en-US" sz="1800" dirty="0"/>
          </a:p>
        </p:txBody>
      </p:sp>
      <p:sp>
        <p:nvSpPr>
          <p:cNvPr id="14" name="Text 11"/>
          <p:cNvSpPr/>
          <p:nvPr/>
        </p:nvSpPr>
        <p:spPr>
          <a:xfrm>
            <a:off x="1162050" y="4973836"/>
            <a:ext cx="7044119"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1F2A44"/>
                </a:solidFill>
                <a:latin typeface="Arial" pitchFamily="34" charset="0"/>
                <a:ea typeface="Arial" pitchFamily="34" charset="-122"/>
                <a:cs typeface="Arial" pitchFamily="34" charset="-120"/>
              </a:rPr>
              <a:t>Open-vocabulary </a:t>
            </a:r>
            <a:pPr algn="l" indent="0" marL="0">
              <a:lnSpc>
                <a:spcPct val="140000"/>
              </a:lnSpc>
              <a:buNone/>
            </a:pPr>
            <a:r>
              <a:rPr lang="en-US" sz="1800" dirty="0">
                <a:solidFill>
                  <a:srgbClr val="14182A"/>
                </a:solidFill>
                <a:latin typeface="Arial" pitchFamily="34" charset="0"/>
                <a:ea typeface="Arial" pitchFamily="34" charset="-122"/>
                <a:cs typeface="Arial" pitchFamily="34" charset="-120"/>
              </a:rPr>
              <a:t>captions — no fixed taxonomy. Pseudo-classes derived by PANNs tagging.</a:t>
            </a:r>
            <a:endParaRPr lang="en-US" sz="1800" dirty="0"/>
          </a:p>
        </p:txBody>
      </p:sp>
      <p:sp>
        <p:nvSpPr>
          <p:cNvPr id="15" name="Text 12"/>
          <p:cNvSpPr/>
          <p:nvPr/>
        </p:nvSpPr>
        <p:spPr>
          <a:xfrm>
            <a:off x="762000" y="5709047"/>
            <a:ext cx="34290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3A5FCD"/>
                </a:solidFill>
                <a:latin typeface="Arial" pitchFamily="34" charset="0"/>
                <a:ea typeface="Arial" pitchFamily="34" charset="-122"/>
                <a:cs typeface="Arial" pitchFamily="34" charset="-120"/>
              </a:rPr>
              <a:t>→</a:t>
            </a:r>
            <a:endParaRPr lang="en-US" sz="1800" dirty="0"/>
          </a:p>
        </p:txBody>
      </p:sp>
      <p:sp>
        <p:nvSpPr>
          <p:cNvPr id="16" name="Text 13"/>
          <p:cNvSpPr/>
          <p:nvPr/>
        </p:nvSpPr>
        <p:spPr>
          <a:xfrm>
            <a:off x="1162050" y="5709047"/>
            <a:ext cx="605170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1F2A44"/>
                </a:solidFill>
                <a:latin typeface="Arial" pitchFamily="34" charset="0"/>
                <a:ea typeface="Arial" pitchFamily="34" charset="-122"/>
                <a:cs typeface="Arial" pitchFamily="34" charset="-120"/>
              </a:rPr>
              <a:t>Long-tail distribution </a:t>
            </a:r>
            <a:pPr algn="l" indent="0" marL="0">
              <a:lnSpc>
                <a:spcPct val="140000"/>
              </a:lnSpc>
              <a:buNone/>
            </a:pPr>
            <a:r>
              <a:rPr lang="en-US" sz="1800" dirty="0">
                <a:solidFill>
                  <a:srgbClr val="14182A"/>
                </a:solidFill>
                <a:latin typeface="Arial" pitchFamily="34" charset="0"/>
                <a:ea typeface="Arial" pitchFamily="34" charset="-122"/>
                <a:cs typeface="Arial" pitchFamily="34" charset="-120"/>
              </a:rPr>
              <a:t>dominated by </a:t>
            </a:r>
            <a:pPr algn="l" indent="0" marL="0">
              <a:lnSpc>
                <a:spcPct val="140000"/>
              </a:lnSpc>
              <a:buNone/>
            </a:pPr>
            <a:r>
              <a:rPr lang="en-US" sz="1800" i="1" dirty="0">
                <a:solidFill>
                  <a:srgbClr val="14182A"/>
                </a:solidFill>
                <a:latin typeface="Arial" pitchFamily="34" charset="0"/>
                <a:ea typeface="Arial" pitchFamily="34" charset="-122"/>
                <a:cs typeface="Arial" pitchFamily="34" charset="-120"/>
              </a:rPr>
              <a:t>music</a:t>
            </a:r>
            <a:pPr algn="l" indent="0" marL="0">
              <a:lnSpc>
                <a:spcPct val="140000"/>
              </a:lnSpc>
              <a:buNone/>
            </a:pPr>
            <a:r>
              <a:rPr lang="en-US" sz="1800" dirty="0">
                <a:solidFill>
                  <a:srgbClr val="14182A"/>
                </a:solidFill>
                <a:latin typeface="Arial" pitchFamily="34" charset="0"/>
                <a:ea typeface="Arial" pitchFamily="34" charset="-122"/>
                <a:cs typeface="Arial" pitchFamily="34" charset="-120"/>
              </a:rPr>
              <a:t>, </a:t>
            </a:r>
            <a:pPr algn="l" indent="0" marL="0">
              <a:lnSpc>
                <a:spcPct val="140000"/>
              </a:lnSpc>
              <a:buNone/>
            </a:pPr>
            <a:r>
              <a:rPr lang="en-US" sz="1800" i="1" dirty="0">
                <a:solidFill>
                  <a:srgbClr val="14182A"/>
                </a:solidFill>
                <a:latin typeface="Arial" pitchFamily="34" charset="0"/>
                <a:ea typeface="Arial" pitchFamily="34" charset="-122"/>
                <a:cs typeface="Arial" pitchFamily="34" charset="-120"/>
              </a:rPr>
              <a:t>water</a:t>
            </a:r>
            <a:pPr algn="l" indent="0" marL="0">
              <a:lnSpc>
                <a:spcPct val="140000"/>
              </a:lnSpc>
              <a:buNone/>
            </a:pPr>
            <a:r>
              <a:rPr lang="en-US" sz="1800" dirty="0">
                <a:solidFill>
                  <a:srgbClr val="14182A"/>
                </a:solidFill>
                <a:latin typeface="Arial" pitchFamily="34" charset="0"/>
                <a:ea typeface="Arial" pitchFamily="34" charset="-122"/>
                <a:cs typeface="Arial" pitchFamily="34" charset="-120"/>
              </a:rPr>
              <a:t>, </a:t>
            </a:r>
            <a:pPr algn="l" indent="0" marL="0">
              <a:lnSpc>
                <a:spcPct val="140000"/>
              </a:lnSpc>
              <a:buNone/>
            </a:pPr>
            <a:r>
              <a:rPr lang="en-US" sz="1800" i="1" dirty="0">
                <a:solidFill>
                  <a:srgbClr val="14182A"/>
                </a:solidFill>
                <a:latin typeface="Arial" pitchFamily="34" charset="0"/>
                <a:ea typeface="Arial" pitchFamily="34" charset="-122"/>
                <a:cs typeface="Arial" pitchFamily="34" charset="-120"/>
              </a:rPr>
              <a:t>traffic</a:t>
            </a:r>
            <a:pPr algn="l" indent="0" marL="0">
              <a:lnSpc>
                <a:spcPct val="140000"/>
              </a:lnSpc>
              <a:buNone/>
            </a:pPr>
            <a:r>
              <a:rPr lang="en-US" sz="1800" dirty="0">
                <a:solidFill>
                  <a:srgbClr val="14182A"/>
                </a:solidFill>
                <a:latin typeface="Arial" pitchFamily="34" charset="0"/>
                <a:ea typeface="Arial" pitchFamily="34" charset="-122"/>
                <a:cs typeface="Arial" pitchFamily="34" charset="-120"/>
              </a:rPr>
              <a:t>.</a:t>
            </a:r>
            <a:endParaRPr lang="en-US" sz="1800" dirty="0"/>
          </a:p>
        </p:txBody>
      </p:sp>
      <p:sp>
        <p:nvSpPr>
          <p:cNvPr id="17" name="Text 14"/>
          <p:cNvSpPr/>
          <p:nvPr/>
        </p:nvSpPr>
        <p:spPr>
          <a:xfrm>
            <a:off x="8382000" y="1963936"/>
            <a:ext cx="9418320"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spc="270" kern="0" dirty="0">
                <a:solidFill>
                  <a:srgbClr val="5A6478"/>
                </a:solidFill>
                <a:latin typeface="Arial" pitchFamily="34" charset="0"/>
                <a:ea typeface="Arial" pitchFamily="34" charset="-122"/>
                <a:cs typeface="Arial" pitchFamily="34" charset="-120"/>
              </a:rPr>
              <a:t>POLYPHONY BUCKET · SINGLE-SOURCE VS. MIXED-SOURCE</a:t>
            </a:r>
            <a:endParaRPr lang="en-US" sz="1500" dirty="0"/>
          </a:p>
        </p:txBody>
      </p:sp>
      <p:sp>
        <p:nvSpPr>
          <p:cNvPr id="18" name="Shape 15"/>
          <p:cNvSpPr/>
          <p:nvPr/>
        </p:nvSpPr>
        <p:spPr>
          <a:xfrm>
            <a:off x="8382000" y="2373511"/>
            <a:ext cx="4486275" cy="2876550"/>
          </a:xfrm>
          <a:prstGeom prst="roundRect">
            <a:avLst>
              <a:gd name="adj" fmla="val 1987"/>
            </a:avLst>
          </a:prstGeom>
          <a:solidFill>
            <a:srgbClr val="FFFFFF"/>
          </a:solidFill>
          <a:ln w="9525">
            <a:solidFill>
              <a:srgbClr val="E3E6EE"/>
            </a:solidFill>
            <a:prstDash val="solid"/>
          </a:ln>
        </p:spPr>
      </p:sp>
      <p:sp>
        <p:nvSpPr>
          <p:cNvPr id="19" name="Shape 16"/>
          <p:cNvSpPr/>
          <p:nvPr/>
        </p:nvSpPr>
        <p:spPr>
          <a:xfrm>
            <a:off x="8391525" y="2383036"/>
            <a:ext cx="4467225" cy="2794695"/>
          </a:xfrm>
          <a:prstGeom prst="rect">
            <a:avLst/>
          </a:prstGeom>
          <a:solidFill>
            <a:srgbClr val="FFFFFF"/>
          </a:solidFill>
          <a:ln/>
        </p:spPr>
      </p:sp>
      <p:pic>
        <p:nvPicPr>
          <p:cNvPr id="20" name="Image 1" descr="preencoded.png">    </p:cNvPr>
          <p:cNvPicPr>
            <a:picLocks noChangeAspect="1"/>
          </p:cNvPicPr>
          <p:nvPr/>
        </p:nvPicPr>
        <p:blipFill>
          <a:blip r:embed="rId2"/>
          <a:srcRect l="0" r="0" t="0" b="0"/>
          <a:stretch/>
        </p:blipFill>
        <p:spPr>
          <a:xfrm>
            <a:off x="8391525" y="2383036"/>
            <a:ext cx="4467225" cy="2794695"/>
          </a:xfrm>
          <a:prstGeom prst="rect">
            <a:avLst/>
          </a:prstGeom>
        </p:spPr>
      </p:pic>
      <p:sp>
        <p:nvSpPr>
          <p:cNvPr id="21" name="Shape 17"/>
          <p:cNvSpPr/>
          <p:nvPr/>
        </p:nvSpPr>
        <p:spPr>
          <a:xfrm>
            <a:off x="8391525" y="5177730"/>
            <a:ext cx="4467225" cy="723900"/>
          </a:xfrm>
          <a:prstGeom prst="rect">
            <a:avLst/>
          </a:prstGeom>
          <a:solidFill>
            <a:srgbClr val="FBFBFD"/>
          </a:solidFill>
          <a:ln/>
        </p:spPr>
      </p:sp>
      <p:sp>
        <p:nvSpPr>
          <p:cNvPr id="22" name="Shape 18"/>
          <p:cNvSpPr/>
          <p:nvPr/>
        </p:nvSpPr>
        <p:spPr>
          <a:xfrm>
            <a:off x="8391525" y="5177730"/>
            <a:ext cx="4467225" cy="9525"/>
          </a:xfrm>
          <a:prstGeom prst="rect">
            <a:avLst/>
          </a:prstGeom>
          <a:solidFill>
            <a:srgbClr val="EEF0F6"/>
          </a:solidFill>
          <a:ln/>
        </p:spPr>
      </p:sp>
      <p:sp>
        <p:nvSpPr>
          <p:cNvPr id="23" name="Text 19"/>
          <p:cNvSpPr/>
          <p:nvPr/>
        </p:nvSpPr>
        <p:spPr>
          <a:xfrm>
            <a:off x="8524875" y="5263455"/>
            <a:ext cx="4334542" cy="600075"/>
          </a:xfrm>
          <a:prstGeom prst="rect">
            <a:avLst/>
          </a:prstGeom>
          <a:noFill/>
          <a:ln/>
        </p:spPr>
        <p:txBody>
          <a:bodyPr wrap="square" lIns="25400" tIns="25400" rIns="25400" bIns="25400" rtlCol="0" anchor="t">
            <a:normAutofit/>
          </a:bodyPr>
          <a:lstStyle/>
          <a:p>
            <a:pPr algn="l" indent="0" marL="0">
              <a:lnSpc>
                <a:spcPct val="145000"/>
              </a:lnSpc>
              <a:buNone/>
            </a:pPr>
            <a:r>
              <a:rPr lang="en-US" sz="1500" b="1" dirty="0">
                <a:solidFill>
                  <a:srgbClr val="1F2A44"/>
                </a:solidFill>
                <a:latin typeface="Arial" pitchFamily="34" charset="0"/>
                <a:ea typeface="Arial" pitchFamily="34" charset="-122"/>
                <a:cs typeface="Arial" pitchFamily="34" charset="-120"/>
              </a:rPr>
              <a:t>Monophonic </a:t>
            </a:r>
            <a:pPr algn="l" indent="0" marL="0">
              <a:lnSpc>
                <a:spcPct val="145000"/>
              </a:lnSpc>
              <a:buNone/>
            </a:pPr>
            <a:r>
              <a:rPr lang="en-US" sz="1500" dirty="0">
                <a:solidFill>
                  <a:srgbClr val="7C8597"/>
                </a:solidFill>
                <a:highlight>
                  <a:srgbClr val="FBFBFD"/>
                </a:highlight>
                <a:latin typeface="Arial" pitchFamily="34" charset="0"/>
                <a:ea typeface="Arial" pitchFamily="34" charset="-122"/>
                <a:cs typeface="Arial" pitchFamily="34" charset="-120"/>
              </a:rPr>
              <a:t>· one source · audio: </a:t>
            </a:r>
            <a:pPr algn="l" indent="0" marL="0">
              <a:lnSpc>
                <a:spcPct val="145000"/>
              </a:lnSpc>
              <a:buNone/>
            </a:pPr>
            <a:r>
              <a:rPr lang="en-US" sz="1500" dirty="0">
                <a:solidFill>
                  <a:srgbClr val="7C8597"/>
                </a:solidFill>
                <a:latin typeface="Courier New" pitchFamily="34" charset="0"/>
                <a:ea typeface="Courier New" pitchFamily="34" charset="-122"/>
                <a:cs typeface="Courier New" pitchFamily="34" charset="-120"/>
              </a:rPr>
              <a:t>mono_example.wav</a:t>
            </a:r>
            <a:endParaRPr lang="en-US" sz="1500" dirty="0"/>
          </a:p>
        </p:txBody>
      </p:sp>
      <p:sp>
        <p:nvSpPr>
          <p:cNvPr id="24" name="Shape 20"/>
          <p:cNvSpPr/>
          <p:nvPr/>
        </p:nvSpPr>
        <p:spPr>
          <a:xfrm>
            <a:off x="13039725" y="2373511"/>
            <a:ext cx="4486275" cy="2876550"/>
          </a:xfrm>
          <a:prstGeom prst="roundRect">
            <a:avLst>
              <a:gd name="adj" fmla="val 1987"/>
            </a:avLst>
          </a:prstGeom>
          <a:solidFill>
            <a:srgbClr val="FFFFFF"/>
          </a:solidFill>
          <a:ln w="9525">
            <a:solidFill>
              <a:srgbClr val="E3E6EE"/>
            </a:solidFill>
            <a:prstDash val="solid"/>
          </a:ln>
        </p:spPr>
      </p:sp>
      <p:sp>
        <p:nvSpPr>
          <p:cNvPr id="25" name="Shape 21"/>
          <p:cNvSpPr/>
          <p:nvPr/>
        </p:nvSpPr>
        <p:spPr>
          <a:xfrm>
            <a:off x="13049250" y="2383036"/>
            <a:ext cx="4467225" cy="2794695"/>
          </a:xfrm>
          <a:prstGeom prst="rect">
            <a:avLst/>
          </a:prstGeom>
          <a:solidFill>
            <a:srgbClr val="FFFFFF"/>
          </a:solidFill>
          <a:ln/>
        </p:spPr>
      </p:sp>
      <p:pic>
        <p:nvPicPr>
          <p:cNvPr id="26" name="Image 2" descr="preencoded.png">    </p:cNvPr>
          <p:cNvPicPr>
            <a:picLocks noChangeAspect="1"/>
          </p:cNvPicPr>
          <p:nvPr/>
        </p:nvPicPr>
        <p:blipFill>
          <a:blip r:embed="rId3"/>
          <a:srcRect l="0" r="0" t="0" b="0"/>
          <a:stretch/>
        </p:blipFill>
        <p:spPr>
          <a:xfrm>
            <a:off x="13049250" y="2383036"/>
            <a:ext cx="4467225" cy="2794695"/>
          </a:xfrm>
          <a:prstGeom prst="rect">
            <a:avLst/>
          </a:prstGeom>
        </p:spPr>
      </p:pic>
      <p:sp>
        <p:nvSpPr>
          <p:cNvPr id="27" name="Shape 22"/>
          <p:cNvSpPr/>
          <p:nvPr/>
        </p:nvSpPr>
        <p:spPr>
          <a:xfrm>
            <a:off x="13049250" y="5177730"/>
            <a:ext cx="4467225" cy="723900"/>
          </a:xfrm>
          <a:prstGeom prst="rect">
            <a:avLst/>
          </a:prstGeom>
          <a:solidFill>
            <a:srgbClr val="FBFBFD"/>
          </a:solidFill>
          <a:ln/>
        </p:spPr>
      </p:sp>
      <p:sp>
        <p:nvSpPr>
          <p:cNvPr id="28" name="Shape 23"/>
          <p:cNvSpPr/>
          <p:nvPr/>
        </p:nvSpPr>
        <p:spPr>
          <a:xfrm>
            <a:off x="13049250" y="5177730"/>
            <a:ext cx="4467225" cy="9525"/>
          </a:xfrm>
          <a:prstGeom prst="rect">
            <a:avLst/>
          </a:prstGeom>
          <a:solidFill>
            <a:srgbClr val="EEF0F6"/>
          </a:solidFill>
          <a:ln/>
        </p:spPr>
      </p:sp>
      <p:sp>
        <p:nvSpPr>
          <p:cNvPr id="29" name="Text 24"/>
          <p:cNvSpPr/>
          <p:nvPr/>
        </p:nvSpPr>
        <p:spPr>
          <a:xfrm>
            <a:off x="13182600" y="5263455"/>
            <a:ext cx="4334542" cy="600075"/>
          </a:xfrm>
          <a:prstGeom prst="rect">
            <a:avLst/>
          </a:prstGeom>
          <a:noFill/>
          <a:ln/>
        </p:spPr>
        <p:txBody>
          <a:bodyPr wrap="square" lIns="25400" tIns="25400" rIns="25400" bIns="25400" rtlCol="0" anchor="t">
            <a:normAutofit/>
          </a:bodyPr>
          <a:lstStyle/>
          <a:p>
            <a:pPr algn="l" indent="0" marL="0">
              <a:lnSpc>
                <a:spcPct val="145000"/>
              </a:lnSpc>
              <a:buNone/>
            </a:pPr>
            <a:r>
              <a:rPr lang="en-US" sz="1500" b="1" dirty="0">
                <a:solidFill>
                  <a:srgbClr val="1F2A44"/>
                </a:solidFill>
                <a:latin typeface="Arial" pitchFamily="34" charset="0"/>
                <a:ea typeface="Arial" pitchFamily="34" charset="-122"/>
                <a:cs typeface="Arial" pitchFamily="34" charset="-120"/>
              </a:rPr>
              <a:t>Polyphonic </a:t>
            </a:r>
            <a:pPr algn="l" indent="0" marL="0">
              <a:lnSpc>
                <a:spcPct val="145000"/>
              </a:lnSpc>
              <a:buNone/>
            </a:pPr>
            <a:r>
              <a:rPr lang="en-US" sz="1500" dirty="0">
                <a:solidFill>
                  <a:srgbClr val="7C8597"/>
                </a:solidFill>
                <a:highlight>
                  <a:srgbClr val="FBFBFD"/>
                </a:highlight>
                <a:latin typeface="Arial" pitchFamily="34" charset="0"/>
                <a:ea typeface="Arial" pitchFamily="34" charset="-122"/>
                <a:cs typeface="Arial" pitchFamily="34" charset="-120"/>
              </a:rPr>
              <a:t>· ≥ 2 overlapping sources · audio: </a:t>
            </a:r>
            <a:pPr algn="l" indent="0" marL="0">
              <a:lnSpc>
                <a:spcPct val="145000"/>
              </a:lnSpc>
              <a:buNone/>
            </a:pPr>
            <a:r>
              <a:rPr lang="en-US" sz="1500" dirty="0">
                <a:solidFill>
                  <a:srgbClr val="7C8597"/>
                </a:solidFill>
                <a:latin typeface="Courier New" pitchFamily="34" charset="0"/>
                <a:ea typeface="Courier New" pitchFamily="34" charset="-122"/>
                <a:cs typeface="Courier New" pitchFamily="34" charset="-120"/>
              </a:rPr>
              <a:t>poly_example.wav</a:t>
            </a:r>
            <a:endParaRPr lang="en-US" sz="1500" dirty="0"/>
          </a:p>
        </p:txBody>
      </p:sp>
      <p:sp>
        <p:nvSpPr>
          <p:cNvPr id="30" name="Shape 25"/>
          <p:cNvSpPr/>
          <p:nvPr/>
        </p:nvSpPr>
        <p:spPr>
          <a:xfrm>
            <a:off x="762000" y="7721501"/>
            <a:ext cx="16764000" cy="1879699"/>
          </a:xfrm>
          <a:prstGeom prst="roundRect">
            <a:avLst>
              <a:gd name="adj" fmla="val 2027"/>
            </a:avLst>
          </a:prstGeom>
          <a:solidFill>
            <a:srgbClr val="1F2A44"/>
          </a:solidFill>
          <a:ln/>
        </p:spPr>
      </p:sp>
      <p:sp>
        <p:nvSpPr>
          <p:cNvPr id="31" name="Text 26"/>
          <p:cNvSpPr/>
          <p:nvPr/>
        </p:nvSpPr>
        <p:spPr>
          <a:xfrm>
            <a:off x="1104900" y="8319343"/>
            <a:ext cx="4204366"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spc="270" kern="0" dirty="0">
                <a:solidFill>
                  <a:srgbClr val="FFFFFF">
                    <a:alpha val="55000"/>
                  </a:srgbClr>
                </a:solidFill>
                <a:latin typeface="Arial" pitchFamily="34" charset="0"/>
                <a:ea typeface="Arial" pitchFamily="34" charset="-122"/>
                <a:cs typeface="Arial" pitchFamily="34" charset="-120"/>
              </a:rPr>
              <a:t>RQ2 · UNDER-DESCRIPTION TEST</a:t>
            </a:r>
            <a:endParaRPr lang="en-US" sz="1500" dirty="0"/>
          </a:p>
        </p:txBody>
      </p:sp>
      <p:sp>
        <p:nvSpPr>
          <p:cNvPr id="32" name="Text 27"/>
          <p:cNvSpPr/>
          <p:nvPr/>
        </p:nvSpPr>
        <p:spPr>
          <a:xfrm>
            <a:off x="1104900" y="8671768"/>
            <a:ext cx="4204366"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FFFFFF"/>
                </a:solidFill>
                <a:latin typeface="Arial" pitchFamily="34" charset="0"/>
                <a:ea typeface="Arial" pitchFamily="34" charset="-122"/>
                <a:cs typeface="Arial" pitchFamily="34" charset="-120"/>
              </a:rPr>
              <a:t>A clip is </a:t>
            </a:r>
            <a:pPr algn="l" indent="0" marL="0">
              <a:lnSpc>
                <a:spcPct val="145000"/>
              </a:lnSpc>
              <a:buNone/>
            </a:pPr>
            <a:r>
              <a:rPr lang="en-US" sz="1800" dirty="0">
                <a:solidFill>
                  <a:srgbClr val="FFFFFF"/>
                </a:solidFill>
                <a:highlight>
                  <a:srgbClr val="3A5FCD"/>
                </a:highlight>
                <a:latin typeface="Arial" pitchFamily="34" charset="0"/>
                <a:ea typeface="Arial" pitchFamily="34" charset="-122"/>
                <a:cs typeface="Arial" pitchFamily="34" charset="-120"/>
              </a:rPr>
              <a:t>under-described </a:t>
            </a:r>
            <a:pPr algn="l" indent="0" marL="0">
              <a:lnSpc>
                <a:spcPct val="145000"/>
              </a:lnSpc>
              <a:buNone/>
            </a:pPr>
            <a:r>
              <a:rPr lang="en-US" sz="1800" dirty="0">
                <a:solidFill>
                  <a:srgbClr val="FFFFFF"/>
                </a:solidFill>
                <a:latin typeface="Arial" pitchFamily="34" charset="0"/>
                <a:ea typeface="Arial" pitchFamily="34" charset="-122"/>
                <a:cs typeface="Arial" pitchFamily="34" charset="-120"/>
              </a:rPr>
              <a:t>iff</a:t>
            </a:r>
            <a:endParaRPr lang="en-US" sz="1800" dirty="0"/>
          </a:p>
        </p:txBody>
      </p:sp>
      <p:sp>
        <p:nvSpPr>
          <p:cNvPr id="33" name="Text 28"/>
          <p:cNvSpPr/>
          <p:nvPr/>
        </p:nvSpPr>
        <p:spPr>
          <a:xfrm>
            <a:off x="5405772" y="8452098"/>
            <a:ext cx="8510366" cy="456456"/>
          </a:xfrm>
          <a:prstGeom prst="rect">
            <a:avLst/>
          </a:prstGeom>
          <a:noFill/>
          <a:ln/>
        </p:spPr>
        <p:txBody>
          <a:bodyPr wrap="square" lIns="25400" tIns="25400" rIns="25400" bIns="25400" rtlCol="0" anchor="t">
            <a:normAutofit/>
          </a:bodyPr>
          <a:lstStyle/>
          <a:p>
            <a:pPr algn="ctr" indent="0" marL="0">
              <a:lnSpc>
                <a:spcPct val="145000"/>
              </a:lnSpc>
              <a:buNone/>
            </a:pPr>
            <a:r>
              <a:rPr lang="en-US" sz="2250" spc="45" kern="0" dirty="0">
                <a:solidFill>
                  <a:srgbClr val="FFFFFF"/>
                </a:solidFill>
                <a:latin typeface="Courier New" pitchFamily="34" charset="0"/>
                <a:ea typeface="Courier New" pitchFamily="34" charset="-122"/>
                <a:cs typeface="Courier New" pitchFamily="34" charset="-120"/>
              </a:rPr>
              <a:t>card(E</a:t>
            </a:r>
            <a:pPr algn="ctr" indent="0" marL="0">
              <a:lnSpc>
                <a:spcPct val="145000"/>
              </a:lnSpc>
              <a:buNone/>
            </a:pPr>
            <a:r>
              <a:rPr lang="en-US" sz="1238" baseline="-40000" spc="45" kern="0" dirty="0">
                <a:solidFill>
                  <a:srgbClr val="FFFFFF"/>
                </a:solidFill>
                <a:latin typeface="Courier New" pitchFamily="34" charset="0"/>
                <a:ea typeface="Courier New" pitchFamily="34" charset="-122"/>
                <a:cs typeface="Courier New" pitchFamily="34" charset="-120"/>
              </a:rPr>
              <a:t>model</a:t>
            </a:r>
            <a:pPr algn="ctr" indent="0" marL="0">
              <a:lnSpc>
                <a:spcPct val="145000"/>
              </a:lnSpc>
              <a:buNone/>
            </a:pPr>
            <a:r>
              <a:rPr lang="en-US" sz="2250" spc="45" kern="0" dirty="0">
                <a:solidFill>
                  <a:srgbClr val="FFFFFF"/>
                </a:solidFill>
                <a:latin typeface="Courier New" pitchFamily="34" charset="0"/>
                <a:ea typeface="Courier New" pitchFamily="34" charset="-122"/>
                <a:cs typeface="Courier New" pitchFamily="34" charset="-120"/>
              </a:rPr>
              <a:t>) &lt; card(E</a:t>
            </a:r>
            <a:pPr algn="ctr" indent="0" marL="0">
              <a:lnSpc>
                <a:spcPct val="145000"/>
              </a:lnSpc>
              <a:buNone/>
            </a:pPr>
            <a:r>
              <a:rPr lang="en-US" sz="1238" baseline="-40000" spc="45" kern="0" dirty="0">
                <a:solidFill>
                  <a:srgbClr val="FFFFFF"/>
                </a:solidFill>
                <a:latin typeface="Courier New" pitchFamily="34" charset="0"/>
                <a:ea typeface="Courier New" pitchFamily="34" charset="-122"/>
                <a:cs typeface="Courier New" pitchFamily="34" charset="-120"/>
              </a:rPr>
              <a:t>ref </a:t>
            </a:r>
            <a:pPr algn="ctr" indent="0" marL="0">
              <a:lnSpc>
                <a:spcPct val="145000"/>
              </a:lnSpc>
              <a:buNone/>
            </a:pPr>
            <a:r>
              <a:rPr lang="en-US" sz="2250" spc="45" kern="0" dirty="0">
                <a:solidFill>
                  <a:srgbClr val="FFFFFF"/>
                </a:solidFill>
                <a:latin typeface="Courier New" pitchFamily="34" charset="0"/>
                <a:ea typeface="Courier New" pitchFamily="34" charset="-122"/>
                <a:cs typeface="Courier New" pitchFamily="34" charset="-120"/>
              </a:rPr>
              <a:t>∩ E</a:t>
            </a:r>
            <a:pPr algn="ctr" indent="0" marL="0">
              <a:lnSpc>
                <a:spcPct val="145000"/>
              </a:lnSpc>
              <a:buNone/>
            </a:pPr>
            <a:r>
              <a:rPr lang="en-US" sz="1238" baseline="-40000" spc="45" kern="0" dirty="0">
                <a:solidFill>
                  <a:srgbClr val="FFFFFF"/>
                </a:solidFill>
                <a:latin typeface="Courier New" pitchFamily="34" charset="0"/>
                <a:ea typeface="Courier New" pitchFamily="34" charset="-122"/>
                <a:cs typeface="Courier New" pitchFamily="34" charset="-120"/>
              </a:rPr>
              <a:t>audio</a:t>
            </a:r>
            <a:pPr algn="ctr" indent="0" marL="0">
              <a:lnSpc>
                <a:spcPct val="145000"/>
              </a:lnSpc>
              <a:buNone/>
            </a:pPr>
            <a:r>
              <a:rPr lang="en-US" sz="2250" spc="45" kern="0" dirty="0">
                <a:solidFill>
                  <a:srgbClr val="FFFFFF"/>
                </a:solidFill>
                <a:latin typeface="Courier New" pitchFamily="34" charset="0"/>
                <a:ea typeface="Courier New" pitchFamily="34" charset="-122"/>
                <a:cs typeface="Courier New" pitchFamily="34" charset="-120"/>
              </a:rPr>
              <a:t>)</a:t>
            </a:r>
            <a:endParaRPr lang="en-US" sz="2250" dirty="0"/>
          </a:p>
        </p:txBody>
      </p:sp>
      <p:sp>
        <p:nvSpPr>
          <p:cNvPr id="34" name="Text 29"/>
          <p:cNvSpPr/>
          <p:nvPr/>
        </p:nvSpPr>
        <p:spPr>
          <a:xfrm>
            <a:off x="14135100" y="7940576"/>
            <a:ext cx="203299" cy="247650"/>
          </a:xfrm>
          <a:prstGeom prst="rect">
            <a:avLst/>
          </a:prstGeom>
          <a:noFill/>
          <a:ln/>
        </p:spPr>
        <p:txBody>
          <a:bodyPr wrap="square" lIns="0" tIns="0" rIns="0" bIns="0" rtlCol="0" anchor="t">
            <a:normAutofit/>
          </a:bodyPr>
          <a:lstStyle/>
          <a:p>
            <a:pPr algn="l" indent="0" marL="0">
              <a:lnSpc>
                <a:spcPct val="145000"/>
              </a:lnSpc>
              <a:buNone/>
            </a:pPr>
            <a:r>
              <a:rPr lang="en-US" sz="1500" i="1" dirty="0">
                <a:solidFill>
                  <a:srgbClr val="FFFFFF">
                    <a:alpha val="75000"/>
                  </a:srgbClr>
                </a:solidFill>
                <a:latin typeface="Arial" pitchFamily="34" charset="0"/>
                <a:ea typeface="Arial" pitchFamily="34" charset="-122"/>
                <a:cs typeface="Arial" pitchFamily="34" charset="-120"/>
              </a:rPr>
              <a:t>E</a:t>
            </a:r>
            <a:endParaRPr lang="en-US" sz="1500" dirty="0"/>
          </a:p>
        </p:txBody>
      </p:sp>
      <p:sp>
        <p:nvSpPr>
          <p:cNvPr id="35" name="Text 30"/>
          <p:cNvSpPr/>
          <p:nvPr/>
        </p:nvSpPr>
        <p:spPr>
          <a:xfrm>
            <a:off x="14262199" y="8016776"/>
            <a:ext cx="464493" cy="219075"/>
          </a:xfrm>
          <a:prstGeom prst="rect">
            <a:avLst/>
          </a:prstGeom>
          <a:noFill/>
          <a:ln/>
        </p:spPr>
        <p:txBody>
          <a:bodyPr wrap="square" lIns="25400" tIns="25400" rIns="25400" bIns="25400" rtlCol="0" anchor="t">
            <a:normAutofit/>
          </a:bodyPr>
          <a:lstStyle/>
          <a:p>
            <a:pPr algn="l" indent="0" marL="0">
              <a:lnSpc>
                <a:spcPct val="145000"/>
              </a:lnSpc>
              <a:buNone/>
            </a:pPr>
            <a:r>
              <a:rPr lang="en-US" sz="1250" i="1" dirty="0">
                <a:solidFill>
                  <a:srgbClr val="FFFFFF">
                    <a:alpha val="75000"/>
                  </a:srgbClr>
                </a:solidFill>
                <a:latin typeface="Arial" pitchFamily="34" charset="0"/>
                <a:ea typeface="Arial" pitchFamily="34" charset="-122"/>
                <a:cs typeface="Arial" pitchFamily="34" charset="-120"/>
              </a:rPr>
              <a:t>audio</a:t>
            </a:r>
            <a:endParaRPr lang="en-US" sz="1250" dirty="0"/>
          </a:p>
        </p:txBody>
      </p:sp>
      <p:sp>
        <p:nvSpPr>
          <p:cNvPr id="36" name="Text 31"/>
          <p:cNvSpPr/>
          <p:nvPr/>
        </p:nvSpPr>
        <p:spPr>
          <a:xfrm>
            <a:off x="14703326" y="7940576"/>
            <a:ext cx="2337048" cy="247650"/>
          </a:xfrm>
          <a:prstGeom prst="rect">
            <a:avLst/>
          </a:prstGeom>
          <a:noFill/>
          <a:ln/>
        </p:spPr>
        <p:txBody>
          <a:bodyPr wrap="square" lIns="0" tIns="0" rIns="0" bIns="0" rtlCol="0" anchor="t">
            <a:normAutofit/>
          </a:bodyPr>
          <a:lstStyle/>
          <a:p>
            <a:pPr algn="l" indent="0" marL="0">
              <a:lnSpc>
                <a:spcPct val="145000"/>
              </a:lnSpc>
              <a:buNone/>
            </a:pPr>
            <a:r>
              <a:rPr lang="en-US" sz="1500" i="1" dirty="0">
                <a:solidFill>
                  <a:srgbClr val="FFFFFF">
                    <a:alpha val="75000"/>
                  </a:srgbClr>
                </a:solidFill>
                <a:latin typeface="Arial" pitchFamily="34" charset="0"/>
                <a:ea typeface="Arial" pitchFamily="34" charset="-122"/>
                <a:cs typeface="Arial" pitchFamily="34" charset="-120"/>
              </a:rPr>
              <a:t>= SED-detected events · E</a:t>
            </a:r>
            <a:endParaRPr lang="en-US" sz="1500" dirty="0"/>
          </a:p>
        </p:txBody>
      </p:sp>
      <p:sp>
        <p:nvSpPr>
          <p:cNvPr id="37" name="Text 32"/>
          <p:cNvSpPr/>
          <p:nvPr/>
        </p:nvSpPr>
        <p:spPr>
          <a:xfrm>
            <a:off x="16964174" y="8016776"/>
            <a:ext cx="261491" cy="219075"/>
          </a:xfrm>
          <a:prstGeom prst="rect">
            <a:avLst/>
          </a:prstGeom>
          <a:noFill/>
          <a:ln/>
        </p:spPr>
        <p:txBody>
          <a:bodyPr wrap="square" lIns="25400" tIns="25400" rIns="25400" bIns="25400" rtlCol="0" anchor="t">
            <a:normAutofit/>
          </a:bodyPr>
          <a:lstStyle/>
          <a:p>
            <a:pPr algn="l" indent="0" marL="0">
              <a:lnSpc>
                <a:spcPct val="145000"/>
              </a:lnSpc>
              <a:buNone/>
            </a:pPr>
            <a:r>
              <a:rPr lang="en-US" sz="1250" i="1" dirty="0">
                <a:solidFill>
                  <a:srgbClr val="FFFFFF">
                    <a:alpha val="75000"/>
                  </a:srgbClr>
                </a:solidFill>
                <a:latin typeface="Arial" pitchFamily="34" charset="0"/>
                <a:ea typeface="Arial" pitchFamily="34" charset="-122"/>
                <a:cs typeface="Arial" pitchFamily="34" charset="-120"/>
              </a:rPr>
              <a:t>ref</a:t>
            </a:r>
            <a:endParaRPr lang="en-US" sz="1250" dirty="0"/>
          </a:p>
        </p:txBody>
      </p:sp>
      <p:sp>
        <p:nvSpPr>
          <p:cNvPr id="38" name="Text 33"/>
          <p:cNvSpPr/>
          <p:nvPr/>
        </p:nvSpPr>
        <p:spPr>
          <a:xfrm>
            <a:off x="14135100" y="8256538"/>
            <a:ext cx="2135981" cy="247650"/>
          </a:xfrm>
          <a:prstGeom prst="rect">
            <a:avLst/>
          </a:prstGeom>
          <a:noFill/>
          <a:ln/>
        </p:spPr>
        <p:txBody>
          <a:bodyPr wrap="square" lIns="0" tIns="0" rIns="0" bIns="0" rtlCol="0" anchor="t">
            <a:normAutofit/>
          </a:bodyPr>
          <a:lstStyle/>
          <a:p>
            <a:pPr algn="l" indent="0" marL="0">
              <a:lnSpc>
                <a:spcPct val="145000"/>
              </a:lnSpc>
              <a:buNone/>
            </a:pPr>
            <a:r>
              <a:rPr lang="en-US" sz="1500" i="1" dirty="0">
                <a:solidFill>
                  <a:srgbClr val="FFFFFF">
                    <a:alpha val="75000"/>
                  </a:srgbClr>
                </a:solidFill>
                <a:latin typeface="Arial" pitchFamily="34" charset="0"/>
                <a:ea typeface="Arial" pitchFamily="34" charset="-122"/>
                <a:cs typeface="Arial" pitchFamily="34" charset="-120"/>
              </a:rPr>
              <a:t>= union of 5 captions · E</a:t>
            </a:r>
            <a:endParaRPr lang="en-US" sz="1500" dirty="0"/>
          </a:p>
        </p:txBody>
      </p:sp>
      <p:sp>
        <p:nvSpPr>
          <p:cNvPr id="39" name="Text 34"/>
          <p:cNvSpPr/>
          <p:nvPr/>
        </p:nvSpPr>
        <p:spPr>
          <a:xfrm>
            <a:off x="16194881" y="8332738"/>
            <a:ext cx="508546" cy="219075"/>
          </a:xfrm>
          <a:prstGeom prst="rect">
            <a:avLst/>
          </a:prstGeom>
          <a:noFill/>
          <a:ln/>
        </p:spPr>
        <p:txBody>
          <a:bodyPr wrap="square" lIns="25400" tIns="25400" rIns="25400" bIns="25400" rtlCol="0" anchor="t">
            <a:normAutofit/>
          </a:bodyPr>
          <a:lstStyle/>
          <a:p>
            <a:pPr algn="l" indent="0" marL="0">
              <a:lnSpc>
                <a:spcPct val="145000"/>
              </a:lnSpc>
              <a:buNone/>
            </a:pPr>
            <a:r>
              <a:rPr lang="en-US" sz="1250" i="1" dirty="0">
                <a:solidFill>
                  <a:srgbClr val="FFFFFF">
                    <a:alpha val="75000"/>
                  </a:srgbClr>
                </a:solidFill>
                <a:latin typeface="Arial" pitchFamily="34" charset="0"/>
                <a:ea typeface="Arial" pitchFamily="34" charset="-122"/>
                <a:cs typeface="Arial" pitchFamily="34" charset="-120"/>
              </a:rPr>
              <a:t>model</a:t>
            </a:r>
            <a:endParaRPr lang="en-US" sz="1250" dirty="0"/>
          </a:p>
        </p:txBody>
      </p:sp>
      <p:sp>
        <p:nvSpPr>
          <p:cNvPr id="40" name="Text 35"/>
          <p:cNvSpPr/>
          <p:nvPr/>
        </p:nvSpPr>
        <p:spPr>
          <a:xfrm>
            <a:off x="14135100" y="8256538"/>
            <a:ext cx="2736126" cy="563612"/>
          </a:xfrm>
          <a:prstGeom prst="rect">
            <a:avLst/>
          </a:prstGeom>
          <a:noFill/>
          <a:ln/>
        </p:spPr>
        <p:txBody>
          <a:bodyPr wrap="square" lIns="0" tIns="0" rIns="0" bIns="0" rtlCol="0" anchor="t">
            <a:normAutofit/>
          </a:bodyPr>
          <a:lstStyle/>
          <a:p>
            <a:pPr algn="l" indent="0" marL="0">
              <a:lnSpc>
                <a:spcPct val="145000"/>
              </a:lnSpc>
              <a:buNone/>
            </a:pPr>
            <a:r>
              <a:rPr lang="en-US" sz="1500" i="1" dirty="0">
                <a:solidFill>
                  <a:srgbClr val="FFFFFF">
                    <a:alpha val="75000"/>
                  </a:srgbClr>
                </a:solidFill>
                <a:latin typeface="Arial" pitchFamily="34" charset="0"/>
                <a:ea typeface="Arial" pitchFamily="34" charset="-122"/>
                <a:cs typeface="Arial" pitchFamily="34" charset="-120"/>
              </a:rPr>
              <a:t>= model output entities.</a:t>
            </a:r>
            <a:endParaRPr lang="en-US" sz="1500" dirty="0"/>
          </a:p>
        </p:txBody>
      </p:sp>
      <p:sp>
        <p:nvSpPr>
          <p:cNvPr id="41" name="Text 36"/>
          <p:cNvSpPr/>
          <p:nvPr/>
        </p:nvSpPr>
        <p:spPr>
          <a:xfrm>
            <a:off x="14135100" y="8858250"/>
            <a:ext cx="3139440"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FFFFFF">
                    <a:alpha val="75000"/>
                  </a:srgbClr>
                </a:solidFill>
                <a:latin typeface="Arial" pitchFamily="34" charset="0"/>
                <a:ea typeface="Arial" pitchFamily="34" charset="-122"/>
                <a:cs typeface="Arial" pitchFamily="34" charset="-120"/>
              </a:rPr>
              <a:t>Δ MACE = poly-bucket rate − mono-bucket rate.</a:t>
            </a:r>
            <a:endParaRPr lang="en-US" sz="1500" dirty="0"/>
          </a:p>
        </p:txBody>
      </p:sp>
      <p:sp>
        <p:nvSpPr>
          <p:cNvPr id="42" name="Text 37"/>
          <p:cNvSpPr/>
          <p:nvPr/>
        </p:nvSpPr>
        <p:spPr>
          <a:xfrm>
            <a:off x="762000" y="9725025"/>
            <a:ext cx="2242989"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spc="30" kern="0" dirty="0">
                <a:solidFill>
                  <a:srgbClr val="7C8597"/>
                </a:solidFill>
                <a:latin typeface="Arial" pitchFamily="34" charset="0"/>
                <a:ea typeface="Arial" pitchFamily="34" charset="-122"/>
                <a:cs typeface="Arial" pitchFamily="34" charset="-120"/>
              </a:rPr>
              <a:t>Zuraiz · P2 · 2026-05-18</a:t>
            </a:r>
            <a:endParaRPr lang="en-US" sz="1500" dirty="0"/>
          </a:p>
        </p:txBody>
      </p:sp>
      <p:sp>
        <p:nvSpPr>
          <p:cNvPr id="43" name="Text 38"/>
          <p:cNvSpPr/>
          <p:nvPr/>
        </p:nvSpPr>
        <p:spPr>
          <a:xfrm>
            <a:off x="16916698" y="9725025"/>
            <a:ext cx="685502"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spc="30" kern="0" dirty="0">
                <a:solidFill>
                  <a:srgbClr val="7C8597"/>
                </a:solidFill>
                <a:latin typeface="Arial" pitchFamily="34" charset="0"/>
                <a:ea typeface="Arial" pitchFamily="34" charset="-122"/>
                <a:cs typeface="Arial" pitchFamily="34" charset="-120"/>
              </a:rPr>
              <a:t>04 / 06</a:t>
            </a:r>
            <a:endParaRPr lang="en-US" sz="1500" dirty="0"/>
          </a:p>
        </p:txBody>
      </p:sp>
      <p:pic>
        <p:nvPicPr>
          <p:cNvPr id="44" name="mono_example.wav">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8503920" y="2496312"/>
            <a:ext cx="411480" cy="411480"/>
          </a:xfrm>
          <a:prstGeom prst="rect">
            <a:avLst/>
          </a:prstGeom>
        </p:spPr>
      </p:pic>
      <p:pic>
        <p:nvPicPr>
          <p:cNvPr id="45" name="poly_example.wav">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8"/>
          <a:stretch>
            <a:fillRect/>
          </a:stretch>
        </p:blipFill>
        <p:spPr>
          <a:xfrm>
            <a:off x="13158216" y="2496312"/>
            <a:ext cx="411480" cy="41148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4"/>
                </p:tgtEl>
              </p:cMediaNode>
            </p:video>
            <p:video>
              <p:cMediaNode vol="80000">
                <p:cTn id="3" fill="hold" display="0">
                  <p:stCondLst>
                    <p:cond delay="indefinite"/>
                  </p:stCondLst>
                </p:cTn>
                <p:tgtEl>
                  <p:spTgt spid="45"/>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7183100" y="419100"/>
            <a:ext cx="342900" cy="19050"/>
          </a:xfrm>
          <a:prstGeom prst="rect">
            <a:avLst/>
          </a:prstGeom>
          <a:solidFill>
            <a:srgbClr val="1F2A44"/>
          </a:solidFill>
          <a:ln/>
        </p:spPr>
      </p:sp>
      <p:sp>
        <p:nvSpPr>
          <p:cNvPr id="3" name="Shape 1"/>
          <p:cNvSpPr/>
          <p:nvPr/>
        </p:nvSpPr>
        <p:spPr>
          <a:xfrm>
            <a:off x="17297400" y="495300"/>
            <a:ext cx="228600" cy="19050"/>
          </a:xfrm>
          <a:prstGeom prst="rect">
            <a:avLst/>
          </a:prstGeom>
          <a:solidFill>
            <a:srgbClr val="1F2A44"/>
          </a:solidFill>
          <a:ln/>
        </p:spPr>
      </p:sp>
      <p:sp>
        <p:nvSpPr>
          <p:cNvPr id="4" name="Shape 2"/>
          <p:cNvSpPr/>
          <p:nvPr/>
        </p:nvSpPr>
        <p:spPr>
          <a:xfrm>
            <a:off x="17392650" y="571500"/>
            <a:ext cx="133350" cy="19050"/>
          </a:xfrm>
          <a:prstGeom prst="rect">
            <a:avLst/>
          </a:prstGeom>
          <a:solidFill>
            <a:srgbClr val="1F2A44"/>
          </a:solidFill>
          <a:ln/>
        </p:spPr>
      </p:sp>
      <p:sp>
        <p:nvSpPr>
          <p:cNvPr id="5" name="Text 3"/>
          <p:cNvSpPr/>
          <p:nvPr/>
        </p:nvSpPr>
        <p:spPr>
          <a:xfrm>
            <a:off x="762000" y="685800"/>
            <a:ext cx="17266920"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spc="270" kern="0" dirty="0">
                <a:solidFill>
                  <a:srgbClr val="3A5FCD"/>
                </a:solidFill>
                <a:latin typeface="Arial" pitchFamily="34" charset="0"/>
                <a:ea typeface="Arial" pitchFamily="34" charset="-122"/>
                <a:cs typeface="Arial" pitchFamily="34" charset="-120"/>
              </a:rPr>
              <a:t>RISKS · PATH TO EVALUATION</a:t>
            </a:r>
            <a:endParaRPr lang="en-US" sz="1500" dirty="0"/>
          </a:p>
        </p:txBody>
      </p:sp>
      <p:sp>
        <p:nvSpPr>
          <p:cNvPr id="6" name="Text 4"/>
          <p:cNvSpPr/>
          <p:nvPr/>
        </p:nvSpPr>
        <p:spPr>
          <a:xfrm>
            <a:off x="762000" y="1114425"/>
            <a:ext cx="17266920" cy="582811"/>
          </a:xfrm>
          <a:prstGeom prst="rect">
            <a:avLst/>
          </a:prstGeom>
          <a:noFill/>
          <a:ln/>
        </p:spPr>
        <p:txBody>
          <a:bodyPr wrap="square" lIns="25400" tIns="25400" rIns="25400" bIns="25400" rtlCol="0" anchor="t">
            <a:normAutofit/>
          </a:bodyPr>
          <a:lstStyle/>
          <a:p>
            <a:pPr algn="l" indent="0" marL="0">
              <a:lnSpc>
                <a:spcPct val="110000"/>
              </a:lnSpc>
              <a:buNone/>
            </a:pPr>
            <a:r>
              <a:rPr lang="en-US" sz="3900" b="1" spc="-58" kern="0" dirty="0">
                <a:solidFill>
                  <a:srgbClr val="1F2A44"/>
                </a:solidFill>
                <a:latin typeface="Arial" pitchFamily="34" charset="0"/>
                <a:ea typeface="Arial" pitchFamily="34" charset="-122"/>
                <a:cs typeface="Arial" pitchFamily="34" charset="-120"/>
              </a:rPr>
              <a:t>Risks I am closing on this slide</a:t>
            </a:r>
            <a:endParaRPr lang="en-US" sz="3900" dirty="0"/>
          </a:p>
        </p:txBody>
      </p:sp>
      <p:sp>
        <p:nvSpPr>
          <p:cNvPr id="7" name="Shape 5"/>
          <p:cNvSpPr/>
          <p:nvPr/>
        </p:nvSpPr>
        <p:spPr>
          <a:xfrm>
            <a:off x="762000" y="1887736"/>
            <a:ext cx="38100" cy="759916"/>
          </a:xfrm>
          <a:prstGeom prst="rect">
            <a:avLst/>
          </a:prstGeom>
          <a:solidFill>
            <a:srgbClr val="3A5FCD"/>
          </a:solidFill>
          <a:ln/>
        </p:spPr>
      </p:sp>
      <p:sp>
        <p:nvSpPr>
          <p:cNvPr id="8" name="Text 6"/>
          <p:cNvSpPr/>
          <p:nvPr/>
        </p:nvSpPr>
        <p:spPr>
          <a:xfrm>
            <a:off x="1009650" y="1963936"/>
            <a:ext cx="14716125" cy="645616"/>
          </a:xfrm>
          <a:prstGeom prst="rect">
            <a:avLst/>
          </a:prstGeom>
          <a:noFill/>
          <a:ln/>
        </p:spPr>
        <p:txBody>
          <a:bodyPr wrap="square" lIns="25400" tIns="25400" rIns="25400" bIns="25400" rtlCol="0" anchor="t">
            <a:normAutofit/>
          </a:bodyPr>
          <a:lstStyle/>
          <a:p>
            <a:pPr algn="l" indent="0" marL="0">
              <a:lnSpc>
                <a:spcPct val="145000"/>
              </a:lnSpc>
              <a:buNone/>
            </a:pPr>
            <a:r>
              <a:rPr lang="en-US" sz="1650" i="1" dirty="0">
                <a:solidFill>
                  <a:srgbClr val="5A6478"/>
                </a:solidFill>
                <a:latin typeface="Arial" pitchFamily="34" charset="0"/>
                <a:ea typeface="Arial" pitchFamily="34" charset="-122"/>
                <a:cs typeface="Arial" pitchFamily="34" charset="-120"/>
              </a:rPr>
              <a:t>P1 closed with </a:t>
            </a:r>
            <a:pPr algn="l" indent="0" marL="0">
              <a:lnSpc>
                <a:spcPct val="145000"/>
              </a:lnSpc>
              <a:buNone/>
            </a:pPr>
            <a:r>
              <a:rPr lang="en-US" sz="1650" b="1" i="1" dirty="0">
                <a:solidFill>
                  <a:srgbClr val="1F2A44"/>
                </a:solidFill>
                <a:latin typeface="Arial" pitchFamily="34" charset="0"/>
                <a:ea typeface="Arial" pitchFamily="34" charset="-122"/>
                <a:cs typeface="Arial" pitchFamily="34" charset="-120"/>
              </a:rPr>
              <a:t>contamination </a:t>
            </a:r>
            <a:pPr algn="l" indent="0" marL="0">
              <a:lnSpc>
                <a:spcPct val="145000"/>
              </a:lnSpc>
              <a:buNone/>
            </a:pPr>
            <a:r>
              <a:rPr lang="en-US" sz="1650" i="1" dirty="0">
                <a:solidFill>
                  <a:srgbClr val="5A6478"/>
                </a:solidFill>
                <a:latin typeface="Arial" pitchFamily="34" charset="0"/>
                <a:ea typeface="Arial" pitchFamily="34" charset="-122"/>
                <a:cs typeface="Arial" pitchFamily="34" charset="-120"/>
              </a:rPr>
              <a:t>as my Risk to Watch and an open question: do the three LALMs fail polyphony the </a:t>
            </a:r>
            <a:pPr algn="l" indent="0" marL="0">
              <a:lnSpc>
                <a:spcPct val="145000"/>
              </a:lnSpc>
              <a:buNone/>
            </a:pPr>
            <a:r>
              <a:rPr lang="en-US" sz="1650" b="1" i="1" dirty="0">
                <a:solidFill>
                  <a:srgbClr val="1F2A44"/>
                </a:solidFill>
                <a:latin typeface="Arial" pitchFamily="34" charset="0"/>
                <a:ea typeface="Arial" pitchFamily="34" charset="-122"/>
                <a:cs typeface="Arial" pitchFamily="34" charset="-120"/>
              </a:rPr>
              <a:t>same way </a:t>
            </a:r>
            <a:pPr algn="l" indent="0" marL="0">
              <a:lnSpc>
                <a:spcPct val="145000"/>
              </a:lnSpc>
              <a:buNone/>
            </a:pPr>
            <a:r>
              <a:rPr lang="en-US" sz="1650" i="1" dirty="0">
                <a:solidFill>
                  <a:srgbClr val="5A6478"/>
                </a:solidFill>
                <a:latin typeface="Arial" pitchFamily="34" charset="0"/>
                <a:ea typeface="Arial" pitchFamily="34" charset="-122"/>
                <a:cs typeface="Arial" pitchFamily="34" charset="-120"/>
              </a:rPr>
              <a:t>, or differently? Both shape this slide.</a:t>
            </a:r>
            <a:endParaRPr lang="en-US" sz="1650" dirty="0"/>
          </a:p>
        </p:txBody>
      </p:sp>
      <p:sp>
        <p:nvSpPr>
          <p:cNvPr id="9" name="Shape 7"/>
          <p:cNvSpPr/>
          <p:nvPr/>
        </p:nvSpPr>
        <p:spPr>
          <a:xfrm>
            <a:off x="762000" y="2914352"/>
            <a:ext cx="9715500" cy="1031379"/>
          </a:xfrm>
          <a:prstGeom prst="roundRect">
            <a:avLst>
              <a:gd name="adj" fmla="val 5541"/>
            </a:avLst>
          </a:prstGeom>
          <a:solidFill>
            <a:srgbClr val="FFFFFF"/>
          </a:solidFill>
          <a:ln w="9525">
            <a:solidFill>
              <a:srgbClr val="E3E6EE"/>
            </a:solidFill>
            <a:prstDash val="solid"/>
          </a:ln>
        </p:spPr>
      </p:sp>
      <p:sp>
        <p:nvSpPr>
          <p:cNvPr id="10" name="Shape 8"/>
          <p:cNvSpPr/>
          <p:nvPr/>
        </p:nvSpPr>
        <p:spPr>
          <a:xfrm>
            <a:off x="771525" y="2923877"/>
            <a:ext cx="9696450" cy="1012329"/>
          </a:xfrm>
          <a:prstGeom prst="rect">
            <a:avLst/>
          </a:prstGeom>
          <a:solidFill>
            <a:srgbClr val="FFFFFF"/>
          </a:solidFill>
          <a:ln/>
        </p:spPr>
      </p:sp>
      <p:pic>
        <p:nvPicPr>
          <p:cNvPr id="11" name="Image 0" descr="preencoded.png">    </p:cNvPr>
          <p:cNvPicPr>
            <a:picLocks noChangeAspect="1"/>
          </p:cNvPicPr>
          <p:nvPr/>
        </p:nvPicPr>
        <p:blipFill>
          <a:blip r:embed="rId1"/>
          <a:srcRect l="0" r="0" t="0" b="0"/>
          <a:stretch/>
        </p:blipFill>
        <p:spPr>
          <a:xfrm>
            <a:off x="771525" y="2923877"/>
            <a:ext cx="9696450" cy="1012329"/>
          </a:xfrm>
          <a:prstGeom prst="rect">
            <a:avLst/>
          </a:prstGeom>
        </p:spPr>
      </p:pic>
      <p:sp>
        <p:nvSpPr>
          <p:cNvPr id="12" name="Text 9"/>
          <p:cNvSpPr/>
          <p:nvPr/>
        </p:nvSpPr>
        <p:spPr>
          <a:xfrm>
            <a:off x="762000" y="4117181"/>
            <a:ext cx="34290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1F2A44"/>
                </a:solidFill>
                <a:latin typeface="Arial" pitchFamily="34" charset="0"/>
                <a:ea typeface="Arial" pitchFamily="34" charset="-122"/>
                <a:cs typeface="Arial" pitchFamily="34" charset="-120"/>
              </a:rPr>
              <a:t>·</a:t>
            </a:r>
            <a:endParaRPr lang="en-US" sz="1800" dirty="0"/>
          </a:p>
        </p:txBody>
      </p:sp>
      <p:sp>
        <p:nvSpPr>
          <p:cNvPr id="13" name="Text 10"/>
          <p:cNvSpPr/>
          <p:nvPr/>
        </p:nvSpPr>
        <p:spPr>
          <a:xfrm>
            <a:off x="1162050" y="4117181"/>
            <a:ext cx="9594914"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1F2A44"/>
                </a:solidFill>
                <a:latin typeface="Arial" pitchFamily="34" charset="0"/>
                <a:ea typeface="Arial" pitchFamily="34" charset="-122"/>
                <a:cs typeface="Arial" pitchFamily="34" charset="-120"/>
              </a:rPr>
              <a:t>Audit scope: </a:t>
            </a:r>
            <a:pPr algn="l" indent="0" marL="0">
              <a:lnSpc>
                <a:spcPct val="140000"/>
              </a:lnSpc>
              <a:buNone/>
            </a:pPr>
            <a:r>
              <a:rPr lang="en-US" sz="1800" dirty="0">
                <a:solidFill>
                  <a:srgbClr val="5A6478"/>
                </a:solidFill>
                <a:latin typeface="Arial" pitchFamily="34" charset="0"/>
                <a:ea typeface="Arial" pitchFamily="34" charset="-122"/>
                <a:cs typeface="Arial" pitchFamily="34" charset="-120"/>
              </a:rPr>
              <a:t>the 3 LALMs only (Falcon3-Audio · SALMONN · Qwen2.5-Omni). The 3 traditional baselines (CNN14 / AST / EnCLAP) use small, fully-known corpora — no contamination concern.</a:t>
            </a:r>
            <a:endParaRPr lang="en-US" sz="1800" dirty="0"/>
          </a:p>
        </p:txBody>
      </p:sp>
      <p:sp>
        <p:nvSpPr>
          <p:cNvPr id="14" name="Text 11"/>
          <p:cNvSpPr/>
          <p:nvPr/>
        </p:nvSpPr>
        <p:spPr>
          <a:xfrm>
            <a:off x="762000" y="5172373"/>
            <a:ext cx="34290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1F2A44"/>
                </a:solidFill>
                <a:latin typeface="Arial" pitchFamily="34" charset="0"/>
                <a:ea typeface="Arial" pitchFamily="34" charset="-122"/>
                <a:cs typeface="Arial" pitchFamily="34" charset="-120"/>
              </a:rPr>
              <a:t>·</a:t>
            </a:r>
            <a:endParaRPr lang="en-US" sz="1800" dirty="0"/>
          </a:p>
        </p:txBody>
      </p:sp>
      <p:sp>
        <p:nvSpPr>
          <p:cNvPr id="15" name="Text 12"/>
          <p:cNvSpPr/>
          <p:nvPr/>
        </p:nvSpPr>
        <p:spPr>
          <a:xfrm>
            <a:off x="1162050" y="5172373"/>
            <a:ext cx="780414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1F2A44"/>
                </a:solidFill>
                <a:latin typeface="Arial" pitchFamily="34" charset="0"/>
                <a:ea typeface="Arial" pitchFamily="34" charset="-122"/>
                <a:cs typeface="Arial" pitchFamily="34" charset="-120"/>
              </a:rPr>
              <a:t>Per-model, not aggregated. </a:t>
            </a:r>
            <a:pPr algn="l" indent="0" marL="0">
              <a:lnSpc>
                <a:spcPct val="140000"/>
              </a:lnSpc>
              <a:buNone/>
            </a:pPr>
            <a:r>
              <a:rPr lang="en-US" sz="1800" dirty="0">
                <a:solidFill>
                  <a:srgbClr val="5A6478"/>
                </a:solidFill>
                <a:latin typeface="Arial" pitchFamily="34" charset="0"/>
                <a:ea typeface="Arial" pitchFamily="34" charset="-122"/>
                <a:cs typeface="Arial" pitchFamily="34" charset="-120"/>
              </a:rPr>
              <a:t>Aggregation hides differential failure modes.</a:t>
            </a:r>
            <a:endParaRPr lang="en-US" sz="1800" dirty="0"/>
          </a:p>
        </p:txBody>
      </p:sp>
      <p:sp>
        <p:nvSpPr>
          <p:cNvPr id="16" name="Text 13"/>
          <p:cNvSpPr/>
          <p:nvPr/>
        </p:nvSpPr>
        <p:spPr>
          <a:xfrm>
            <a:off x="762000" y="5587603"/>
            <a:ext cx="34290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1F2A44"/>
                </a:solidFill>
                <a:latin typeface="Arial" pitchFamily="34" charset="0"/>
                <a:ea typeface="Arial" pitchFamily="34" charset="-122"/>
                <a:cs typeface="Arial" pitchFamily="34" charset="-120"/>
              </a:rPr>
              <a:t>·</a:t>
            </a:r>
            <a:endParaRPr lang="en-US" sz="1800" dirty="0"/>
          </a:p>
        </p:txBody>
      </p:sp>
      <p:sp>
        <p:nvSpPr>
          <p:cNvPr id="17" name="Text 14"/>
          <p:cNvSpPr/>
          <p:nvPr/>
        </p:nvSpPr>
        <p:spPr>
          <a:xfrm>
            <a:off x="1162050" y="5587603"/>
            <a:ext cx="9594914"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1F2A44"/>
                </a:solidFill>
                <a:latin typeface="Arial" pitchFamily="34" charset="0"/>
                <a:ea typeface="Arial" pitchFamily="34" charset="-122"/>
                <a:cs typeface="Arial" pitchFamily="34" charset="-120"/>
              </a:rPr>
              <a:t>Falcon3-Audio manifest is public </a:t>
            </a:r>
            <a:pPr algn="l" indent="0" marL="0">
              <a:lnSpc>
                <a:spcPct val="140000"/>
              </a:lnSpc>
              <a:buNone/>
            </a:pPr>
            <a:r>
              <a:rPr lang="en-US" sz="1800" dirty="0">
                <a:solidFill>
                  <a:srgbClr val="5A6478"/>
                </a:solidFill>
                <a:latin typeface="Arial" pitchFamily="34" charset="0"/>
                <a:ea typeface="Arial" pitchFamily="34" charset="-122"/>
                <a:cs typeface="Arial" pitchFamily="34" charset="-120"/>
              </a:rPr>
              <a:t>— File-ID layer is fully usable there. For SALMONN / Qwen2.5-Omni, Chromaprint + caption n-gram cover the gap.</a:t>
            </a:r>
            <a:endParaRPr lang="en-US" sz="1800" dirty="0"/>
          </a:p>
        </p:txBody>
      </p:sp>
      <p:sp>
        <p:nvSpPr>
          <p:cNvPr id="18" name="Text 15"/>
          <p:cNvSpPr/>
          <p:nvPr/>
        </p:nvSpPr>
        <p:spPr>
          <a:xfrm>
            <a:off x="10858500" y="2914352"/>
            <a:ext cx="6867525"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spc="270" kern="0" dirty="0">
                <a:solidFill>
                  <a:srgbClr val="C25A4F"/>
                </a:solidFill>
                <a:latin typeface="Arial" pitchFamily="34" charset="0"/>
                <a:ea typeface="Arial" pitchFamily="34" charset="-122"/>
                <a:cs typeface="Arial" pitchFamily="34" charset="-120"/>
              </a:rPr>
              <a:t>EMPIRICAL WEDGE</a:t>
            </a:r>
            <a:endParaRPr lang="en-US" sz="1500" dirty="0"/>
          </a:p>
        </p:txBody>
      </p:sp>
      <p:sp>
        <p:nvSpPr>
          <p:cNvPr id="19" name="Shape 16"/>
          <p:cNvSpPr/>
          <p:nvPr/>
        </p:nvSpPr>
        <p:spPr>
          <a:xfrm>
            <a:off x="10858500" y="3323927"/>
            <a:ext cx="6667500" cy="2872680"/>
          </a:xfrm>
          <a:prstGeom prst="roundRect">
            <a:avLst>
              <a:gd name="adj" fmla="val 1326"/>
            </a:avLst>
          </a:prstGeom>
          <a:solidFill>
            <a:srgbClr val="FBFBFD"/>
          </a:solidFill>
          <a:ln/>
        </p:spPr>
      </p:sp>
      <p:sp>
        <p:nvSpPr>
          <p:cNvPr id="20" name="Shape 17"/>
          <p:cNvSpPr/>
          <p:nvPr/>
        </p:nvSpPr>
        <p:spPr>
          <a:xfrm>
            <a:off x="10858500" y="6187083"/>
            <a:ext cx="6667500" cy="9525"/>
          </a:xfrm>
          <a:prstGeom prst="rect">
            <a:avLst/>
          </a:prstGeom>
          <a:solidFill>
            <a:srgbClr val="E3E6EE"/>
          </a:solidFill>
          <a:ln/>
        </p:spPr>
      </p:sp>
      <p:sp>
        <p:nvSpPr>
          <p:cNvPr id="21" name="Shape 18"/>
          <p:cNvSpPr/>
          <p:nvPr/>
        </p:nvSpPr>
        <p:spPr>
          <a:xfrm>
            <a:off x="10858500" y="3323927"/>
            <a:ext cx="6667500" cy="9525"/>
          </a:xfrm>
          <a:prstGeom prst="rect">
            <a:avLst/>
          </a:prstGeom>
          <a:solidFill>
            <a:srgbClr val="E3E6EE"/>
          </a:solidFill>
          <a:ln/>
        </p:spPr>
      </p:sp>
      <p:sp>
        <p:nvSpPr>
          <p:cNvPr id="22" name="Shape 19"/>
          <p:cNvSpPr/>
          <p:nvPr/>
        </p:nvSpPr>
        <p:spPr>
          <a:xfrm>
            <a:off x="10858500" y="3323927"/>
            <a:ext cx="38100" cy="2872680"/>
          </a:xfrm>
          <a:prstGeom prst="rect">
            <a:avLst/>
          </a:prstGeom>
          <a:solidFill>
            <a:srgbClr val="C25A4F"/>
          </a:solidFill>
          <a:ln/>
        </p:spPr>
      </p:sp>
      <p:sp>
        <p:nvSpPr>
          <p:cNvPr id="23" name="Shape 20"/>
          <p:cNvSpPr/>
          <p:nvPr/>
        </p:nvSpPr>
        <p:spPr>
          <a:xfrm>
            <a:off x="17516475" y="3323927"/>
            <a:ext cx="9525" cy="2872680"/>
          </a:xfrm>
          <a:prstGeom prst="rect">
            <a:avLst/>
          </a:prstGeom>
          <a:solidFill>
            <a:srgbClr val="E3E6EE"/>
          </a:solidFill>
          <a:ln/>
        </p:spPr>
      </p:sp>
      <p:sp>
        <p:nvSpPr>
          <p:cNvPr id="24" name="Text 21"/>
          <p:cNvSpPr/>
          <p:nvPr/>
        </p:nvSpPr>
        <p:spPr>
          <a:xfrm>
            <a:off x="11144250" y="3562052"/>
            <a:ext cx="6308312" cy="634305"/>
          </a:xfrm>
          <a:prstGeom prst="rect">
            <a:avLst/>
          </a:prstGeom>
          <a:noFill/>
          <a:ln/>
        </p:spPr>
        <p:txBody>
          <a:bodyPr wrap="square" lIns="25400" tIns="25400" rIns="25400" bIns="25400" rtlCol="0" anchor="t">
            <a:normAutofit/>
          </a:bodyPr>
          <a:lstStyle/>
          <a:p>
            <a:pPr algn="l" indent="0" marL="0">
              <a:lnSpc>
                <a:spcPct val="140000"/>
              </a:lnSpc>
              <a:buNone/>
            </a:pPr>
            <a:r>
              <a:rPr lang="en-US" sz="1650" b="1" dirty="0">
                <a:solidFill>
                  <a:srgbClr val="1F2A44"/>
                </a:solidFill>
                <a:latin typeface="Arial" pitchFamily="34" charset="0"/>
                <a:ea typeface="Arial" pitchFamily="34" charset="-122"/>
                <a:cs typeface="Arial" pitchFamily="34" charset="-120"/>
              </a:rPr>
              <a:t>FD-DeCap </a:t>
            </a:r>
            <a:pPr algn="l" indent="0" marL="0">
              <a:lnSpc>
                <a:spcPct val="140000"/>
              </a:lnSpc>
              <a:buNone/>
            </a:pPr>
            <a:r>
              <a:rPr lang="en-US" sz="1650" dirty="0">
                <a:solidFill>
                  <a:srgbClr val="1F2A44"/>
                </a:solidFill>
                <a:latin typeface="Arial" pitchFamily="34" charset="0"/>
                <a:ea typeface="Arial" pitchFamily="34" charset="-122"/>
                <a:cs typeface="Arial" pitchFamily="34" charset="-120"/>
              </a:rPr>
              <a:t>(IEEE TASLP 2025, doc 11333308) reports SPIDEr </a:t>
            </a:r>
            <a:pPr algn="l" indent="0" marL="0">
              <a:lnSpc>
                <a:spcPct val="140000"/>
              </a:lnSpc>
              <a:buNone/>
            </a:pPr>
            <a:r>
              <a:rPr lang="en-US" sz="1650" dirty="0">
                <a:solidFill>
                  <a:srgbClr val="5A6478"/>
                </a:solidFill>
                <a:latin typeface="Arial" pitchFamily="34" charset="0"/>
                <a:ea typeface="Arial" pitchFamily="34" charset="-122"/>
                <a:cs typeface="Arial" pitchFamily="34" charset="-120"/>
              </a:rPr>
              <a:t>after causal-inference debiasing</a:t>
            </a:r>
            <a:pPr algn="l" indent="0" marL="0">
              <a:lnSpc>
                <a:spcPct val="140000"/>
              </a:lnSpc>
              <a:buNone/>
            </a:pPr>
            <a:r>
              <a:rPr lang="en-US" sz="1650" dirty="0">
                <a:solidFill>
                  <a:srgbClr val="1F2A44"/>
                </a:solidFill>
                <a:latin typeface="Arial" pitchFamily="34" charset="0"/>
                <a:ea typeface="Arial" pitchFamily="34" charset="-122"/>
                <a:cs typeface="Arial" pitchFamily="34" charset="-120"/>
              </a:rPr>
              <a:t>:</a:t>
            </a:r>
            <a:endParaRPr lang="en-US" sz="1650" dirty="0"/>
          </a:p>
        </p:txBody>
      </p:sp>
      <p:sp>
        <p:nvSpPr>
          <p:cNvPr id="25" name="Text 22"/>
          <p:cNvSpPr/>
          <p:nvPr/>
        </p:nvSpPr>
        <p:spPr>
          <a:xfrm>
            <a:off x="11144250" y="4329708"/>
            <a:ext cx="1755428"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spc="-96" kern="0" dirty="0">
                <a:solidFill>
                  <a:srgbClr val="1F2A44"/>
                </a:solidFill>
                <a:latin typeface="Arial" pitchFamily="34" charset="0"/>
                <a:ea typeface="Arial" pitchFamily="34" charset="-122"/>
                <a:cs typeface="Arial" pitchFamily="34" charset="-120"/>
              </a:rPr>
              <a:t>0.282</a:t>
            </a:r>
            <a:endParaRPr lang="en-US" sz="4800" dirty="0"/>
          </a:p>
        </p:txBody>
      </p:sp>
      <p:sp>
        <p:nvSpPr>
          <p:cNvPr id="26" name="Text 23"/>
          <p:cNvSpPr/>
          <p:nvPr/>
        </p:nvSpPr>
        <p:spPr>
          <a:xfrm>
            <a:off x="11144250" y="4977408"/>
            <a:ext cx="1755428"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spc="180" kern="0" dirty="0">
                <a:solidFill>
                  <a:srgbClr val="5A6478"/>
                </a:solidFill>
                <a:latin typeface="Arial" pitchFamily="34" charset="0"/>
                <a:ea typeface="Arial" pitchFamily="34" charset="-122"/>
                <a:cs typeface="Arial" pitchFamily="34" charset="-120"/>
              </a:rPr>
              <a:t>CLOTHO</a:t>
            </a:r>
            <a:endParaRPr lang="en-US" sz="1500" dirty="0"/>
          </a:p>
        </p:txBody>
      </p:sp>
      <p:sp>
        <p:nvSpPr>
          <p:cNvPr id="27" name="Text 24"/>
          <p:cNvSpPr/>
          <p:nvPr/>
        </p:nvSpPr>
        <p:spPr>
          <a:xfrm>
            <a:off x="13090178" y="4752677"/>
            <a:ext cx="417016" cy="424755"/>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7C8597"/>
                </a:solidFill>
                <a:latin typeface="Arial" pitchFamily="34" charset="0"/>
                <a:ea typeface="Arial" pitchFamily="34" charset="-122"/>
                <a:cs typeface="Arial" pitchFamily="34" charset="-120"/>
              </a:rPr>
              <a:t>vs.</a:t>
            </a:r>
            <a:endParaRPr lang="en-US" sz="2100" dirty="0"/>
          </a:p>
        </p:txBody>
      </p:sp>
      <p:sp>
        <p:nvSpPr>
          <p:cNvPr id="28" name="Text 25"/>
          <p:cNvSpPr/>
          <p:nvPr/>
        </p:nvSpPr>
        <p:spPr>
          <a:xfrm>
            <a:off x="13697694" y="4329708"/>
            <a:ext cx="1755428"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spc="-96" kern="0" dirty="0">
                <a:solidFill>
                  <a:srgbClr val="C25A4F"/>
                </a:solidFill>
                <a:latin typeface="Arial" pitchFamily="34" charset="0"/>
                <a:ea typeface="Arial" pitchFamily="34" charset="-122"/>
                <a:cs typeface="Arial" pitchFamily="34" charset="-120"/>
              </a:rPr>
              <a:t>0.429</a:t>
            </a:r>
            <a:endParaRPr lang="en-US" sz="4800" dirty="0"/>
          </a:p>
        </p:txBody>
      </p:sp>
      <p:sp>
        <p:nvSpPr>
          <p:cNvPr id="29" name="Text 26"/>
          <p:cNvSpPr/>
          <p:nvPr/>
        </p:nvSpPr>
        <p:spPr>
          <a:xfrm>
            <a:off x="13697694" y="4977408"/>
            <a:ext cx="1755428"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spc="180" kern="0" dirty="0">
                <a:solidFill>
                  <a:srgbClr val="5A6478"/>
                </a:solidFill>
                <a:latin typeface="Arial" pitchFamily="34" charset="0"/>
                <a:ea typeface="Arial" pitchFamily="34" charset="-122"/>
                <a:cs typeface="Arial" pitchFamily="34" charset="-120"/>
              </a:rPr>
              <a:t>AUDIOCAPS</a:t>
            </a:r>
            <a:endParaRPr lang="en-US" sz="1500" dirty="0"/>
          </a:p>
        </p:txBody>
      </p:sp>
      <p:sp>
        <p:nvSpPr>
          <p:cNvPr id="30" name="Text 27"/>
          <p:cNvSpPr/>
          <p:nvPr/>
        </p:nvSpPr>
        <p:spPr>
          <a:xfrm>
            <a:off x="11144250" y="5406033"/>
            <a:ext cx="6308312"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5A6478"/>
                </a:solidFill>
                <a:latin typeface="Arial" pitchFamily="34" charset="0"/>
                <a:ea typeface="Arial" pitchFamily="34" charset="-122"/>
                <a:cs typeface="Arial" pitchFamily="34" charset="-120"/>
              </a:rPr>
              <a:t>The contaminated corpus scores </a:t>
            </a:r>
            <a:pPr algn="l" indent="0" marL="0">
              <a:lnSpc>
                <a:spcPct val="145000"/>
              </a:lnSpc>
              <a:buNone/>
            </a:pPr>
            <a:r>
              <a:rPr lang="en-US" sz="1500" b="1" dirty="0">
                <a:solidFill>
                  <a:srgbClr val="1F2A44"/>
                </a:solidFill>
                <a:latin typeface="Arial" pitchFamily="34" charset="0"/>
                <a:ea typeface="Arial" pitchFamily="34" charset="-122"/>
                <a:cs typeface="Arial" pitchFamily="34" charset="-120"/>
              </a:rPr>
              <a:t>~50 % higher </a:t>
            </a:r>
            <a:pPr algn="l" indent="0" marL="0">
              <a:lnSpc>
                <a:spcPct val="145000"/>
              </a:lnSpc>
              <a:buNone/>
            </a:pPr>
            <a:r>
              <a:rPr lang="en-US" sz="1500" dirty="0">
                <a:solidFill>
                  <a:srgbClr val="5A6478"/>
                </a:solidFill>
                <a:latin typeface="Arial" pitchFamily="34" charset="0"/>
                <a:ea typeface="Arial" pitchFamily="34" charset="-122"/>
                <a:cs typeface="Arial" pitchFamily="34" charset="-120"/>
              </a:rPr>
              <a:t>— the direct empirical wedge for the Clotho choice.</a:t>
            </a:r>
            <a:endParaRPr lang="en-US" sz="1500" dirty="0"/>
          </a:p>
        </p:txBody>
      </p:sp>
      <p:sp>
        <p:nvSpPr>
          <p:cNvPr id="31" name="Text 28"/>
          <p:cNvSpPr/>
          <p:nvPr/>
        </p:nvSpPr>
        <p:spPr>
          <a:xfrm>
            <a:off x="10658475" y="6368058"/>
            <a:ext cx="6867525" cy="314325"/>
          </a:xfrm>
          <a:prstGeom prst="rect">
            <a:avLst/>
          </a:prstGeom>
          <a:noFill/>
          <a:ln/>
        </p:spPr>
        <p:txBody>
          <a:bodyPr wrap="square" lIns="25400" tIns="25400" rIns="25400" bIns="25400" rtlCol="0" anchor="t">
            <a:normAutofit/>
          </a:bodyPr>
          <a:lstStyle/>
          <a:p>
            <a:pPr algn="r" indent="0" marL="0">
              <a:lnSpc>
                <a:spcPct val="145000"/>
              </a:lnSpc>
              <a:buNone/>
            </a:pPr>
            <a:r>
              <a:rPr lang="en-US" sz="1500" i="1" dirty="0">
                <a:solidFill>
                  <a:srgbClr val="7C8597"/>
                </a:solidFill>
                <a:latin typeface="Arial" pitchFamily="34" charset="0"/>
                <a:ea typeface="Arial" pitchFamily="34" charset="-122"/>
                <a:cs typeface="Arial" pitchFamily="34" charset="-120"/>
              </a:rPr>
              <a:t>Out of scope: original recording (zero-shot protocol).</a:t>
            </a:r>
            <a:endParaRPr lang="en-US" sz="1500" dirty="0"/>
          </a:p>
        </p:txBody>
      </p:sp>
      <p:sp>
        <p:nvSpPr>
          <p:cNvPr id="32" name="Text 29"/>
          <p:cNvSpPr/>
          <p:nvPr/>
        </p:nvSpPr>
        <p:spPr>
          <a:xfrm>
            <a:off x="762000" y="6399014"/>
            <a:ext cx="17266920"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spc="270" kern="0" dirty="0">
                <a:solidFill>
                  <a:srgbClr val="5A6478"/>
                </a:solidFill>
                <a:latin typeface="Arial" pitchFamily="34" charset="0"/>
                <a:ea typeface="Arial" pitchFamily="34" charset="-122"/>
                <a:cs typeface="Arial" pitchFamily="34" charset="-120"/>
              </a:rPr>
              <a:t>HOW CLOTHO SERVES EACH RESEARCH QUESTION</a:t>
            </a:r>
            <a:endParaRPr lang="en-US" sz="1500" dirty="0"/>
          </a:p>
        </p:txBody>
      </p:sp>
      <p:sp>
        <p:nvSpPr>
          <p:cNvPr id="33" name="Shape 30"/>
          <p:cNvSpPr/>
          <p:nvPr/>
        </p:nvSpPr>
        <p:spPr>
          <a:xfrm>
            <a:off x="762000" y="6770489"/>
            <a:ext cx="5499050" cy="1440061"/>
          </a:xfrm>
          <a:prstGeom prst="roundRect">
            <a:avLst>
              <a:gd name="adj" fmla="val 2646"/>
            </a:avLst>
          </a:prstGeom>
          <a:solidFill>
            <a:srgbClr val="FBFBFD"/>
          </a:solidFill>
          <a:ln/>
        </p:spPr>
      </p:sp>
      <p:sp>
        <p:nvSpPr>
          <p:cNvPr id="34" name="Shape 31"/>
          <p:cNvSpPr/>
          <p:nvPr/>
        </p:nvSpPr>
        <p:spPr>
          <a:xfrm>
            <a:off x="762000" y="8201025"/>
            <a:ext cx="5499050" cy="9525"/>
          </a:xfrm>
          <a:prstGeom prst="rect">
            <a:avLst/>
          </a:prstGeom>
          <a:solidFill>
            <a:srgbClr val="E3E6EE"/>
          </a:solidFill>
          <a:ln/>
        </p:spPr>
      </p:sp>
      <p:sp>
        <p:nvSpPr>
          <p:cNvPr id="35" name="Shape 32"/>
          <p:cNvSpPr/>
          <p:nvPr/>
        </p:nvSpPr>
        <p:spPr>
          <a:xfrm>
            <a:off x="762000" y="6770489"/>
            <a:ext cx="5499050" cy="9525"/>
          </a:xfrm>
          <a:prstGeom prst="rect">
            <a:avLst/>
          </a:prstGeom>
          <a:solidFill>
            <a:srgbClr val="E3E6EE"/>
          </a:solidFill>
          <a:ln/>
        </p:spPr>
      </p:sp>
      <p:sp>
        <p:nvSpPr>
          <p:cNvPr id="36" name="Shape 33"/>
          <p:cNvSpPr/>
          <p:nvPr/>
        </p:nvSpPr>
        <p:spPr>
          <a:xfrm>
            <a:off x="762000" y="6770489"/>
            <a:ext cx="28575" cy="1440061"/>
          </a:xfrm>
          <a:prstGeom prst="rect">
            <a:avLst/>
          </a:prstGeom>
          <a:solidFill>
            <a:srgbClr val="3A5FCD"/>
          </a:solidFill>
          <a:ln/>
        </p:spPr>
      </p:sp>
      <p:sp>
        <p:nvSpPr>
          <p:cNvPr id="37" name="Shape 34"/>
          <p:cNvSpPr/>
          <p:nvPr/>
        </p:nvSpPr>
        <p:spPr>
          <a:xfrm>
            <a:off x="6251525" y="6770489"/>
            <a:ext cx="9525" cy="1440061"/>
          </a:xfrm>
          <a:prstGeom prst="rect">
            <a:avLst/>
          </a:prstGeom>
          <a:solidFill>
            <a:srgbClr val="E3E6EE"/>
          </a:solidFill>
          <a:ln/>
        </p:spPr>
      </p:sp>
      <p:sp>
        <p:nvSpPr>
          <p:cNvPr id="38" name="Text 35"/>
          <p:cNvSpPr/>
          <p:nvPr/>
        </p:nvSpPr>
        <p:spPr>
          <a:xfrm>
            <a:off x="962025" y="6913364"/>
            <a:ext cx="419100"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dirty="0">
                <a:solidFill>
                  <a:srgbClr val="3A5FCD"/>
                </a:solidFill>
                <a:latin typeface="Courier New" pitchFamily="34" charset="0"/>
                <a:ea typeface="Courier New" pitchFamily="34" charset="-122"/>
                <a:cs typeface="Courier New" pitchFamily="34" charset="-120"/>
              </a:rPr>
              <a:t>RQ1</a:t>
            </a:r>
            <a:endParaRPr lang="en-US" sz="1500" dirty="0"/>
          </a:p>
        </p:txBody>
      </p:sp>
      <p:sp>
        <p:nvSpPr>
          <p:cNvPr id="39" name="Text 36"/>
          <p:cNvSpPr/>
          <p:nvPr/>
        </p:nvSpPr>
        <p:spPr>
          <a:xfrm>
            <a:off x="1400175" y="6913364"/>
            <a:ext cx="1445568"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dirty="0">
                <a:solidFill>
                  <a:srgbClr val="1F2A44"/>
                </a:solidFill>
                <a:latin typeface="Arial" pitchFamily="34" charset="0"/>
                <a:ea typeface="Arial" pitchFamily="34" charset="-122"/>
                <a:cs typeface="Arial" pitchFamily="34" charset="-120"/>
              </a:rPr>
              <a:t>Baseline parity</a:t>
            </a:r>
            <a:endParaRPr lang="en-US" sz="1500" dirty="0"/>
          </a:p>
        </p:txBody>
      </p:sp>
      <p:sp>
        <p:nvSpPr>
          <p:cNvPr id="40" name="Text 37"/>
          <p:cNvSpPr/>
          <p:nvPr/>
        </p:nvSpPr>
        <p:spPr>
          <a:xfrm>
            <a:off x="962025" y="7227689"/>
            <a:ext cx="5271592"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1F2A44"/>
                </a:solidFill>
                <a:latin typeface="Arial" pitchFamily="34" charset="0"/>
                <a:ea typeface="Arial" pitchFamily="34" charset="-122"/>
                <a:cs typeface="Arial" pitchFamily="34" charset="-120"/>
              </a:rPr>
              <a:t>SPIDEr-FL </a:t>
            </a:r>
            <a:pPr algn="l" indent="0" marL="0">
              <a:lnSpc>
                <a:spcPct val="145000"/>
              </a:lnSpc>
              <a:buNone/>
            </a:pPr>
            <a:r>
              <a:rPr lang="en-US" sz="1500" dirty="0">
                <a:solidFill>
                  <a:srgbClr val="5A6478"/>
                </a:solidFill>
                <a:latin typeface="Arial" pitchFamily="34" charset="0"/>
                <a:ea typeface="Arial" pitchFamily="34" charset="-122"/>
                <a:cs typeface="Arial" pitchFamily="34" charset="-120"/>
              </a:rPr>
              <a:t>· </a:t>
            </a:r>
            <a:pPr algn="l" indent="0" marL="0">
              <a:lnSpc>
                <a:spcPct val="145000"/>
              </a:lnSpc>
              <a:buNone/>
            </a:pPr>
            <a:r>
              <a:rPr lang="en-US" sz="1500" dirty="0">
                <a:solidFill>
                  <a:srgbClr val="1F2A44"/>
                </a:solidFill>
                <a:latin typeface="Arial" pitchFamily="34" charset="0"/>
                <a:ea typeface="Arial" pitchFamily="34" charset="-122"/>
                <a:cs typeface="Arial" pitchFamily="34" charset="-120"/>
              </a:rPr>
              <a:t>CIDEr</a:t>
            </a:r>
            <a:endParaRPr lang="en-US" sz="1500" dirty="0"/>
          </a:p>
        </p:txBody>
      </p:sp>
      <p:sp>
        <p:nvSpPr>
          <p:cNvPr id="41" name="Text 38"/>
          <p:cNvSpPr/>
          <p:nvPr/>
        </p:nvSpPr>
        <p:spPr>
          <a:xfrm>
            <a:off x="962025" y="7542014"/>
            <a:ext cx="5271592" cy="517922"/>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5A6478"/>
                </a:solidFill>
                <a:latin typeface="Arial" pitchFamily="34" charset="0"/>
                <a:ea typeface="Arial" pitchFamily="34" charset="-122"/>
                <a:cs typeface="Arial" pitchFamily="34" charset="-120"/>
              </a:rPr>
              <a:t>DCASE Task 6 leaderboard parity — direct comparison to the 29.6 % CNN14 baseline.</a:t>
            </a:r>
            <a:endParaRPr lang="en-US" sz="1350" dirty="0"/>
          </a:p>
        </p:txBody>
      </p:sp>
      <p:sp>
        <p:nvSpPr>
          <p:cNvPr id="42" name="Shape 39"/>
          <p:cNvSpPr/>
          <p:nvPr/>
        </p:nvSpPr>
        <p:spPr>
          <a:xfrm>
            <a:off x="6394400" y="6770489"/>
            <a:ext cx="5499050" cy="1440061"/>
          </a:xfrm>
          <a:prstGeom prst="roundRect">
            <a:avLst>
              <a:gd name="adj" fmla="val 2646"/>
            </a:avLst>
          </a:prstGeom>
          <a:solidFill>
            <a:srgbClr val="FBFBFD"/>
          </a:solidFill>
          <a:ln/>
        </p:spPr>
      </p:sp>
      <p:sp>
        <p:nvSpPr>
          <p:cNvPr id="43" name="Shape 40"/>
          <p:cNvSpPr/>
          <p:nvPr/>
        </p:nvSpPr>
        <p:spPr>
          <a:xfrm>
            <a:off x="6394400" y="8201025"/>
            <a:ext cx="5499050" cy="9525"/>
          </a:xfrm>
          <a:prstGeom prst="rect">
            <a:avLst/>
          </a:prstGeom>
          <a:solidFill>
            <a:srgbClr val="E3E6EE"/>
          </a:solidFill>
          <a:ln/>
        </p:spPr>
      </p:sp>
      <p:sp>
        <p:nvSpPr>
          <p:cNvPr id="44" name="Shape 41"/>
          <p:cNvSpPr/>
          <p:nvPr/>
        </p:nvSpPr>
        <p:spPr>
          <a:xfrm>
            <a:off x="6394400" y="6770489"/>
            <a:ext cx="5499050" cy="9525"/>
          </a:xfrm>
          <a:prstGeom prst="rect">
            <a:avLst/>
          </a:prstGeom>
          <a:solidFill>
            <a:srgbClr val="E3E6EE"/>
          </a:solidFill>
          <a:ln/>
        </p:spPr>
      </p:sp>
      <p:sp>
        <p:nvSpPr>
          <p:cNvPr id="45" name="Shape 42"/>
          <p:cNvSpPr/>
          <p:nvPr/>
        </p:nvSpPr>
        <p:spPr>
          <a:xfrm>
            <a:off x="6394400" y="6770489"/>
            <a:ext cx="28575" cy="1440061"/>
          </a:xfrm>
          <a:prstGeom prst="rect">
            <a:avLst/>
          </a:prstGeom>
          <a:solidFill>
            <a:srgbClr val="1F2A44"/>
          </a:solidFill>
          <a:ln/>
        </p:spPr>
      </p:sp>
      <p:sp>
        <p:nvSpPr>
          <p:cNvPr id="46" name="Shape 43"/>
          <p:cNvSpPr/>
          <p:nvPr/>
        </p:nvSpPr>
        <p:spPr>
          <a:xfrm>
            <a:off x="11883926" y="6770489"/>
            <a:ext cx="9525" cy="1440061"/>
          </a:xfrm>
          <a:prstGeom prst="rect">
            <a:avLst/>
          </a:prstGeom>
          <a:solidFill>
            <a:srgbClr val="E3E6EE"/>
          </a:solidFill>
          <a:ln/>
        </p:spPr>
      </p:sp>
      <p:sp>
        <p:nvSpPr>
          <p:cNvPr id="47" name="Text 44"/>
          <p:cNvSpPr/>
          <p:nvPr/>
        </p:nvSpPr>
        <p:spPr>
          <a:xfrm>
            <a:off x="6594425" y="6913364"/>
            <a:ext cx="419100"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dirty="0">
                <a:solidFill>
                  <a:srgbClr val="1F2A44"/>
                </a:solidFill>
                <a:latin typeface="Courier New" pitchFamily="34" charset="0"/>
                <a:ea typeface="Courier New" pitchFamily="34" charset="-122"/>
                <a:cs typeface="Courier New" pitchFamily="34" charset="-120"/>
              </a:rPr>
              <a:t>RQ2</a:t>
            </a:r>
            <a:endParaRPr lang="en-US" sz="1500" dirty="0"/>
          </a:p>
        </p:txBody>
      </p:sp>
      <p:sp>
        <p:nvSpPr>
          <p:cNvPr id="48" name="Text 45"/>
          <p:cNvSpPr/>
          <p:nvPr/>
        </p:nvSpPr>
        <p:spPr>
          <a:xfrm>
            <a:off x="7032575" y="6913364"/>
            <a:ext cx="1622078"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dirty="0">
                <a:solidFill>
                  <a:srgbClr val="1F2A44"/>
                </a:solidFill>
                <a:latin typeface="Arial" pitchFamily="34" charset="0"/>
                <a:ea typeface="Arial" pitchFamily="34" charset="-122"/>
                <a:cs typeface="Arial" pitchFamily="34" charset="-120"/>
              </a:rPr>
              <a:t>Polyphony · core</a:t>
            </a:r>
            <a:endParaRPr lang="en-US" sz="1500" dirty="0"/>
          </a:p>
        </p:txBody>
      </p:sp>
      <p:sp>
        <p:nvSpPr>
          <p:cNvPr id="49" name="Text 46"/>
          <p:cNvSpPr/>
          <p:nvPr/>
        </p:nvSpPr>
        <p:spPr>
          <a:xfrm>
            <a:off x="6594425" y="7227689"/>
            <a:ext cx="5271592"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1F2A44"/>
                </a:solidFill>
                <a:latin typeface="Arial" pitchFamily="34" charset="0"/>
                <a:ea typeface="Arial" pitchFamily="34" charset="-122"/>
                <a:cs typeface="Arial" pitchFamily="34" charset="-120"/>
              </a:rPr>
              <a:t>Δ MACE </a:t>
            </a:r>
            <a:pPr algn="l" indent="0" marL="0">
              <a:lnSpc>
                <a:spcPct val="145000"/>
              </a:lnSpc>
              <a:buNone/>
            </a:pPr>
            <a:r>
              <a:rPr lang="en-US" sz="1500" dirty="0">
                <a:solidFill>
                  <a:srgbClr val="5A6478"/>
                </a:solidFill>
                <a:latin typeface="Arial" pitchFamily="34" charset="0"/>
                <a:ea typeface="Arial" pitchFamily="34" charset="-122"/>
                <a:cs typeface="Arial" pitchFamily="34" charset="-120"/>
              </a:rPr>
              <a:t>(poly − mono)</a:t>
            </a:r>
            <a:endParaRPr lang="en-US" sz="1500" dirty="0"/>
          </a:p>
        </p:txBody>
      </p:sp>
      <p:sp>
        <p:nvSpPr>
          <p:cNvPr id="50" name="Text 47"/>
          <p:cNvSpPr/>
          <p:nvPr/>
        </p:nvSpPr>
        <p:spPr>
          <a:xfrm>
            <a:off x="6594425" y="7542014"/>
            <a:ext cx="5271592" cy="563761"/>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5A6478"/>
                </a:solidFill>
                <a:latin typeface="Arial" pitchFamily="34" charset="0"/>
                <a:ea typeface="Arial" pitchFamily="34" charset="-122"/>
                <a:cs typeface="Arial" pitchFamily="34" charset="-120"/>
              </a:rPr>
              <a:t>5-caption union = E</a:t>
            </a:r>
            <a:pPr algn="l" indent="0" marL="0">
              <a:lnSpc>
                <a:spcPct val="140000"/>
              </a:lnSpc>
              <a:buNone/>
            </a:pPr>
            <a:r>
              <a:rPr lang="en-US" sz="1125" baseline="-40000" dirty="0">
                <a:solidFill>
                  <a:srgbClr val="5A6478"/>
                </a:solidFill>
                <a:latin typeface="Arial" pitchFamily="34" charset="0"/>
                <a:ea typeface="Arial" pitchFamily="34" charset="-122"/>
                <a:cs typeface="Arial" pitchFamily="34" charset="-120"/>
              </a:rPr>
              <a:t>ref </a:t>
            </a:r>
            <a:pPr algn="l" indent="0" marL="0">
              <a:lnSpc>
                <a:spcPct val="140000"/>
              </a:lnSpc>
              <a:buNone/>
            </a:pPr>
            <a:r>
              <a:rPr lang="en-US" sz="1350" dirty="0">
                <a:solidFill>
                  <a:srgbClr val="5A6478"/>
                </a:solidFill>
                <a:latin typeface="Arial" pitchFamily="34" charset="0"/>
                <a:ea typeface="Arial" pitchFamily="34" charset="-122"/>
                <a:cs typeface="Arial" pitchFamily="34" charset="-120"/>
              </a:rPr>
              <a:t>; PaSST / PANNs SED on Clotho dev = E </a:t>
            </a:r>
            <a:pPr algn="l" indent="0" marL="0">
              <a:lnSpc>
                <a:spcPct val="140000"/>
              </a:lnSpc>
              <a:buNone/>
            </a:pPr>
            <a:r>
              <a:rPr lang="en-US" sz="1125" baseline="-40000" dirty="0">
                <a:solidFill>
                  <a:srgbClr val="5A6478"/>
                </a:solidFill>
                <a:latin typeface="Arial" pitchFamily="34" charset="0"/>
                <a:ea typeface="Arial" pitchFamily="34" charset="-122"/>
                <a:cs typeface="Arial" pitchFamily="34" charset="-120"/>
              </a:rPr>
              <a:t>audio</a:t>
            </a:r>
            <a:pPr algn="l" indent="0" marL="0">
              <a:lnSpc>
                <a:spcPct val="140000"/>
              </a:lnSpc>
              <a:buNone/>
            </a:pPr>
            <a:r>
              <a:rPr lang="en-US" sz="1350" dirty="0">
                <a:solidFill>
                  <a:srgbClr val="5A6478"/>
                </a:solidFill>
                <a:latin typeface="Arial" pitchFamily="34" charset="0"/>
                <a:ea typeface="Arial" pitchFamily="34" charset="-122"/>
                <a:cs typeface="Arial" pitchFamily="34" charset="-120"/>
              </a:rPr>
              <a:t>.</a:t>
            </a:r>
            <a:endParaRPr lang="en-US" sz="1350" dirty="0"/>
          </a:p>
        </p:txBody>
      </p:sp>
      <p:sp>
        <p:nvSpPr>
          <p:cNvPr id="51" name="Shape 48"/>
          <p:cNvSpPr/>
          <p:nvPr/>
        </p:nvSpPr>
        <p:spPr>
          <a:xfrm>
            <a:off x="12026801" y="6770489"/>
            <a:ext cx="5499050" cy="1440061"/>
          </a:xfrm>
          <a:prstGeom prst="roundRect">
            <a:avLst>
              <a:gd name="adj" fmla="val 2646"/>
            </a:avLst>
          </a:prstGeom>
          <a:solidFill>
            <a:srgbClr val="FBFBFD"/>
          </a:solidFill>
          <a:ln/>
        </p:spPr>
      </p:sp>
      <p:sp>
        <p:nvSpPr>
          <p:cNvPr id="52" name="Shape 49"/>
          <p:cNvSpPr/>
          <p:nvPr/>
        </p:nvSpPr>
        <p:spPr>
          <a:xfrm>
            <a:off x="12026801" y="8201025"/>
            <a:ext cx="5499050" cy="9525"/>
          </a:xfrm>
          <a:prstGeom prst="rect">
            <a:avLst/>
          </a:prstGeom>
          <a:solidFill>
            <a:srgbClr val="E3E6EE"/>
          </a:solidFill>
          <a:ln/>
        </p:spPr>
      </p:sp>
      <p:sp>
        <p:nvSpPr>
          <p:cNvPr id="53" name="Shape 50"/>
          <p:cNvSpPr/>
          <p:nvPr/>
        </p:nvSpPr>
        <p:spPr>
          <a:xfrm>
            <a:off x="12026801" y="6770489"/>
            <a:ext cx="5499050" cy="9525"/>
          </a:xfrm>
          <a:prstGeom prst="rect">
            <a:avLst/>
          </a:prstGeom>
          <a:solidFill>
            <a:srgbClr val="E3E6EE"/>
          </a:solidFill>
          <a:ln/>
        </p:spPr>
      </p:sp>
      <p:sp>
        <p:nvSpPr>
          <p:cNvPr id="54" name="Shape 51"/>
          <p:cNvSpPr/>
          <p:nvPr/>
        </p:nvSpPr>
        <p:spPr>
          <a:xfrm>
            <a:off x="12026801" y="6770489"/>
            <a:ext cx="28575" cy="1440061"/>
          </a:xfrm>
          <a:prstGeom prst="rect">
            <a:avLst/>
          </a:prstGeom>
          <a:solidFill>
            <a:srgbClr val="C25A4F"/>
          </a:solidFill>
          <a:ln/>
        </p:spPr>
      </p:sp>
      <p:sp>
        <p:nvSpPr>
          <p:cNvPr id="55" name="Shape 52"/>
          <p:cNvSpPr/>
          <p:nvPr/>
        </p:nvSpPr>
        <p:spPr>
          <a:xfrm>
            <a:off x="17516326" y="6770489"/>
            <a:ext cx="9525" cy="1440061"/>
          </a:xfrm>
          <a:prstGeom prst="rect">
            <a:avLst/>
          </a:prstGeom>
          <a:solidFill>
            <a:srgbClr val="E3E6EE"/>
          </a:solidFill>
          <a:ln/>
        </p:spPr>
      </p:sp>
      <p:sp>
        <p:nvSpPr>
          <p:cNvPr id="56" name="Text 53"/>
          <p:cNvSpPr/>
          <p:nvPr/>
        </p:nvSpPr>
        <p:spPr>
          <a:xfrm>
            <a:off x="12226826" y="6913364"/>
            <a:ext cx="419100"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dirty="0">
                <a:solidFill>
                  <a:srgbClr val="C25A4F"/>
                </a:solidFill>
                <a:latin typeface="Courier New" pitchFamily="34" charset="0"/>
                <a:ea typeface="Courier New" pitchFamily="34" charset="-122"/>
                <a:cs typeface="Courier New" pitchFamily="34" charset="-120"/>
              </a:rPr>
              <a:t>RQ3</a:t>
            </a:r>
            <a:endParaRPr lang="en-US" sz="1500" dirty="0"/>
          </a:p>
        </p:txBody>
      </p:sp>
      <p:sp>
        <p:nvSpPr>
          <p:cNvPr id="57" name="Text 54"/>
          <p:cNvSpPr/>
          <p:nvPr/>
        </p:nvSpPr>
        <p:spPr>
          <a:xfrm>
            <a:off x="12664976" y="6913364"/>
            <a:ext cx="1280517"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dirty="0">
                <a:solidFill>
                  <a:srgbClr val="1F2A44"/>
                </a:solidFill>
                <a:latin typeface="Arial" pitchFamily="34" charset="0"/>
                <a:ea typeface="Arial" pitchFamily="34" charset="-122"/>
                <a:cs typeface="Arial" pitchFamily="34" charset="-120"/>
              </a:rPr>
              <a:t>Hallucination</a:t>
            </a:r>
            <a:endParaRPr lang="en-US" sz="1500" dirty="0"/>
          </a:p>
        </p:txBody>
      </p:sp>
      <p:sp>
        <p:nvSpPr>
          <p:cNvPr id="58" name="Text 55"/>
          <p:cNvSpPr/>
          <p:nvPr/>
        </p:nvSpPr>
        <p:spPr>
          <a:xfrm>
            <a:off x="12226826" y="7227689"/>
            <a:ext cx="5271592"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1F2A44"/>
                </a:solidFill>
                <a:latin typeface="Arial" pitchFamily="34" charset="0"/>
                <a:ea typeface="Arial" pitchFamily="34" charset="-122"/>
                <a:cs typeface="Arial" pitchFamily="34" charset="-120"/>
              </a:rPr>
              <a:t>CHAIR-audio </a:t>
            </a:r>
            <a:pPr algn="l" indent="0" marL="0">
              <a:lnSpc>
                <a:spcPct val="145000"/>
              </a:lnSpc>
              <a:buNone/>
            </a:pPr>
            <a:r>
              <a:rPr lang="en-US" sz="1500" dirty="0">
                <a:solidFill>
                  <a:srgbClr val="5A6478"/>
                </a:solidFill>
                <a:latin typeface="Arial" pitchFamily="34" charset="0"/>
                <a:ea typeface="Arial" pitchFamily="34" charset="-122"/>
                <a:cs typeface="Arial" pitchFamily="34" charset="-120"/>
              </a:rPr>
              <a:t>· </a:t>
            </a:r>
            <a:pPr algn="l" indent="0" marL="0">
              <a:lnSpc>
                <a:spcPct val="145000"/>
              </a:lnSpc>
              <a:buNone/>
            </a:pPr>
            <a:r>
              <a:rPr lang="en-US" sz="1500" dirty="0">
                <a:solidFill>
                  <a:srgbClr val="1F2A44"/>
                </a:solidFill>
                <a:latin typeface="Arial" pitchFamily="34" charset="0"/>
                <a:ea typeface="Arial" pitchFamily="34" charset="-122"/>
                <a:cs typeface="Arial" pitchFamily="34" charset="-120"/>
              </a:rPr>
              <a:t>MACE Precision</a:t>
            </a:r>
            <a:endParaRPr lang="en-US" sz="1500" dirty="0"/>
          </a:p>
        </p:txBody>
      </p:sp>
      <p:sp>
        <p:nvSpPr>
          <p:cNvPr id="59" name="Text 56"/>
          <p:cNvSpPr/>
          <p:nvPr/>
        </p:nvSpPr>
        <p:spPr>
          <a:xfrm>
            <a:off x="12226826" y="7542014"/>
            <a:ext cx="5271592" cy="517922"/>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5A6478"/>
                </a:solidFill>
                <a:latin typeface="Arial" pitchFamily="34" charset="0"/>
                <a:ea typeface="Arial" pitchFamily="34" charset="-122"/>
                <a:cs typeface="Arial" pitchFamily="34" charset="-120"/>
              </a:rPr>
              <a:t>5-caption density makes invented-entity detection statistically reliable.</a:t>
            </a:r>
            <a:endParaRPr lang="en-US" sz="1350" dirty="0"/>
          </a:p>
        </p:txBody>
      </p:sp>
      <p:sp>
        <p:nvSpPr>
          <p:cNvPr id="60" name="Shape 57"/>
          <p:cNvSpPr/>
          <p:nvPr/>
        </p:nvSpPr>
        <p:spPr>
          <a:xfrm>
            <a:off x="762000" y="8343900"/>
            <a:ext cx="16764000" cy="1257300"/>
          </a:xfrm>
          <a:prstGeom prst="roundRect">
            <a:avLst>
              <a:gd name="adj" fmla="val 4545"/>
            </a:avLst>
          </a:prstGeom>
          <a:solidFill>
            <a:srgbClr val="FFFFFF"/>
          </a:solidFill>
          <a:ln w="9525">
            <a:solidFill>
              <a:srgbClr val="E3E6EE"/>
            </a:solidFill>
            <a:prstDash val="solid"/>
          </a:ln>
        </p:spPr>
      </p:sp>
      <p:sp>
        <p:nvSpPr>
          <p:cNvPr id="61" name="Shape 58"/>
          <p:cNvSpPr/>
          <p:nvPr/>
        </p:nvSpPr>
        <p:spPr>
          <a:xfrm>
            <a:off x="771525" y="8353425"/>
            <a:ext cx="16744950" cy="1238250"/>
          </a:xfrm>
          <a:prstGeom prst="rect">
            <a:avLst/>
          </a:prstGeom>
          <a:solidFill>
            <a:srgbClr val="FFFFFF"/>
          </a:solidFill>
          <a:ln/>
        </p:spPr>
      </p:sp>
      <p:pic>
        <p:nvPicPr>
          <p:cNvPr id="62" name="Image 1" descr="preencoded.png">    </p:cNvPr>
          <p:cNvPicPr>
            <a:picLocks noChangeAspect="1"/>
          </p:cNvPicPr>
          <p:nvPr/>
        </p:nvPicPr>
        <p:blipFill>
          <a:blip r:embed="rId2"/>
          <a:srcRect l="0" r="0" t="0" b="0"/>
          <a:stretch/>
        </p:blipFill>
        <p:spPr>
          <a:xfrm>
            <a:off x="771525" y="8353425"/>
            <a:ext cx="16744950" cy="1238250"/>
          </a:xfrm>
          <a:prstGeom prst="rect">
            <a:avLst/>
          </a:prstGeom>
        </p:spPr>
      </p:pic>
      <p:sp>
        <p:nvSpPr>
          <p:cNvPr id="63" name="Text 59"/>
          <p:cNvSpPr/>
          <p:nvPr/>
        </p:nvSpPr>
        <p:spPr>
          <a:xfrm>
            <a:off x="762000" y="9725025"/>
            <a:ext cx="2242989"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spc="30" kern="0" dirty="0">
                <a:solidFill>
                  <a:srgbClr val="7C8597"/>
                </a:solidFill>
                <a:latin typeface="Arial" pitchFamily="34" charset="0"/>
                <a:ea typeface="Arial" pitchFamily="34" charset="-122"/>
                <a:cs typeface="Arial" pitchFamily="34" charset="-120"/>
              </a:rPr>
              <a:t>Zuraiz · P2 · 2026-05-18</a:t>
            </a:r>
            <a:endParaRPr lang="en-US" sz="1500" dirty="0"/>
          </a:p>
        </p:txBody>
      </p:sp>
      <p:sp>
        <p:nvSpPr>
          <p:cNvPr id="64" name="Text 60"/>
          <p:cNvSpPr/>
          <p:nvPr/>
        </p:nvSpPr>
        <p:spPr>
          <a:xfrm>
            <a:off x="16916698" y="9725025"/>
            <a:ext cx="685502"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spc="30" kern="0" dirty="0">
                <a:solidFill>
                  <a:srgbClr val="7C8597"/>
                </a:solidFill>
                <a:latin typeface="Arial" pitchFamily="34" charset="0"/>
                <a:ea typeface="Arial" pitchFamily="34" charset="-122"/>
                <a:cs typeface="Arial" pitchFamily="34" charset="-120"/>
              </a:rPr>
              <a:t>05 / 06</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7183100" y="419100"/>
            <a:ext cx="342900" cy="19050"/>
          </a:xfrm>
          <a:prstGeom prst="rect">
            <a:avLst/>
          </a:prstGeom>
          <a:solidFill>
            <a:srgbClr val="1F2A44"/>
          </a:solidFill>
          <a:ln/>
        </p:spPr>
      </p:sp>
      <p:sp>
        <p:nvSpPr>
          <p:cNvPr id="3" name="Shape 1"/>
          <p:cNvSpPr/>
          <p:nvPr/>
        </p:nvSpPr>
        <p:spPr>
          <a:xfrm>
            <a:off x="17297400" y="495300"/>
            <a:ext cx="228600" cy="19050"/>
          </a:xfrm>
          <a:prstGeom prst="rect">
            <a:avLst/>
          </a:prstGeom>
          <a:solidFill>
            <a:srgbClr val="1F2A44"/>
          </a:solidFill>
          <a:ln/>
        </p:spPr>
      </p:sp>
      <p:sp>
        <p:nvSpPr>
          <p:cNvPr id="4" name="Shape 2"/>
          <p:cNvSpPr/>
          <p:nvPr/>
        </p:nvSpPr>
        <p:spPr>
          <a:xfrm>
            <a:off x="17392650" y="571500"/>
            <a:ext cx="133350" cy="19050"/>
          </a:xfrm>
          <a:prstGeom prst="rect">
            <a:avLst/>
          </a:prstGeom>
          <a:solidFill>
            <a:srgbClr val="1F2A44"/>
          </a:solidFill>
          <a:ln/>
        </p:spPr>
      </p:sp>
      <p:sp>
        <p:nvSpPr>
          <p:cNvPr id="5" name="Text 3"/>
          <p:cNvSpPr/>
          <p:nvPr/>
        </p:nvSpPr>
        <p:spPr>
          <a:xfrm>
            <a:off x="762000" y="685800"/>
            <a:ext cx="17266920"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spc="270" kern="0" dirty="0">
                <a:solidFill>
                  <a:srgbClr val="3A5FCD"/>
                </a:solidFill>
                <a:latin typeface="Arial" pitchFamily="34" charset="0"/>
                <a:ea typeface="Arial" pitchFamily="34" charset="-122"/>
                <a:cs typeface="Arial" pitchFamily="34" charset="-120"/>
              </a:rPr>
              <a:t>REFERENCES</a:t>
            </a:r>
            <a:endParaRPr lang="en-US" sz="1500" dirty="0"/>
          </a:p>
        </p:txBody>
      </p:sp>
      <p:sp>
        <p:nvSpPr>
          <p:cNvPr id="6" name="Text 4"/>
          <p:cNvSpPr/>
          <p:nvPr/>
        </p:nvSpPr>
        <p:spPr>
          <a:xfrm>
            <a:off x="762000" y="1114425"/>
            <a:ext cx="17266920" cy="582811"/>
          </a:xfrm>
          <a:prstGeom prst="rect">
            <a:avLst/>
          </a:prstGeom>
          <a:noFill/>
          <a:ln/>
        </p:spPr>
        <p:txBody>
          <a:bodyPr wrap="square" lIns="25400" tIns="25400" rIns="25400" bIns="25400" rtlCol="0" anchor="t">
            <a:normAutofit/>
          </a:bodyPr>
          <a:lstStyle/>
          <a:p>
            <a:pPr algn="l" indent="0" marL="0">
              <a:lnSpc>
                <a:spcPct val="110000"/>
              </a:lnSpc>
              <a:buNone/>
            </a:pPr>
            <a:r>
              <a:rPr lang="en-US" sz="3900" b="1" spc="-58" kern="0" dirty="0">
                <a:solidFill>
                  <a:srgbClr val="1F2A44"/>
                </a:solidFill>
                <a:latin typeface="Arial" pitchFamily="34" charset="0"/>
                <a:ea typeface="Arial" pitchFamily="34" charset="-122"/>
                <a:cs typeface="Arial" pitchFamily="34" charset="-120"/>
              </a:rPr>
              <a:t>References </a:t>
            </a:r>
            <a:pPr algn="l" indent="0" marL="0">
              <a:lnSpc>
                <a:spcPct val="110000"/>
              </a:lnSpc>
              <a:buNone/>
            </a:pPr>
            <a:r>
              <a:rPr lang="en-US" sz="3900" spc="-58" kern="0" dirty="0">
                <a:solidFill>
                  <a:srgbClr val="5A6478"/>
                </a:solidFill>
                <a:latin typeface="Arial" pitchFamily="34" charset="0"/>
                <a:ea typeface="Arial" pitchFamily="34" charset="-122"/>
                <a:cs typeface="Arial" pitchFamily="34" charset="-120"/>
              </a:rPr>
              <a:t>— IEEE format</a:t>
            </a:r>
            <a:endParaRPr lang="en-US" sz="3900" dirty="0"/>
          </a:p>
        </p:txBody>
      </p:sp>
      <p:sp>
        <p:nvSpPr>
          <p:cNvPr id="7" name="Text 5"/>
          <p:cNvSpPr/>
          <p:nvPr/>
        </p:nvSpPr>
        <p:spPr>
          <a:xfrm>
            <a:off x="762000" y="2078236"/>
            <a:ext cx="487710" cy="68580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A5FCD"/>
                </a:solidFill>
                <a:latin typeface="Courier New" pitchFamily="34" charset="0"/>
                <a:ea typeface="Courier New" pitchFamily="34" charset="-122"/>
                <a:cs typeface="Courier New" pitchFamily="34" charset="-120"/>
              </a:rPr>
              <a:t>[1]</a:t>
            </a:r>
            <a:endParaRPr lang="en-US" sz="1800" dirty="0"/>
          </a:p>
        </p:txBody>
      </p:sp>
      <p:sp>
        <p:nvSpPr>
          <p:cNvPr id="8" name="Text 6"/>
          <p:cNvSpPr/>
          <p:nvPr/>
        </p:nvSpPr>
        <p:spPr>
          <a:xfrm>
            <a:off x="1344960" y="2078236"/>
            <a:ext cx="7758310" cy="685800"/>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1F2A44"/>
                </a:solidFill>
                <a:latin typeface="Arial" pitchFamily="34" charset="0"/>
                <a:ea typeface="Arial" pitchFamily="34" charset="-122"/>
                <a:cs typeface="Arial" pitchFamily="34" charset="-120"/>
              </a:rPr>
              <a:t>Drossos, K., Lipping, S., Virtanen, T. </a:t>
            </a:r>
            <a:pPr algn="l" indent="0" marL="0">
              <a:lnSpc>
                <a:spcPct val="150000"/>
              </a:lnSpc>
              <a:buNone/>
            </a:pPr>
            <a:r>
              <a:rPr lang="en-US" sz="1650" dirty="0">
                <a:solidFill>
                  <a:srgbClr val="5A6478"/>
                </a:solidFill>
                <a:latin typeface="Arial" pitchFamily="34" charset="0"/>
                <a:ea typeface="Arial" pitchFamily="34" charset="-122"/>
                <a:cs typeface="Arial" pitchFamily="34" charset="-120"/>
              </a:rPr>
              <a:t>"Clotho: An Audio Captioning Dataset." </a:t>
            </a:r>
            <a:pPr algn="l" indent="0" marL="0">
              <a:lnSpc>
                <a:spcPct val="150000"/>
              </a:lnSpc>
              <a:buNone/>
            </a:pPr>
            <a:r>
              <a:rPr lang="en-US" sz="1650" i="1" dirty="0">
                <a:solidFill>
                  <a:srgbClr val="1F2A44"/>
                </a:solidFill>
                <a:latin typeface="Arial" pitchFamily="34" charset="0"/>
                <a:ea typeface="Arial" pitchFamily="34" charset="-122"/>
                <a:cs typeface="Arial" pitchFamily="34" charset="-120"/>
              </a:rPr>
              <a:t>IEEE ICASSP</a:t>
            </a:r>
            <a:pPr algn="l" indent="0" marL="0">
              <a:lnSpc>
                <a:spcPct val="150000"/>
              </a:lnSpc>
              <a:buNone/>
            </a:pPr>
            <a:r>
              <a:rPr lang="en-US" sz="1650" dirty="0">
                <a:solidFill>
                  <a:srgbClr val="1F2A44"/>
                </a:solidFill>
                <a:latin typeface="Arial" pitchFamily="34" charset="0"/>
                <a:ea typeface="Arial" pitchFamily="34" charset="-122"/>
                <a:cs typeface="Arial" pitchFamily="34" charset="-120"/>
              </a:rPr>
              <a:t>, 2020. </a:t>
            </a:r>
            <a:pPr algn="l" indent="0" marL="0">
              <a:lnSpc>
                <a:spcPct val="150000"/>
              </a:lnSpc>
              <a:buNone/>
            </a:pPr>
            <a:r>
              <a:rPr lang="en-US" sz="1650" dirty="0">
                <a:solidFill>
                  <a:srgbClr val="5A6478"/>
                </a:solidFill>
                <a:latin typeface="Courier New" pitchFamily="34" charset="0"/>
                <a:ea typeface="Courier New" pitchFamily="34" charset="-122"/>
                <a:cs typeface="Courier New" pitchFamily="34" charset="-120"/>
              </a:rPr>
              <a:t>Zenodo record 4783391 (v2.1).</a:t>
            </a:r>
            <a:endParaRPr lang="en-US" sz="1650" dirty="0"/>
          </a:p>
        </p:txBody>
      </p:sp>
      <p:sp>
        <p:nvSpPr>
          <p:cNvPr id="9" name="Text 7"/>
          <p:cNvSpPr/>
          <p:nvPr/>
        </p:nvSpPr>
        <p:spPr>
          <a:xfrm>
            <a:off x="762000" y="2935486"/>
            <a:ext cx="487710" cy="981521"/>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A5FCD"/>
                </a:solidFill>
                <a:latin typeface="Courier New" pitchFamily="34" charset="0"/>
                <a:ea typeface="Courier New" pitchFamily="34" charset="-122"/>
                <a:cs typeface="Courier New" pitchFamily="34" charset="-120"/>
              </a:rPr>
              <a:t>[2]</a:t>
            </a:r>
            <a:endParaRPr lang="en-US" sz="1800" dirty="0"/>
          </a:p>
        </p:txBody>
      </p:sp>
      <p:sp>
        <p:nvSpPr>
          <p:cNvPr id="10" name="Text 8"/>
          <p:cNvSpPr/>
          <p:nvPr/>
        </p:nvSpPr>
        <p:spPr>
          <a:xfrm>
            <a:off x="1344960" y="2935486"/>
            <a:ext cx="7758310" cy="981521"/>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1F2A44"/>
                </a:solidFill>
                <a:latin typeface="Arial" pitchFamily="34" charset="0"/>
                <a:ea typeface="Arial" pitchFamily="34" charset="-122"/>
                <a:cs typeface="Arial" pitchFamily="34" charset="-120"/>
              </a:rPr>
              <a:t>Falconi et al. </a:t>
            </a:r>
            <a:pPr algn="l" indent="0" marL="0">
              <a:lnSpc>
                <a:spcPct val="150000"/>
              </a:lnSpc>
              <a:buNone/>
            </a:pPr>
            <a:r>
              <a:rPr lang="en-US" sz="1650" dirty="0">
                <a:solidFill>
                  <a:srgbClr val="5A6478"/>
                </a:solidFill>
                <a:latin typeface="Arial" pitchFamily="34" charset="0"/>
                <a:ea typeface="Arial" pitchFamily="34" charset="-122"/>
                <a:cs typeface="Arial" pitchFamily="34" charset="-120"/>
              </a:rPr>
              <a:t>"Competitive Audio-Language Models with Data-Efficient Single-Stage Training on Public Data (Falcon3-Audio)." </a:t>
            </a:r>
            <a:pPr algn="l" indent="0" marL="0">
              <a:lnSpc>
                <a:spcPct val="150000"/>
              </a:lnSpc>
              <a:buNone/>
            </a:pPr>
            <a:r>
              <a:rPr lang="en-US" sz="1650" i="1" dirty="0">
                <a:solidFill>
                  <a:srgbClr val="1F2A44"/>
                </a:solidFill>
                <a:latin typeface="Arial" pitchFamily="34" charset="0"/>
                <a:ea typeface="Arial" pitchFamily="34" charset="-122"/>
                <a:cs typeface="Arial" pitchFamily="34" charset="-120"/>
              </a:rPr>
              <a:t>IEEE ASRU</a:t>
            </a:r>
            <a:pPr algn="l" indent="0" marL="0">
              <a:lnSpc>
                <a:spcPct val="150000"/>
              </a:lnSpc>
              <a:buNone/>
            </a:pPr>
            <a:r>
              <a:rPr lang="en-US" sz="1650" dirty="0">
                <a:solidFill>
                  <a:srgbClr val="1F2A44"/>
                </a:solidFill>
                <a:latin typeface="Arial" pitchFamily="34" charset="0"/>
                <a:ea typeface="Arial" pitchFamily="34" charset="-122"/>
                <a:cs typeface="Arial" pitchFamily="34" charset="-120"/>
              </a:rPr>
              <a:t>, 2025. </a:t>
            </a:r>
            <a:pPr algn="l" indent="0" marL="0">
              <a:lnSpc>
                <a:spcPct val="150000"/>
              </a:lnSpc>
              <a:buNone/>
            </a:pPr>
            <a:r>
              <a:rPr lang="en-US" sz="1402" dirty="0">
                <a:solidFill>
                  <a:srgbClr val="5A6478"/>
                </a:solidFill>
                <a:latin typeface="Courier New" pitchFamily="34" charset="0"/>
                <a:ea typeface="Courier New" pitchFamily="34" charset="-122"/>
                <a:cs typeface="Courier New" pitchFamily="34" charset="-120"/>
              </a:rPr>
              <a:t>ieeexplore.ieee.org/document/11434596</a:t>
            </a:r>
            <a:endParaRPr lang="en-US" sz="1650" dirty="0"/>
          </a:p>
        </p:txBody>
      </p:sp>
      <p:sp>
        <p:nvSpPr>
          <p:cNvPr id="11" name="Text 9"/>
          <p:cNvSpPr/>
          <p:nvPr/>
        </p:nvSpPr>
        <p:spPr>
          <a:xfrm>
            <a:off x="762000" y="4088457"/>
            <a:ext cx="487710" cy="667196"/>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A5FCD"/>
                </a:solidFill>
                <a:latin typeface="Courier New" pitchFamily="34" charset="0"/>
                <a:ea typeface="Courier New" pitchFamily="34" charset="-122"/>
                <a:cs typeface="Courier New" pitchFamily="34" charset="-120"/>
              </a:rPr>
              <a:t>[3]</a:t>
            </a:r>
            <a:endParaRPr lang="en-US" sz="1800" dirty="0"/>
          </a:p>
        </p:txBody>
      </p:sp>
      <p:sp>
        <p:nvSpPr>
          <p:cNvPr id="12" name="Text 10"/>
          <p:cNvSpPr/>
          <p:nvPr/>
        </p:nvSpPr>
        <p:spPr>
          <a:xfrm>
            <a:off x="1344960" y="4088457"/>
            <a:ext cx="7758310" cy="667196"/>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1F2A44"/>
                </a:solidFill>
                <a:latin typeface="Arial" pitchFamily="34" charset="0"/>
                <a:ea typeface="Arial" pitchFamily="34" charset="-122"/>
                <a:cs typeface="Arial" pitchFamily="34" charset="-120"/>
              </a:rPr>
              <a:t>Dixit et al. </a:t>
            </a:r>
            <a:pPr algn="l" indent="0" marL="0">
              <a:lnSpc>
                <a:spcPct val="150000"/>
              </a:lnSpc>
              <a:buNone/>
            </a:pPr>
            <a:r>
              <a:rPr lang="en-US" sz="1650" dirty="0">
                <a:solidFill>
                  <a:srgbClr val="5A6478"/>
                </a:solidFill>
                <a:latin typeface="Arial" pitchFamily="34" charset="0"/>
                <a:ea typeface="Arial" pitchFamily="34" charset="-122"/>
                <a:cs typeface="Arial" pitchFamily="34" charset="-120"/>
              </a:rPr>
              <a:t>"MACE: Leveraging Audio for Evaluating Audio Captioning Systems." </a:t>
            </a:r>
            <a:pPr algn="l" indent="0" marL="0">
              <a:lnSpc>
                <a:spcPct val="150000"/>
              </a:lnSpc>
              <a:buNone/>
            </a:pPr>
            <a:r>
              <a:rPr lang="en-US" sz="1650" i="1" dirty="0">
                <a:solidFill>
                  <a:srgbClr val="1F2A44"/>
                </a:solidFill>
                <a:latin typeface="Arial" pitchFamily="34" charset="0"/>
                <a:ea typeface="Arial" pitchFamily="34" charset="-122"/>
                <a:cs typeface="Arial" pitchFamily="34" charset="-120"/>
              </a:rPr>
              <a:t>IEEE ICASSP-W</a:t>
            </a:r>
            <a:pPr algn="l" indent="0" marL="0">
              <a:lnSpc>
                <a:spcPct val="150000"/>
              </a:lnSpc>
              <a:buNone/>
            </a:pPr>
            <a:r>
              <a:rPr lang="en-US" sz="1650" dirty="0">
                <a:solidFill>
                  <a:srgbClr val="1F2A44"/>
                </a:solidFill>
                <a:latin typeface="Arial" pitchFamily="34" charset="0"/>
                <a:ea typeface="Arial" pitchFamily="34" charset="-122"/>
                <a:cs typeface="Arial" pitchFamily="34" charset="-120"/>
              </a:rPr>
              <a:t>, 2025. </a:t>
            </a:r>
            <a:pPr algn="l" indent="0" marL="0">
              <a:lnSpc>
                <a:spcPct val="150000"/>
              </a:lnSpc>
              <a:buNone/>
            </a:pPr>
            <a:r>
              <a:rPr lang="en-US" sz="1402" dirty="0">
                <a:solidFill>
                  <a:srgbClr val="5A6478"/>
                </a:solidFill>
                <a:latin typeface="Courier New" pitchFamily="34" charset="0"/>
                <a:ea typeface="Courier New" pitchFamily="34" charset="-122"/>
                <a:cs typeface="Courier New" pitchFamily="34" charset="-120"/>
              </a:rPr>
              <a:t>ieeexplore.ieee.org/document/11011270</a:t>
            </a:r>
            <a:endParaRPr lang="en-US" sz="1650" dirty="0"/>
          </a:p>
        </p:txBody>
      </p:sp>
      <p:sp>
        <p:nvSpPr>
          <p:cNvPr id="13" name="Text 11"/>
          <p:cNvSpPr/>
          <p:nvPr/>
        </p:nvSpPr>
        <p:spPr>
          <a:xfrm>
            <a:off x="762000" y="4927104"/>
            <a:ext cx="487710" cy="667196"/>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A5FCD"/>
                </a:solidFill>
                <a:latin typeface="Courier New" pitchFamily="34" charset="0"/>
                <a:ea typeface="Courier New" pitchFamily="34" charset="-122"/>
                <a:cs typeface="Courier New" pitchFamily="34" charset="-120"/>
              </a:rPr>
              <a:t>[4]</a:t>
            </a:r>
            <a:endParaRPr lang="en-US" sz="1800" dirty="0"/>
          </a:p>
        </p:txBody>
      </p:sp>
      <p:sp>
        <p:nvSpPr>
          <p:cNvPr id="14" name="Text 12"/>
          <p:cNvSpPr/>
          <p:nvPr/>
        </p:nvSpPr>
        <p:spPr>
          <a:xfrm>
            <a:off x="1344960" y="4927104"/>
            <a:ext cx="7758310" cy="667196"/>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1F2A44"/>
                </a:solidFill>
                <a:latin typeface="Arial" pitchFamily="34" charset="0"/>
                <a:ea typeface="Arial" pitchFamily="34" charset="-122"/>
                <a:cs typeface="Arial" pitchFamily="34" charset="-120"/>
              </a:rPr>
              <a:t>IEEE ASRU 2025. </a:t>
            </a:r>
            <a:pPr algn="l" indent="0" marL="0">
              <a:lnSpc>
                <a:spcPct val="150000"/>
              </a:lnSpc>
              <a:buNone/>
            </a:pPr>
            <a:r>
              <a:rPr lang="en-US" sz="1650" dirty="0">
                <a:solidFill>
                  <a:srgbClr val="5A6478"/>
                </a:solidFill>
                <a:latin typeface="Arial" pitchFamily="34" charset="0"/>
                <a:ea typeface="Arial" pitchFamily="34" charset="-122"/>
                <a:cs typeface="Arial" pitchFamily="34" charset="-120"/>
              </a:rPr>
              <a:t>"Data Leakage Benchmark." </a:t>
            </a:r>
            <a:pPr algn="l" indent="0" marL="0">
              <a:lnSpc>
                <a:spcPct val="150000"/>
              </a:lnSpc>
              <a:buNone/>
            </a:pPr>
            <a:r>
              <a:rPr lang="en-US" sz="1402" dirty="0">
                <a:solidFill>
                  <a:srgbClr val="5A6478"/>
                </a:solidFill>
                <a:latin typeface="Courier New" pitchFamily="34" charset="0"/>
                <a:ea typeface="Courier New" pitchFamily="34" charset="-122"/>
                <a:cs typeface="Courier New" pitchFamily="34" charset="-120"/>
              </a:rPr>
              <a:t>ieeexplore.ieee.org/document/11450559</a:t>
            </a:r>
            <a:endParaRPr lang="en-US" sz="1650" dirty="0"/>
          </a:p>
        </p:txBody>
      </p:sp>
      <p:sp>
        <p:nvSpPr>
          <p:cNvPr id="15" name="Text 13"/>
          <p:cNvSpPr/>
          <p:nvPr/>
        </p:nvSpPr>
        <p:spPr>
          <a:xfrm>
            <a:off x="9410700" y="2078236"/>
            <a:ext cx="487710" cy="667196"/>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A5FCD"/>
                </a:solidFill>
                <a:latin typeface="Courier New" pitchFamily="34" charset="0"/>
                <a:ea typeface="Courier New" pitchFamily="34" charset="-122"/>
                <a:cs typeface="Courier New" pitchFamily="34" charset="-120"/>
              </a:rPr>
              <a:t>[5]</a:t>
            </a:r>
            <a:endParaRPr lang="en-US" sz="1800" dirty="0"/>
          </a:p>
        </p:txBody>
      </p:sp>
      <p:sp>
        <p:nvSpPr>
          <p:cNvPr id="16" name="Text 14"/>
          <p:cNvSpPr/>
          <p:nvPr/>
        </p:nvSpPr>
        <p:spPr>
          <a:xfrm>
            <a:off x="9993660" y="2078236"/>
            <a:ext cx="7758310" cy="667196"/>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1F2A44"/>
                </a:solidFill>
                <a:latin typeface="Arial" pitchFamily="34" charset="0"/>
                <a:ea typeface="Arial" pitchFamily="34" charset="-122"/>
                <a:cs typeface="Arial" pitchFamily="34" charset="-120"/>
              </a:rPr>
              <a:t>Mei et al. </a:t>
            </a:r>
            <a:pPr algn="l" indent="0" marL="0">
              <a:lnSpc>
                <a:spcPct val="150000"/>
              </a:lnSpc>
              <a:buNone/>
            </a:pPr>
            <a:r>
              <a:rPr lang="en-US" sz="1650" dirty="0">
                <a:solidFill>
                  <a:srgbClr val="5A6478"/>
                </a:solidFill>
                <a:latin typeface="Arial" pitchFamily="34" charset="0"/>
                <a:ea typeface="Arial" pitchFamily="34" charset="-122"/>
                <a:cs typeface="Arial" pitchFamily="34" charset="-120"/>
              </a:rPr>
              <a:t>"Beyond the Status Quo: Critical Reflection on Audio Captioning Metrics." </a:t>
            </a:r>
            <a:pPr algn="l" indent="0" marL="0">
              <a:lnSpc>
                <a:spcPct val="150000"/>
              </a:lnSpc>
              <a:buNone/>
            </a:pPr>
            <a:r>
              <a:rPr lang="en-US" sz="1650" i="1" dirty="0">
                <a:solidFill>
                  <a:srgbClr val="1F2A44"/>
                </a:solidFill>
                <a:latin typeface="Arial" pitchFamily="34" charset="0"/>
                <a:ea typeface="Arial" pitchFamily="34" charset="-122"/>
                <a:cs typeface="Arial" pitchFamily="34" charset="-120"/>
              </a:rPr>
              <a:t>IEEE/ACM TASLP</a:t>
            </a:r>
            <a:pPr algn="l" indent="0" marL="0">
              <a:lnSpc>
                <a:spcPct val="150000"/>
              </a:lnSpc>
              <a:buNone/>
            </a:pPr>
            <a:r>
              <a:rPr lang="en-US" sz="1650" dirty="0">
                <a:solidFill>
                  <a:srgbClr val="1F2A44"/>
                </a:solidFill>
                <a:latin typeface="Arial" pitchFamily="34" charset="0"/>
                <a:ea typeface="Arial" pitchFamily="34" charset="-122"/>
                <a:cs typeface="Arial" pitchFamily="34" charset="-120"/>
              </a:rPr>
              <a:t>, 2023. </a:t>
            </a:r>
            <a:pPr algn="l" indent="0" marL="0">
              <a:lnSpc>
                <a:spcPct val="150000"/>
              </a:lnSpc>
              <a:buNone/>
            </a:pPr>
            <a:r>
              <a:rPr lang="en-US" sz="1402" dirty="0">
                <a:solidFill>
                  <a:srgbClr val="5A6478"/>
                </a:solidFill>
                <a:latin typeface="Courier New" pitchFamily="34" charset="0"/>
                <a:ea typeface="Courier New" pitchFamily="34" charset="-122"/>
                <a:cs typeface="Courier New" pitchFamily="34" charset="-120"/>
              </a:rPr>
              <a:t>doi:10.1109/TASLP.2023.3321968</a:t>
            </a:r>
            <a:endParaRPr lang="en-US" sz="1650" dirty="0"/>
          </a:p>
        </p:txBody>
      </p:sp>
      <p:sp>
        <p:nvSpPr>
          <p:cNvPr id="17" name="Text 15"/>
          <p:cNvSpPr/>
          <p:nvPr/>
        </p:nvSpPr>
        <p:spPr>
          <a:xfrm>
            <a:off x="9410700" y="2916882"/>
            <a:ext cx="487710" cy="981521"/>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A5FCD"/>
                </a:solidFill>
                <a:latin typeface="Courier New" pitchFamily="34" charset="0"/>
                <a:ea typeface="Courier New" pitchFamily="34" charset="-122"/>
                <a:cs typeface="Courier New" pitchFamily="34" charset="-120"/>
              </a:rPr>
              <a:t>[6]</a:t>
            </a:r>
            <a:endParaRPr lang="en-US" sz="1800" dirty="0"/>
          </a:p>
        </p:txBody>
      </p:sp>
      <p:sp>
        <p:nvSpPr>
          <p:cNvPr id="18" name="Text 16"/>
          <p:cNvSpPr/>
          <p:nvPr/>
        </p:nvSpPr>
        <p:spPr>
          <a:xfrm>
            <a:off x="9993660" y="2916882"/>
            <a:ext cx="7758310" cy="981521"/>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1F2A44"/>
                </a:solidFill>
                <a:latin typeface="Arial" pitchFamily="34" charset="0"/>
                <a:ea typeface="Arial" pitchFamily="34" charset="-122"/>
                <a:cs typeface="Arial" pitchFamily="34" charset="-120"/>
              </a:rPr>
              <a:t>Dixit / Khare et al. </a:t>
            </a:r>
            <a:pPr algn="l" indent="0" marL="0">
              <a:lnSpc>
                <a:spcPct val="150000"/>
              </a:lnSpc>
              <a:buNone/>
            </a:pPr>
            <a:r>
              <a:rPr lang="en-US" sz="1650" dirty="0">
                <a:solidFill>
                  <a:srgbClr val="5A6478"/>
                </a:solidFill>
                <a:latin typeface="Arial" pitchFamily="34" charset="0"/>
                <a:ea typeface="Arial" pitchFamily="34" charset="-122"/>
                <a:cs typeface="Arial" pitchFamily="34" charset="-120"/>
              </a:rPr>
              <a:t>"FD-DeCap: A Front-Door Causal Inference-Based Framework for Debiasing Audio Captioning." </a:t>
            </a:r>
            <a:pPr algn="l" indent="0" marL="0">
              <a:lnSpc>
                <a:spcPct val="150000"/>
              </a:lnSpc>
              <a:buNone/>
            </a:pPr>
            <a:r>
              <a:rPr lang="en-US" sz="1650" i="1" dirty="0">
                <a:solidFill>
                  <a:srgbClr val="1F2A44"/>
                </a:solidFill>
                <a:latin typeface="Arial" pitchFamily="34" charset="0"/>
                <a:ea typeface="Arial" pitchFamily="34" charset="-122"/>
                <a:cs typeface="Arial" pitchFamily="34" charset="-120"/>
              </a:rPr>
              <a:t>IEEE/ACM TASLP</a:t>
            </a:r>
            <a:pPr algn="l" indent="0" marL="0">
              <a:lnSpc>
                <a:spcPct val="150000"/>
              </a:lnSpc>
              <a:buNone/>
            </a:pPr>
            <a:r>
              <a:rPr lang="en-US" sz="1650" dirty="0">
                <a:solidFill>
                  <a:srgbClr val="1F2A44"/>
                </a:solidFill>
                <a:latin typeface="Arial" pitchFamily="34" charset="0"/>
                <a:ea typeface="Arial" pitchFamily="34" charset="-122"/>
                <a:cs typeface="Arial" pitchFamily="34" charset="-120"/>
              </a:rPr>
              <a:t>, 2025. </a:t>
            </a:r>
            <a:pPr algn="l" indent="0" marL="0">
              <a:lnSpc>
                <a:spcPct val="150000"/>
              </a:lnSpc>
              <a:buNone/>
            </a:pPr>
            <a:r>
              <a:rPr lang="en-US" sz="1402" dirty="0">
                <a:solidFill>
                  <a:srgbClr val="5A6478"/>
                </a:solidFill>
                <a:latin typeface="Courier New" pitchFamily="34" charset="0"/>
                <a:ea typeface="Courier New" pitchFamily="34" charset="-122"/>
                <a:cs typeface="Courier New" pitchFamily="34" charset="-120"/>
              </a:rPr>
              <a:t>ieeexplore.ieee.org/document/11333308</a:t>
            </a:r>
            <a:endParaRPr lang="en-US" sz="1650" dirty="0"/>
          </a:p>
        </p:txBody>
      </p:sp>
      <p:sp>
        <p:nvSpPr>
          <p:cNvPr id="19" name="Text 17"/>
          <p:cNvSpPr/>
          <p:nvPr/>
        </p:nvSpPr>
        <p:spPr>
          <a:xfrm>
            <a:off x="9410700" y="4069854"/>
            <a:ext cx="487710" cy="981521"/>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A5FCD"/>
                </a:solidFill>
                <a:latin typeface="Courier New" pitchFamily="34" charset="0"/>
                <a:ea typeface="Courier New" pitchFamily="34" charset="-122"/>
                <a:cs typeface="Courier New" pitchFamily="34" charset="-120"/>
              </a:rPr>
              <a:t>[7]</a:t>
            </a:r>
            <a:endParaRPr lang="en-US" sz="1800" dirty="0"/>
          </a:p>
        </p:txBody>
      </p:sp>
      <p:sp>
        <p:nvSpPr>
          <p:cNvPr id="20" name="Text 18"/>
          <p:cNvSpPr/>
          <p:nvPr/>
        </p:nvSpPr>
        <p:spPr>
          <a:xfrm>
            <a:off x="9993660" y="4069854"/>
            <a:ext cx="7758310" cy="981521"/>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1F2A44"/>
                </a:solidFill>
                <a:latin typeface="Arial" pitchFamily="34" charset="0"/>
                <a:ea typeface="Arial" pitchFamily="34" charset="-122"/>
                <a:cs typeface="Arial" pitchFamily="34" charset="-120"/>
              </a:rPr>
              <a:t>Kong et al. </a:t>
            </a:r>
            <a:pPr algn="l" indent="0" marL="0">
              <a:lnSpc>
                <a:spcPct val="150000"/>
              </a:lnSpc>
              <a:buNone/>
            </a:pPr>
            <a:r>
              <a:rPr lang="en-US" sz="1650" dirty="0">
                <a:solidFill>
                  <a:srgbClr val="5A6478"/>
                </a:solidFill>
                <a:latin typeface="Arial" pitchFamily="34" charset="0"/>
                <a:ea typeface="Arial" pitchFamily="34" charset="-122"/>
                <a:cs typeface="Arial" pitchFamily="34" charset="-120"/>
              </a:rPr>
              <a:t>"PANNs: Large-Scale Pretrained Audio Neural Networks for Audio Pattern Recognition (CNN14)." </a:t>
            </a:r>
            <a:pPr algn="l" indent="0" marL="0">
              <a:lnSpc>
                <a:spcPct val="150000"/>
              </a:lnSpc>
              <a:buNone/>
            </a:pPr>
            <a:r>
              <a:rPr lang="en-US" sz="1650" i="1" dirty="0">
                <a:solidFill>
                  <a:srgbClr val="1F2A44"/>
                </a:solidFill>
                <a:latin typeface="Arial" pitchFamily="34" charset="0"/>
                <a:ea typeface="Arial" pitchFamily="34" charset="-122"/>
                <a:cs typeface="Arial" pitchFamily="34" charset="-120"/>
              </a:rPr>
              <a:t>IEEE/ACM TASLP</a:t>
            </a:r>
            <a:pPr algn="l" indent="0" marL="0">
              <a:lnSpc>
                <a:spcPct val="150000"/>
              </a:lnSpc>
              <a:buNone/>
            </a:pPr>
            <a:r>
              <a:rPr lang="en-US" sz="1650" dirty="0">
                <a:solidFill>
                  <a:srgbClr val="1F2A44"/>
                </a:solidFill>
                <a:latin typeface="Arial" pitchFamily="34" charset="0"/>
                <a:ea typeface="Arial" pitchFamily="34" charset="-122"/>
                <a:cs typeface="Arial" pitchFamily="34" charset="-120"/>
              </a:rPr>
              <a:t>, vol. 28, pp. 2880–2894, 2020. </a:t>
            </a:r>
            <a:pPr algn="l" indent="0" marL="0">
              <a:lnSpc>
                <a:spcPct val="150000"/>
              </a:lnSpc>
              <a:buNone/>
            </a:pPr>
            <a:r>
              <a:rPr lang="en-US" sz="1402" dirty="0">
                <a:solidFill>
                  <a:srgbClr val="5A6478"/>
                </a:solidFill>
                <a:latin typeface="Courier New" pitchFamily="34" charset="0"/>
                <a:ea typeface="Courier New" pitchFamily="34" charset="-122"/>
                <a:cs typeface="Courier New" pitchFamily="34" charset="-120"/>
              </a:rPr>
              <a:t>doi:10.1109/TASLP.2020.3030497</a:t>
            </a:r>
            <a:endParaRPr lang="en-US" sz="1650" dirty="0"/>
          </a:p>
        </p:txBody>
      </p:sp>
      <p:sp>
        <p:nvSpPr>
          <p:cNvPr id="21" name="Text 19"/>
          <p:cNvSpPr/>
          <p:nvPr/>
        </p:nvSpPr>
        <p:spPr>
          <a:xfrm>
            <a:off x="9410700" y="5222825"/>
            <a:ext cx="487710" cy="981521"/>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A5FCD"/>
                </a:solidFill>
                <a:latin typeface="Courier New" pitchFamily="34" charset="0"/>
                <a:ea typeface="Courier New" pitchFamily="34" charset="-122"/>
                <a:cs typeface="Courier New" pitchFamily="34" charset="-120"/>
              </a:rPr>
              <a:t>[8]</a:t>
            </a:r>
            <a:endParaRPr lang="en-US" sz="1800" dirty="0"/>
          </a:p>
        </p:txBody>
      </p:sp>
      <p:sp>
        <p:nvSpPr>
          <p:cNvPr id="22" name="Text 20"/>
          <p:cNvSpPr/>
          <p:nvPr/>
        </p:nvSpPr>
        <p:spPr>
          <a:xfrm>
            <a:off x="9993660" y="5222825"/>
            <a:ext cx="7758310" cy="981521"/>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1F2A44"/>
                </a:solidFill>
                <a:latin typeface="Arial" pitchFamily="34" charset="0"/>
                <a:ea typeface="Arial" pitchFamily="34" charset="-122"/>
                <a:cs typeface="Arial" pitchFamily="34" charset="-120"/>
              </a:rPr>
              <a:t>Mei et al. </a:t>
            </a:r>
            <a:pPr algn="l" indent="0" marL="0">
              <a:lnSpc>
                <a:spcPct val="150000"/>
              </a:lnSpc>
              <a:buNone/>
            </a:pPr>
            <a:r>
              <a:rPr lang="en-US" sz="1650" dirty="0">
                <a:solidFill>
                  <a:srgbClr val="5A6478"/>
                </a:solidFill>
                <a:latin typeface="Arial" pitchFamily="34" charset="0"/>
                <a:ea typeface="Arial" pitchFamily="34" charset="-122"/>
                <a:cs typeface="Arial" pitchFamily="34" charset="-120"/>
              </a:rPr>
              <a:t>"WavCaps: A ChatGPT-Assisted Weakly-Labelled Audio Captioning Dataset for Audio-Language Multimodal Research." </a:t>
            </a:r>
            <a:pPr algn="l" indent="0" marL="0">
              <a:lnSpc>
                <a:spcPct val="150000"/>
              </a:lnSpc>
              <a:buNone/>
            </a:pPr>
            <a:r>
              <a:rPr lang="en-US" sz="1650" i="1" dirty="0">
                <a:solidFill>
                  <a:srgbClr val="1F2A44"/>
                </a:solidFill>
                <a:latin typeface="Arial" pitchFamily="34" charset="0"/>
                <a:ea typeface="Arial" pitchFamily="34" charset="-122"/>
                <a:cs typeface="Arial" pitchFamily="34" charset="-120"/>
              </a:rPr>
              <a:t>IEEE/ACM TASLP</a:t>
            </a:r>
            <a:pPr algn="l" indent="0" marL="0">
              <a:lnSpc>
                <a:spcPct val="150000"/>
              </a:lnSpc>
              <a:buNone/>
            </a:pPr>
            <a:r>
              <a:rPr lang="en-US" sz="1650" dirty="0">
                <a:solidFill>
                  <a:srgbClr val="1F2A44"/>
                </a:solidFill>
                <a:latin typeface="Arial" pitchFamily="34" charset="0"/>
                <a:ea typeface="Arial" pitchFamily="34" charset="-122"/>
                <a:cs typeface="Arial" pitchFamily="34" charset="-120"/>
              </a:rPr>
              <a:t>, 2024. </a:t>
            </a:r>
            <a:pPr algn="l" indent="0" marL="0">
              <a:lnSpc>
                <a:spcPct val="150000"/>
              </a:lnSpc>
              <a:buNone/>
            </a:pPr>
            <a:r>
              <a:rPr lang="en-US" sz="1402" dirty="0">
                <a:solidFill>
                  <a:srgbClr val="5A6478"/>
                </a:solidFill>
                <a:latin typeface="Courier New" pitchFamily="34" charset="0"/>
                <a:ea typeface="Courier New" pitchFamily="34" charset="-122"/>
                <a:cs typeface="Courier New" pitchFamily="34" charset="-120"/>
              </a:rPr>
              <a:t>arxiv.org/abs/2303.17395</a:t>
            </a:r>
            <a:endParaRPr lang="en-US" sz="1650" dirty="0"/>
          </a:p>
        </p:txBody>
      </p:sp>
      <p:sp>
        <p:nvSpPr>
          <p:cNvPr id="23" name="Text 21"/>
          <p:cNvSpPr/>
          <p:nvPr/>
        </p:nvSpPr>
        <p:spPr>
          <a:xfrm>
            <a:off x="510540" y="9324975"/>
            <a:ext cx="17266920" cy="314325"/>
          </a:xfrm>
          <a:prstGeom prst="rect">
            <a:avLst/>
          </a:prstGeom>
          <a:noFill/>
          <a:ln/>
        </p:spPr>
        <p:txBody>
          <a:bodyPr wrap="square" lIns="25400" tIns="25400" rIns="25400" bIns="25400" rtlCol="0" anchor="t">
            <a:normAutofit/>
          </a:bodyPr>
          <a:lstStyle/>
          <a:p>
            <a:pPr algn="ctr" indent="0" marL="0">
              <a:lnSpc>
                <a:spcPct val="145000"/>
              </a:lnSpc>
              <a:buNone/>
            </a:pPr>
            <a:r>
              <a:rPr lang="en-US" sz="1500" i="1" dirty="0">
                <a:solidFill>
                  <a:srgbClr val="7C8597"/>
                </a:solidFill>
                <a:latin typeface="Arial" pitchFamily="34" charset="0"/>
                <a:ea typeface="Arial" pitchFamily="34" charset="-122"/>
                <a:cs typeface="Arial" pitchFamily="34" charset="-120"/>
              </a:rPr>
              <a:t>Shortlist of 8 data-strategy references from the project's 49-paper corpus. Full corpus + 38 read papers indexed in the project wiki.</a:t>
            </a:r>
            <a:endParaRPr lang="en-US" sz="1500" dirty="0"/>
          </a:p>
        </p:txBody>
      </p:sp>
      <p:sp>
        <p:nvSpPr>
          <p:cNvPr id="24" name="Text 22"/>
          <p:cNvSpPr/>
          <p:nvPr/>
        </p:nvSpPr>
        <p:spPr>
          <a:xfrm>
            <a:off x="762000" y="9725025"/>
            <a:ext cx="2242989"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spc="30" kern="0" dirty="0">
                <a:solidFill>
                  <a:srgbClr val="7C8597"/>
                </a:solidFill>
                <a:latin typeface="Arial" pitchFamily="34" charset="0"/>
                <a:ea typeface="Arial" pitchFamily="34" charset="-122"/>
                <a:cs typeface="Arial" pitchFamily="34" charset="-120"/>
              </a:rPr>
              <a:t>Zuraiz · P2 · 2026-05-18</a:t>
            </a:r>
            <a:endParaRPr lang="en-US" sz="1500" dirty="0"/>
          </a:p>
        </p:txBody>
      </p:sp>
      <p:sp>
        <p:nvSpPr>
          <p:cNvPr id="25" name="Text 23"/>
          <p:cNvSpPr/>
          <p:nvPr/>
        </p:nvSpPr>
        <p:spPr>
          <a:xfrm>
            <a:off x="16916698" y="9725025"/>
            <a:ext cx="685502"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spc="30" kern="0" dirty="0">
                <a:solidFill>
                  <a:srgbClr val="7C8597"/>
                </a:solidFill>
                <a:latin typeface="Arial" pitchFamily="34" charset="0"/>
                <a:ea typeface="Arial" pitchFamily="34" charset="-122"/>
                <a:cs typeface="Arial" pitchFamily="34" charset="-120"/>
              </a:rPr>
              <a:t>06 / 06</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7183100" y="419100"/>
            <a:ext cx="342900" cy="19050"/>
          </a:xfrm>
          <a:prstGeom prst="rect">
            <a:avLst/>
          </a:prstGeom>
          <a:solidFill>
            <a:srgbClr val="1F2A44"/>
          </a:solidFill>
          <a:ln/>
        </p:spPr>
      </p:sp>
      <p:sp>
        <p:nvSpPr>
          <p:cNvPr id="3" name="Shape 1"/>
          <p:cNvSpPr/>
          <p:nvPr/>
        </p:nvSpPr>
        <p:spPr>
          <a:xfrm>
            <a:off x="17297400" y="495300"/>
            <a:ext cx="228600" cy="19050"/>
          </a:xfrm>
          <a:prstGeom prst="rect">
            <a:avLst/>
          </a:prstGeom>
          <a:solidFill>
            <a:srgbClr val="1F2A44"/>
          </a:solidFill>
          <a:ln/>
        </p:spPr>
      </p:sp>
      <p:sp>
        <p:nvSpPr>
          <p:cNvPr id="4" name="Shape 2"/>
          <p:cNvSpPr/>
          <p:nvPr/>
        </p:nvSpPr>
        <p:spPr>
          <a:xfrm>
            <a:off x="17392650" y="571500"/>
            <a:ext cx="133350" cy="19050"/>
          </a:xfrm>
          <a:prstGeom prst="rect">
            <a:avLst/>
          </a:prstGeom>
          <a:solidFill>
            <a:srgbClr val="1F2A44"/>
          </a:solidFill>
          <a:ln/>
        </p:spPr>
      </p:sp>
      <p:sp>
        <p:nvSpPr>
          <p:cNvPr id="5" name="Text 3"/>
          <p:cNvSpPr/>
          <p:nvPr/>
        </p:nvSpPr>
        <p:spPr>
          <a:xfrm>
            <a:off x="762000" y="685800"/>
            <a:ext cx="17266920"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spc="270" kern="0" dirty="0">
                <a:solidFill>
                  <a:srgbClr val="C25A4F"/>
                </a:solidFill>
                <a:latin typeface="Arial" pitchFamily="34" charset="0"/>
                <a:ea typeface="Arial" pitchFamily="34" charset="-122"/>
                <a:cs typeface="Arial" pitchFamily="34" charset="-120"/>
              </a:rPr>
              <a:t>APPENDIX A · Q&amp;A ONLY</a:t>
            </a:r>
            <a:endParaRPr lang="en-US" sz="1500" dirty="0"/>
          </a:p>
        </p:txBody>
      </p:sp>
      <p:sp>
        <p:nvSpPr>
          <p:cNvPr id="6" name="Text 4"/>
          <p:cNvSpPr/>
          <p:nvPr/>
        </p:nvSpPr>
        <p:spPr>
          <a:xfrm>
            <a:off x="762000" y="1114425"/>
            <a:ext cx="17266920" cy="582811"/>
          </a:xfrm>
          <a:prstGeom prst="rect">
            <a:avLst/>
          </a:prstGeom>
          <a:noFill/>
          <a:ln/>
        </p:spPr>
        <p:txBody>
          <a:bodyPr wrap="square" lIns="25400" tIns="25400" rIns="25400" bIns="25400" rtlCol="0" anchor="t">
            <a:normAutofit/>
          </a:bodyPr>
          <a:lstStyle/>
          <a:p>
            <a:pPr algn="l" indent="0" marL="0">
              <a:lnSpc>
                <a:spcPct val="110000"/>
              </a:lnSpc>
              <a:buNone/>
            </a:pPr>
            <a:r>
              <a:rPr lang="en-US" sz="3900" b="1" spc="-58" kern="0" dirty="0">
                <a:solidFill>
                  <a:srgbClr val="1F2A44"/>
                </a:solidFill>
                <a:latin typeface="Arial" pitchFamily="34" charset="0"/>
                <a:ea typeface="Arial" pitchFamily="34" charset="-122"/>
                <a:cs typeface="Arial" pitchFamily="34" charset="-120"/>
              </a:rPr>
              <a:t>AudioCaps </a:t>
            </a:r>
            <a:pPr algn="l" indent="0" marL="0">
              <a:lnSpc>
                <a:spcPct val="110000"/>
              </a:lnSpc>
              <a:buNone/>
            </a:pPr>
            <a:r>
              <a:rPr lang="en-US" sz="3900" spc="-58" kern="0" dirty="0">
                <a:solidFill>
                  <a:srgbClr val="5A6478"/>
                </a:solidFill>
                <a:latin typeface="Arial" pitchFamily="34" charset="0"/>
                <a:ea typeface="Arial" pitchFamily="34" charset="-122"/>
                <a:cs typeface="Arial" pitchFamily="34" charset="-120"/>
              </a:rPr>
              <a:t>— five representative clips</a:t>
            </a:r>
            <a:endParaRPr lang="en-US" sz="3900" dirty="0"/>
          </a:p>
        </p:txBody>
      </p:sp>
      <p:sp>
        <p:nvSpPr>
          <p:cNvPr id="7" name="Text 5"/>
          <p:cNvSpPr/>
          <p:nvPr/>
        </p:nvSpPr>
        <p:spPr>
          <a:xfrm>
            <a:off x="762000" y="1830586"/>
            <a:ext cx="14225588" cy="706636"/>
          </a:xfrm>
          <a:prstGeom prst="rect">
            <a:avLst/>
          </a:prstGeom>
          <a:noFill/>
          <a:ln/>
        </p:spPr>
        <p:txBody>
          <a:bodyPr wrap="square" lIns="25400" tIns="25400" rIns="25400" bIns="25400" rtlCol="0" anchor="t">
            <a:normAutofit/>
          </a:bodyPr>
          <a:lstStyle/>
          <a:p>
            <a:pPr algn="l" indent="0" marL="0">
              <a:lnSpc>
                <a:spcPct val="135000"/>
              </a:lnSpc>
              <a:buNone/>
            </a:pPr>
            <a:r>
              <a:rPr lang="en-US" sz="1950" i="1" dirty="0">
                <a:solidFill>
                  <a:srgbClr val="5A6478"/>
                </a:solidFill>
                <a:latin typeface="Arial" pitchFamily="34" charset="0"/>
                <a:ea typeface="Arial" pitchFamily="34" charset="-122"/>
                <a:cs typeface="Arial" pitchFamily="34" charset="-120"/>
              </a:rPr>
              <a:t>Shown only if asked. AudioCaps = 10-second YouTube segments from </a:t>
            </a:r>
            <a:pPr algn="l" indent="0" marL="0">
              <a:lnSpc>
                <a:spcPct val="135000"/>
              </a:lnSpc>
              <a:buNone/>
            </a:pPr>
            <a:r>
              <a:rPr lang="en-US" sz="1950" b="1" dirty="0">
                <a:solidFill>
                  <a:srgbClr val="1F2A44"/>
                </a:solidFill>
                <a:latin typeface="Arial" pitchFamily="34" charset="0"/>
                <a:ea typeface="Arial" pitchFamily="34" charset="-122"/>
                <a:cs typeface="Arial" pitchFamily="34" charset="-120"/>
              </a:rPr>
              <a:t>AudioSet </a:t>
            </a:r>
            <a:pPr algn="l" indent="0" marL="0">
              <a:lnSpc>
                <a:spcPct val="135000"/>
              </a:lnSpc>
              <a:buNone/>
            </a:pPr>
            <a:r>
              <a:rPr lang="en-US" sz="1950" i="1" dirty="0">
                <a:solidFill>
                  <a:srgbClr val="5A6478"/>
                </a:solidFill>
                <a:latin typeface="Arial" pitchFamily="34" charset="0"/>
                <a:ea typeface="Arial" pitchFamily="34" charset="-122"/>
                <a:cs typeface="Arial" pitchFamily="34" charset="-120"/>
              </a:rPr>
              <a:t>, single-annotator captions. Note YouTube-encoding artifacts and uneven SNR.</a:t>
            </a:r>
            <a:endParaRPr lang="en-US" sz="1950" dirty="0"/>
          </a:p>
        </p:txBody>
      </p:sp>
      <p:sp>
        <p:nvSpPr>
          <p:cNvPr id="8" name="Shape 6"/>
          <p:cNvSpPr/>
          <p:nvPr/>
        </p:nvSpPr>
        <p:spPr>
          <a:xfrm>
            <a:off x="762000" y="2765822"/>
            <a:ext cx="5473601" cy="2518023"/>
          </a:xfrm>
          <a:prstGeom prst="roundRect">
            <a:avLst>
              <a:gd name="adj" fmla="val 2270"/>
            </a:avLst>
          </a:prstGeom>
          <a:solidFill>
            <a:srgbClr val="FFFFFF"/>
          </a:solidFill>
          <a:ln w="9525">
            <a:solidFill>
              <a:srgbClr val="E3E6EE"/>
            </a:solidFill>
            <a:prstDash val="solid"/>
          </a:ln>
        </p:spPr>
      </p:sp>
      <p:sp>
        <p:nvSpPr>
          <p:cNvPr id="9" name="Shape 7"/>
          <p:cNvSpPr/>
          <p:nvPr/>
        </p:nvSpPr>
        <p:spPr>
          <a:xfrm>
            <a:off x="771525" y="2775347"/>
            <a:ext cx="5454551" cy="2498973"/>
          </a:xfrm>
          <a:prstGeom prst="rect">
            <a:avLst/>
          </a:prstGeom>
          <a:solidFill>
            <a:srgbClr val="FFFFFF"/>
          </a:solidFill>
          <a:ln/>
        </p:spPr>
      </p:sp>
      <p:pic>
        <p:nvPicPr>
          <p:cNvPr id="10" name="Image 0" descr="preencoded.png">    </p:cNvPr>
          <p:cNvPicPr>
            <a:picLocks noChangeAspect="1"/>
          </p:cNvPicPr>
          <p:nvPr/>
        </p:nvPicPr>
        <p:blipFill>
          <a:blip r:embed="rId1"/>
          <a:srcRect l="0" r="0" t="0" b="0"/>
          <a:stretch/>
        </p:blipFill>
        <p:spPr>
          <a:xfrm>
            <a:off x="771525" y="2775347"/>
            <a:ext cx="5454551" cy="2498973"/>
          </a:xfrm>
          <a:prstGeom prst="rect">
            <a:avLst/>
          </a:prstGeom>
        </p:spPr>
      </p:pic>
      <p:sp>
        <p:nvSpPr>
          <p:cNvPr id="11" name="Shape 8"/>
          <p:cNvSpPr/>
          <p:nvPr/>
        </p:nvSpPr>
        <p:spPr>
          <a:xfrm>
            <a:off x="771525" y="5274320"/>
            <a:ext cx="5454551" cy="438150"/>
          </a:xfrm>
          <a:prstGeom prst="rect">
            <a:avLst/>
          </a:prstGeom>
          <a:solidFill>
            <a:srgbClr val="FBFBFD"/>
          </a:solidFill>
          <a:ln/>
        </p:spPr>
      </p:sp>
      <p:sp>
        <p:nvSpPr>
          <p:cNvPr id="12" name="Shape 9"/>
          <p:cNvSpPr/>
          <p:nvPr/>
        </p:nvSpPr>
        <p:spPr>
          <a:xfrm>
            <a:off x="771525" y="5274320"/>
            <a:ext cx="5454551" cy="9525"/>
          </a:xfrm>
          <a:prstGeom prst="rect">
            <a:avLst/>
          </a:prstGeom>
          <a:solidFill>
            <a:srgbClr val="EEF0F6"/>
          </a:solidFill>
          <a:ln/>
        </p:spPr>
      </p:sp>
      <p:sp>
        <p:nvSpPr>
          <p:cNvPr id="13" name="Text 10"/>
          <p:cNvSpPr/>
          <p:nvPr/>
        </p:nvSpPr>
        <p:spPr>
          <a:xfrm>
            <a:off x="904875" y="5360045"/>
            <a:ext cx="5351487"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7C8597"/>
                </a:solidFill>
                <a:latin typeface="Arial" pitchFamily="34" charset="0"/>
                <a:ea typeface="Arial" pitchFamily="34" charset="-122"/>
                <a:cs typeface="Arial" pitchFamily="34" charset="-120"/>
              </a:rPr>
              <a:t>"Rain is falling continuously."</a:t>
            </a:r>
            <a:endParaRPr lang="en-US" sz="1500" dirty="0"/>
          </a:p>
        </p:txBody>
      </p:sp>
      <p:sp>
        <p:nvSpPr>
          <p:cNvPr id="14" name="Shape 11"/>
          <p:cNvSpPr/>
          <p:nvPr/>
        </p:nvSpPr>
        <p:spPr>
          <a:xfrm>
            <a:off x="6407051" y="2765822"/>
            <a:ext cx="5473750" cy="2518023"/>
          </a:xfrm>
          <a:prstGeom prst="roundRect">
            <a:avLst>
              <a:gd name="adj" fmla="val 2270"/>
            </a:avLst>
          </a:prstGeom>
          <a:solidFill>
            <a:srgbClr val="FFFFFF"/>
          </a:solidFill>
          <a:ln w="9525">
            <a:solidFill>
              <a:srgbClr val="E3E6EE"/>
            </a:solidFill>
            <a:prstDash val="solid"/>
          </a:ln>
        </p:spPr>
      </p:sp>
      <p:sp>
        <p:nvSpPr>
          <p:cNvPr id="15" name="Shape 12"/>
          <p:cNvSpPr/>
          <p:nvPr/>
        </p:nvSpPr>
        <p:spPr>
          <a:xfrm>
            <a:off x="6416576" y="2775347"/>
            <a:ext cx="5454700" cy="2498973"/>
          </a:xfrm>
          <a:prstGeom prst="rect">
            <a:avLst/>
          </a:prstGeom>
          <a:solidFill>
            <a:srgbClr val="FFFFFF"/>
          </a:solidFill>
          <a:ln/>
        </p:spPr>
      </p:sp>
      <p:pic>
        <p:nvPicPr>
          <p:cNvPr id="16" name="Image 1" descr="preencoded.png">    </p:cNvPr>
          <p:cNvPicPr>
            <a:picLocks noChangeAspect="1"/>
          </p:cNvPicPr>
          <p:nvPr/>
        </p:nvPicPr>
        <p:blipFill>
          <a:blip r:embed="rId2"/>
          <a:srcRect l="0" r="0" t="0" b="0"/>
          <a:stretch/>
        </p:blipFill>
        <p:spPr>
          <a:xfrm>
            <a:off x="6416576" y="2775347"/>
            <a:ext cx="5454700" cy="2498973"/>
          </a:xfrm>
          <a:prstGeom prst="rect">
            <a:avLst/>
          </a:prstGeom>
        </p:spPr>
      </p:pic>
      <p:sp>
        <p:nvSpPr>
          <p:cNvPr id="17" name="Shape 13"/>
          <p:cNvSpPr/>
          <p:nvPr/>
        </p:nvSpPr>
        <p:spPr>
          <a:xfrm>
            <a:off x="6416576" y="5274320"/>
            <a:ext cx="5454700" cy="438150"/>
          </a:xfrm>
          <a:prstGeom prst="rect">
            <a:avLst/>
          </a:prstGeom>
          <a:solidFill>
            <a:srgbClr val="FBFBFD"/>
          </a:solidFill>
          <a:ln/>
        </p:spPr>
      </p:sp>
      <p:sp>
        <p:nvSpPr>
          <p:cNvPr id="18" name="Shape 14"/>
          <p:cNvSpPr/>
          <p:nvPr/>
        </p:nvSpPr>
        <p:spPr>
          <a:xfrm>
            <a:off x="6416576" y="5274320"/>
            <a:ext cx="5454700" cy="9525"/>
          </a:xfrm>
          <a:prstGeom prst="rect">
            <a:avLst/>
          </a:prstGeom>
          <a:solidFill>
            <a:srgbClr val="EEF0F6"/>
          </a:solidFill>
          <a:ln/>
        </p:spPr>
      </p:sp>
      <p:sp>
        <p:nvSpPr>
          <p:cNvPr id="19" name="Text 15"/>
          <p:cNvSpPr/>
          <p:nvPr/>
        </p:nvSpPr>
        <p:spPr>
          <a:xfrm>
            <a:off x="6549926" y="5360045"/>
            <a:ext cx="5351641"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7C8597"/>
                </a:solidFill>
                <a:latin typeface="Arial" pitchFamily="34" charset="0"/>
                <a:ea typeface="Arial" pitchFamily="34" charset="-122"/>
                <a:cs typeface="Arial" pitchFamily="34" charset="-120"/>
              </a:rPr>
              <a:t>"A man speaks as birds chirp and dogs bark."</a:t>
            </a:r>
            <a:endParaRPr lang="en-US" sz="1500" dirty="0"/>
          </a:p>
        </p:txBody>
      </p:sp>
      <p:sp>
        <p:nvSpPr>
          <p:cNvPr id="20" name="Shape 16"/>
          <p:cNvSpPr/>
          <p:nvPr/>
        </p:nvSpPr>
        <p:spPr>
          <a:xfrm>
            <a:off x="12052250" y="2765822"/>
            <a:ext cx="5473750" cy="2518023"/>
          </a:xfrm>
          <a:prstGeom prst="roundRect">
            <a:avLst>
              <a:gd name="adj" fmla="val 2270"/>
            </a:avLst>
          </a:prstGeom>
          <a:solidFill>
            <a:srgbClr val="FFFFFF"/>
          </a:solidFill>
          <a:ln w="9525">
            <a:solidFill>
              <a:srgbClr val="E3E6EE"/>
            </a:solidFill>
            <a:prstDash val="solid"/>
          </a:ln>
        </p:spPr>
      </p:sp>
      <p:sp>
        <p:nvSpPr>
          <p:cNvPr id="21" name="Shape 17"/>
          <p:cNvSpPr/>
          <p:nvPr/>
        </p:nvSpPr>
        <p:spPr>
          <a:xfrm>
            <a:off x="12061775" y="2775347"/>
            <a:ext cx="5454700" cy="2498973"/>
          </a:xfrm>
          <a:prstGeom prst="rect">
            <a:avLst/>
          </a:prstGeom>
          <a:solidFill>
            <a:srgbClr val="FFFFFF"/>
          </a:solidFill>
          <a:ln/>
        </p:spPr>
      </p:sp>
      <p:pic>
        <p:nvPicPr>
          <p:cNvPr id="22" name="Image 2" descr="preencoded.png">    </p:cNvPr>
          <p:cNvPicPr>
            <a:picLocks noChangeAspect="1"/>
          </p:cNvPicPr>
          <p:nvPr/>
        </p:nvPicPr>
        <p:blipFill>
          <a:blip r:embed="rId3"/>
          <a:srcRect l="0" r="0" t="0" b="0"/>
          <a:stretch/>
        </p:blipFill>
        <p:spPr>
          <a:xfrm>
            <a:off x="12061775" y="2775347"/>
            <a:ext cx="5454700" cy="2498973"/>
          </a:xfrm>
          <a:prstGeom prst="rect">
            <a:avLst/>
          </a:prstGeom>
        </p:spPr>
      </p:pic>
      <p:sp>
        <p:nvSpPr>
          <p:cNvPr id="23" name="Shape 18"/>
          <p:cNvSpPr/>
          <p:nvPr/>
        </p:nvSpPr>
        <p:spPr>
          <a:xfrm>
            <a:off x="12061775" y="5274320"/>
            <a:ext cx="5454700" cy="714375"/>
          </a:xfrm>
          <a:prstGeom prst="rect">
            <a:avLst/>
          </a:prstGeom>
          <a:solidFill>
            <a:srgbClr val="FBFBFD"/>
          </a:solidFill>
          <a:ln/>
        </p:spPr>
      </p:sp>
      <p:sp>
        <p:nvSpPr>
          <p:cNvPr id="24" name="Shape 19"/>
          <p:cNvSpPr/>
          <p:nvPr/>
        </p:nvSpPr>
        <p:spPr>
          <a:xfrm>
            <a:off x="12061775" y="5274320"/>
            <a:ext cx="5454700" cy="9525"/>
          </a:xfrm>
          <a:prstGeom prst="rect">
            <a:avLst/>
          </a:prstGeom>
          <a:solidFill>
            <a:srgbClr val="EEF0F6"/>
          </a:solidFill>
          <a:ln/>
        </p:spPr>
      </p:sp>
      <p:sp>
        <p:nvSpPr>
          <p:cNvPr id="25" name="Text 20"/>
          <p:cNvSpPr/>
          <p:nvPr/>
        </p:nvSpPr>
        <p:spPr>
          <a:xfrm>
            <a:off x="12195125" y="5360045"/>
            <a:ext cx="5351641"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7C8597"/>
                </a:solidFill>
                <a:latin typeface="Arial" pitchFamily="34" charset="0"/>
                <a:ea typeface="Arial" pitchFamily="34" charset="-122"/>
                <a:cs typeface="Arial" pitchFamily="34" charset="-120"/>
              </a:rPr>
              <a:t>"A man talking as a stream of water trickles in the background."</a:t>
            </a:r>
            <a:endParaRPr lang="en-US" sz="1500" dirty="0"/>
          </a:p>
        </p:txBody>
      </p:sp>
      <p:sp>
        <p:nvSpPr>
          <p:cNvPr id="26" name="Shape 21"/>
          <p:cNvSpPr/>
          <p:nvPr/>
        </p:nvSpPr>
        <p:spPr>
          <a:xfrm>
            <a:off x="762000" y="5455295"/>
            <a:ext cx="5473601" cy="4145905"/>
          </a:xfrm>
          <a:prstGeom prst="roundRect">
            <a:avLst>
              <a:gd name="adj" fmla="val 1378"/>
            </a:avLst>
          </a:prstGeom>
          <a:solidFill>
            <a:srgbClr val="FFFFFF"/>
          </a:solidFill>
          <a:ln w="9525">
            <a:solidFill>
              <a:srgbClr val="E3E6EE"/>
            </a:solidFill>
            <a:prstDash val="solid"/>
          </a:ln>
        </p:spPr>
      </p:sp>
      <p:sp>
        <p:nvSpPr>
          <p:cNvPr id="27" name="Shape 22"/>
          <p:cNvSpPr/>
          <p:nvPr/>
        </p:nvSpPr>
        <p:spPr>
          <a:xfrm>
            <a:off x="771525" y="5464820"/>
            <a:ext cx="5454551" cy="3412480"/>
          </a:xfrm>
          <a:prstGeom prst="rect">
            <a:avLst/>
          </a:prstGeom>
          <a:solidFill>
            <a:srgbClr val="FFFFFF"/>
          </a:solidFill>
          <a:ln/>
        </p:spPr>
      </p:sp>
      <p:pic>
        <p:nvPicPr>
          <p:cNvPr id="28" name="Image 3" descr="preencoded.png">    </p:cNvPr>
          <p:cNvPicPr>
            <a:picLocks noChangeAspect="1"/>
          </p:cNvPicPr>
          <p:nvPr/>
        </p:nvPicPr>
        <p:blipFill>
          <a:blip r:embed="rId4"/>
          <a:srcRect l="0" r="0" t="0" b="0"/>
          <a:stretch/>
        </p:blipFill>
        <p:spPr>
          <a:xfrm>
            <a:off x="771525" y="5464820"/>
            <a:ext cx="5454551" cy="3412480"/>
          </a:xfrm>
          <a:prstGeom prst="rect">
            <a:avLst/>
          </a:prstGeom>
        </p:spPr>
      </p:pic>
      <p:sp>
        <p:nvSpPr>
          <p:cNvPr id="29" name="Shape 23"/>
          <p:cNvSpPr/>
          <p:nvPr/>
        </p:nvSpPr>
        <p:spPr>
          <a:xfrm>
            <a:off x="771525" y="8877300"/>
            <a:ext cx="5454551" cy="714375"/>
          </a:xfrm>
          <a:prstGeom prst="rect">
            <a:avLst/>
          </a:prstGeom>
          <a:solidFill>
            <a:srgbClr val="FBFBFD"/>
          </a:solidFill>
          <a:ln/>
        </p:spPr>
      </p:sp>
      <p:sp>
        <p:nvSpPr>
          <p:cNvPr id="30" name="Shape 24"/>
          <p:cNvSpPr/>
          <p:nvPr/>
        </p:nvSpPr>
        <p:spPr>
          <a:xfrm>
            <a:off x="771525" y="8877300"/>
            <a:ext cx="5454551" cy="9525"/>
          </a:xfrm>
          <a:prstGeom prst="rect">
            <a:avLst/>
          </a:prstGeom>
          <a:solidFill>
            <a:srgbClr val="EEF0F6"/>
          </a:solidFill>
          <a:ln/>
        </p:spPr>
      </p:sp>
      <p:sp>
        <p:nvSpPr>
          <p:cNvPr id="31" name="Text 25"/>
          <p:cNvSpPr/>
          <p:nvPr/>
        </p:nvSpPr>
        <p:spPr>
          <a:xfrm>
            <a:off x="904875" y="8963025"/>
            <a:ext cx="5351487"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7C8597"/>
                </a:solidFill>
                <a:latin typeface="Arial" pitchFamily="34" charset="0"/>
                <a:ea typeface="Arial" pitchFamily="34" charset="-122"/>
                <a:cs typeface="Arial" pitchFamily="34" charset="-120"/>
              </a:rPr>
              <a:t>"A rocket flies by followed by a loud explosion and fire crackling as a truck engine runs idle."</a:t>
            </a:r>
            <a:endParaRPr lang="en-US" sz="1500" dirty="0"/>
          </a:p>
        </p:txBody>
      </p:sp>
      <p:sp>
        <p:nvSpPr>
          <p:cNvPr id="32" name="Shape 26"/>
          <p:cNvSpPr/>
          <p:nvPr/>
        </p:nvSpPr>
        <p:spPr>
          <a:xfrm>
            <a:off x="6407051" y="5455295"/>
            <a:ext cx="5473750" cy="4145905"/>
          </a:xfrm>
          <a:prstGeom prst="roundRect">
            <a:avLst>
              <a:gd name="adj" fmla="val 1378"/>
            </a:avLst>
          </a:prstGeom>
          <a:solidFill>
            <a:srgbClr val="FFFFFF"/>
          </a:solidFill>
          <a:ln w="9525">
            <a:solidFill>
              <a:srgbClr val="E3E6EE"/>
            </a:solidFill>
            <a:prstDash val="solid"/>
          </a:ln>
        </p:spPr>
      </p:sp>
      <p:sp>
        <p:nvSpPr>
          <p:cNvPr id="33" name="Shape 27"/>
          <p:cNvSpPr/>
          <p:nvPr/>
        </p:nvSpPr>
        <p:spPr>
          <a:xfrm>
            <a:off x="6416576" y="5464820"/>
            <a:ext cx="5454700" cy="3412480"/>
          </a:xfrm>
          <a:prstGeom prst="rect">
            <a:avLst/>
          </a:prstGeom>
          <a:solidFill>
            <a:srgbClr val="FFFFFF"/>
          </a:solidFill>
          <a:ln/>
        </p:spPr>
      </p:sp>
      <p:pic>
        <p:nvPicPr>
          <p:cNvPr id="34" name="Image 4" descr="preencoded.png">    </p:cNvPr>
          <p:cNvPicPr>
            <a:picLocks noChangeAspect="1"/>
          </p:cNvPicPr>
          <p:nvPr/>
        </p:nvPicPr>
        <p:blipFill>
          <a:blip r:embed="rId5"/>
          <a:srcRect l="0" r="0" t="0" b="0"/>
          <a:stretch/>
        </p:blipFill>
        <p:spPr>
          <a:xfrm>
            <a:off x="6416576" y="5464820"/>
            <a:ext cx="5454700" cy="3412480"/>
          </a:xfrm>
          <a:prstGeom prst="rect">
            <a:avLst/>
          </a:prstGeom>
        </p:spPr>
      </p:pic>
      <p:sp>
        <p:nvSpPr>
          <p:cNvPr id="35" name="Shape 28"/>
          <p:cNvSpPr/>
          <p:nvPr/>
        </p:nvSpPr>
        <p:spPr>
          <a:xfrm>
            <a:off x="6416576" y="8877300"/>
            <a:ext cx="5454700" cy="714375"/>
          </a:xfrm>
          <a:prstGeom prst="rect">
            <a:avLst/>
          </a:prstGeom>
          <a:solidFill>
            <a:srgbClr val="FBFBFD"/>
          </a:solidFill>
          <a:ln/>
        </p:spPr>
      </p:sp>
      <p:sp>
        <p:nvSpPr>
          <p:cNvPr id="36" name="Shape 29"/>
          <p:cNvSpPr/>
          <p:nvPr/>
        </p:nvSpPr>
        <p:spPr>
          <a:xfrm>
            <a:off x="6416576" y="8877300"/>
            <a:ext cx="5454700" cy="9525"/>
          </a:xfrm>
          <a:prstGeom prst="rect">
            <a:avLst/>
          </a:prstGeom>
          <a:solidFill>
            <a:srgbClr val="EEF0F6"/>
          </a:solidFill>
          <a:ln/>
        </p:spPr>
      </p:sp>
      <p:sp>
        <p:nvSpPr>
          <p:cNvPr id="37" name="Text 30"/>
          <p:cNvSpPr/>
          <p:nvPr/>
        </p:nvSpPr>
        <p:spPr>
          <a:xfrm>
            <a:off x="6549926" y="8963025"/>
            <a:ext cx="5351641"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7C8597"/>
                </a:solidFill>
                <a:latin typeface="Arial" pitchFamily="34" charset="0"/>
                <a:ea typeface="Arial" pitchFamily="34" charset="-122"/>
                <a:cs typeface="Arial" pitchFamily="34" charset="-120"/>
              </a:rPr>
              <a:t>"Music and a man speaking followed by bleeps and someone singing."</a:t>
            </a:r>
            <a:endParaRPr lang="en-US" sz="1500" dirty="0"/>
          </a:p>
        </p:txBody>
      </p:sp>
      <p:sp>
        <p:nvSpPr>
          <p:cNvPr id="38" name="Shape 31"/>
          <p:cNvSpPr/>
          <p:nvPr/>
        </p:nvSpPr>
        <p:spPr>
          <a:xfrm>
            <a:off x="12052250" y="5455295"/>
            <a:ext cx="5473750" cy="4145905"/>
          </a:xfrm>
          <a:prstGeom prst="roundRect">
            <a:avLst>
              <a:gd name="adj" fmla="val 1378"/>
            </a:avLst>
          </a:prstGeom>
          <a:solidFill>
            <a:srgbClr val="F6E2DF"/>
          </a:solidFill>
          <a:ln/>
        </p:spPr>
      </p:sp>
      <p:sp>
        <p:nvSpPr>
          <p:cNvPr id="39" name="Text 32"/>
          <p:cNvSpPr/>
          <p:nvPr/>
        </p:nvSpPr>
        <p:spPr>
          <a:xfrm>
            <a:off x="12280850" y="6867823"/>
            <a:ext cx="5167046"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spc="270" kern="0" dirty="0">
                <a:solidFill>
                  <a:srgbClr val="C25A4F"/>
                </a:solidFill>
                <a:latin typeface="Arial" pitchFamily="34" charset="0"/>
                <a:ea typeface="Arial" pitchFamily="34" charset="-122"/>
                <a:cs typeface="Arial" pitchFamily="34" charset="-120"/>
              </a:rPr>
              <a:t>WHY THIS MATTERS</a:t>
            </a:r>
            <a:endParaRPr lang="en-US" sz="1500" dirty="0"/>
          </a:p>
        </p:txBody>
      </p:sp>
      <p:sp>
        <p:nvSpPr>
          <p:cNvPr id="40" name="Text 33"/>
          <p:cNvSpPr/>
          <p:nvPr/>
        </p:nvSpPr>
        <p:spPr>
          <a:xfrm>
            <a:off x="12280850" y="7277398"/>
            <a:ext cx="5167046" cy="949375"/>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1F2A44"/>
                </a:solidFill>
                <a:latin typeface="Arial" pitchFamily="34" charset="0"/>
                <a:ea typeface="Arial" pitchFamily="34" charset="-122"/>
                <a:cs typeface="Arial" pitchFamily="34" charset="-120"/>
              </a:rPr>
              <a:t>Captions are </a:t>
            </a:r>
            <a:pPr algn="l" indent="0" marL="0">
              <a:lnSpc>
                <a:spcPct val="145000"/>
              </a:lnSpc>
              <a:buNone/>
            </a:pPr>
            <a:r>
              <a:rPr lang="en-US" sz="1650" b="1" dirty="0">
                <a:solidFill>
                  <a:srgbClr val="1F2A44"/>
                </a:solidFill>
                <a:latin typeface="Arial" pitchFamily="34" charset="0"/>
                <a:ea typeface="Arial" pitchFamily="34" charset="-122"/>
                <a:cs typeface="Arial" pitchFamily="34" charset="-120"/>
              </a:rPr>
              <a:t>single-annotator </a:t>
            </a:r>
            <a:pPr algn="l" indent="0" marL="0">
              <a:lnSpc>
                <a:spcPct val="145000"/>
              </a:lnSpc>
              <a:buNone/>
            </a:pPr>
            <a:r>
              <a:rPr lang="en-US" sz="1650" dirty="0">
                <a:solidFill>
                  <a:srgbClr val="1F2A44"/>
                </a:solidFill>
                <a:latin typeface="Arial" pitchFamily="34" charset="0"/>
                <a:ea typeface="Arial" pitchFamily="34" charset="-122"/>
                <a:cs typeface="Arial" pitchFamily="34" charset="-120"/>
              </a:rPr>
              <a:t>— one of the three reasons </a:t>
            </a:r>
            <a:pPr algn="l" indent="0" marL="0">
              <a:lnSpc>
                <a:spcPct val="145000"/>
              </a:lnSpc>
              <a:buNone/>
            </a:pPr>
            <a:r>
              <a:rPr lang="en-US" sz="1650" b="1" dirty="0">
                <a:solidFill>
                  <a:srgbClr val="1F2A44"/>
                </a:solidFill>
                <a:latin typeface="Arial" pitchFamily="34" charset="0"/>
                <a:ea typeface="Arial" pitchFamily="34" charset="-122"/>
                <a:cs typeface="Arial" pitchFamily="34" charset="-120"/>
              </a:rPr>
              <a:t>Clotho (5 captions per clip) </a:t>
            </a:r>
            <a:pPr algn="l" indent="0" marL="0">
              <a:lnSpc>
                <a:spcPct val="145000"/>
              </a:lnSpc>
              <a:buNone/>
            </a:pPr>
            <a:r>
              <a:rPr lang="en-US" sz="1650" dirty="0">
                <a:solidFill>
                  <a:srgbClr val="1F2A44"/>
                </a:solidFill>
                <a:latin typeface="Arial" pitchFamily="34" charset="0"/>
                <a:ea typeface="Arial" pitchFamily="34" charset="-122"/>
                <a:cs typeface="Arial" pitchFamily="34" charset="-120"/>
              </a:rPr>
              <a:t>is preferred for a clean zero-shot benchmark.</a:t>
            </a:r>
            <a:endParaRPr lang="en-US" sz="1650" dirty="0"/>
          </a:p>
        </p:txBody>
      </p:sp>
      <p:sp>
        <p:nvSpPr>
          <p:cNvPr id="41" name="Text 34"/>
          <p:cNvSpPr/>
          <p:nvPr/>
        </p:nvSpPr>
        <p:spPr>
          <a:xfrm>
            <a:off x="762000" y="9725025"/>
            <a:ext cx="3439128"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spc="30" kern="0" dirty="0">
                <a:solidFill>
                  <a:srgbClr val="7C8597"/>
                </a:solidFill>
                <a:latin typeface="Arial" pitchFamily="34" charset="0"/>
                <a:ea typeface="Arial" pitchFamily="34" charset="-122"/>
                <a:cs typeface="Arial" pitchFamily="34" charset="-120"/>
              </a:rPr>
              <a:t>Zuraiz · P2 · 2026-05-18 · Appendix A</a:t>
            </a:r>
            <a:endParaRPr lang="en-US" sz="1500" dirty="0"/>
          </a:p>
        </p:txBody>
      </p:sp>
      <p:sp>
        <p:nvSpPr>
          <p:cNvPr id="42" name="Text 35"/>
          <p:cNvSpPr/>
          <p:nvPr/>
        </p:nvSpPr>
        <p:spPr>
          <a:xfrm>
            <a:off x="16152912" y="9725025"/>
            <a:ext cx="1449288"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spc="30" kern="0" dirty="0">
                <a:solidFill>
                  <a:srgbClr val="7C8597"/>
                </a:solidFill>
                <a:latin typeface="Arial" pitchFamily="34" charset="0"/>
                <a:ea typeface="Arial" pitchFamily="34" charset="-122"/>
                <a:cs typeface="Arial" pitchFamily="34" charset="-120"/>
              </a:rPr>
              <a:t>A1 — Q&amp;A only</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7183100" y="419100"/>
            <a:ext cx="342900" cy="19050"/>
          </a:xfrm>
          <a:prstGeom prst="rect">
            <a:avLst/>
          </a:prstGeom>
          <a:solidFill>
            <a:srgbClr val="1F2A44"/>
          </a:solidFill>
          <a:ln/>
        </p:spPr>
      </p:sp>
      <p:sp>
        <p:nvSpPr>
          <p:cNvPr id="3" name="Shape 1"/>
          <p:cNvSpPr/>
          <p:nvPr/>
        </p:nvSpPr>
        <p:spPr>
          <a:xfrm>
            <a:off x="17297400" y="495300"/>
            <a:ext cx="228600" cy="19050"/>
          </a:xfrm>
          <a:prstGeom prst="rect">
            <a:avLst/>
          </a:prstGeom>
          <a:solidFill>
            <a:srgbClr val="1F2A44"/>
          </a:solidFill>
          <a:ln/>
        </p:spPr>
      </p:sp>
      <p:sp>
        <p:nvSpPr>
          <p:cNvPr id="4" name="Shape 2"/>
          <p:cNvSpPr/>
          <p:nvPr/>
        </p:nvSpPr>
        <p:spPr>
          <a:xfrm>
            <a:off x="17392650" y="571500"/>
            <a:ext cx="133350" cy="19050"/>
          </a:xfrm>
          <a:prstGeom prst="rect">
            <a:avLst/>
          </a:prstGeom>
          <a:solidFill>
            <a:srgbClr val="1F2A44"/>
          </a:solidFill>
          <a:ln/>
        </p:spPr>
      </p:sp>
      <p:sp>
        <p:nvSpPr>
          <p:cNvPr id="5" name="Text 3"/>
          <p:cNvSpPr/>
          <p:nvPr/>
        </p:nvSpPr>
        <p:spPr>
          <a:xfrm>
            <a:off x="762000" y="685800"/>
            <a:ext cx="17266920"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b="1" spc="270" kern="0" dirty="0">
                <a:solidFill>
                  <a:srgbClr val="C25A4F"/>
                </a:solidFill>
                <a:latin typeface="Arial" pitchFamily="34" charset="0"/>
                <a:ea typeface="Arial" pitchFamily="34" charset="-122"/>
                <a:cs typeface="Arial" pitchFamily="34" charset="-120"/>
              </a:rPr>
              <a:t>APPENDIX B · Q&amp;A ONLY</a:t>
            </a:r>
            <a:endParaRPr lang="en-US" sz="1500" dirty="0"/>
          </a:p>
        </p:txBody>
      </p:sp>
      <p:sp>
        <p:nvSpPr>
          <p:cNvPr id="6" name="Text 4"/>
          <p:cNvSpPr/>
          <p:nvPr/>
        </p:nvSpPr>
        <p:spPr>
          <a:xfrm>
            <a:off x="762000" y="1114425"/>
            <a:ext cx="17266920" cy="582811"/>
          </a:xfrm>
          <a:prstGeom prst="rect">
            <a:avLst/>
          </a:prstGeom>
          <a:noFill/>
          <a:ln/>
        </p:spPr>
        <p:txBody>
          <a:bodyPr wrap="square" lIns="25400" tIns="25400" rIns="25400" bIns="25400" rtlCol="0" anchor="t">
            <a:normAutofit/>
          </a:bodyPr>
          <a:lstStyle/>
          <a:p>
            <a:pPr algn="l" indent="0" marL="0">
              <a:lnSpc>
                <a:spcPct val="110000"/>
              </a:lnSpc>
              <a:buNone/>
            </a:pPr>
            <a:r>
              <a:rPr lang="en-US" sz="3900" b="1" spc="-58" kern="0" dirty="0">
                <a:solidFill>
                  <a:srgbClr val="1F2A44"/>
                </a:solidFill>
                <a:latin typeface="Arial" pitchFamily="34" charset="0"/>
                <a:ea typeface="Arial" pitchFamily="34" charset="-122"/>
                <a:cs typeface="Arial" pitchFamily="34" charset="-120"/>
              </a:rPr>
              <a:t>WavCaps </a:t>
            </a:r>
            <a:pPr algn="l" indent="0" marL="0">
              <a:lnSpc>
                <a:spcPct val="110000"/>
              </a:lnSpc>
              <a:buNone/>
            </a:pPr>
            <a:r>
              <a:rPr lang="en-US" sz="3900" spc="-58" kern="0" dirty="0">
                <a:solidFill>
                  <a:srgbClr val="5A6478"/>
                </a:solidFill>
                <a:latin typeface="Arial" pitchFamily="34" charset="0"/>
                <a:ea typeface="Arial" pitchFamily="34" charset="-122"/>
                <a:cs typeface="Arial" pitchFamily="34" charset="-120"/>
              </a:rPr>
              <a:t>— SoundBible subset, six clips</a:t>
            </a:r>
            <a:endParaRPr lang="en-US" sz="3900" dirty="0"/>
          </a:p>
        </p:txBody>
      </p:sp>
      <p:sp>
        <p:nvSpPr>
          <p:cNvPr id="7" name="Text 5"/>
          <p:cNvSpPr/>
          <p:nvPr/>
        </p:nvSpPr>
        <p:spPr>
          <a:xfrm>
            <a:off x="762000" y="1830586"/>
            <a:ext cx="14225588" cy="706636"/>
          </a:xfrm>
          <a:prstGeom prst="rect">
            <a:avLst/>
          </a:prstGeom>
          <a:noFill/>
          <a:ln/>
        </p:spPr>
        <p:txBody>
          <a:bodyPr wrap="square" lIns="25400" tIns="25400" rIns="25400" bIns="25400" rtlCol="0" anchor="t">
            <a:normAutofit/>
          </a:bodyPr>
          <a:lstStyle/>
          <a:p>
            <a:pPr algn="l" indent="0" marL="0">
              <a:lnSpc>
                <a:spcPct val="135000"/>
              </a:lnSpc>
              <a:buNone/>
            </a:pPr>
            <a:r>
              <a:rPr lang="en-US" sz="1950" i="1" dirty="0">
                <a:solidFill>
                  <a:srgbClr val="5A6478"/>
                </a:solidFill>
                <a:latin typeface="Arial" pitchFamily="34" charset="0"/>
                <a:ea typeface="Arial" pitchFamily="34" charset="-122"/>
                <a:cs typeface="Arial" pitchFamily="34" charset="-120"/>
              </a:rPr>
              <a:t>Shown only if asked. WavCaps = 400K-clip web-scraped corpus over four sub-sources (AudioSet_SL · BBC Sound Effects · FreeSound · SoundBible). SoundBible is the most curated subset.</a:t>
            </a:r>
            <a:endParaRPr lang="en-US" sz="1950" dirty="0"/>
          </a:p>
        </p:txBody>
      </p:sp>
      <p:sp>
        <p:nvSpPr>
          <p:cNvPr id="8" name="Shape 6"/>
          <p:cNvSpPr/>
          <p:nvPr/>
        </p:nvSpPr>
        <p:spPr>
          <a:xfrm>
            <a:off x="762000" y="2765822"/>
            <a:ext cx="5473601" cy="2761506"/>
          </a:xfrm>
          <a:prstGeom prst="roundRect">
            <a:avLst>
              <a:gd name="adj" fmla="val 2070"/>
            </a:avLst>
          </a:prstGeom>
          <a:solidFill>
            <a:srgbClr val="FFFFFF"/>
          </a:solidFill>
          <a:ln w="9525">
            <a:solidFill>
              <a:srgbClr val="E3E6EE"/>
            </a:solidFill>
            <a:prstDash val="solid"/>
          </a:ln>
        </p:spPr>
      </p:sp>
      <p:sp>
        <p:nvSpPr>
          <p:cNvPr id="9" name="Shape 7"/>
          <p:cNvSpPr/>
          <p:nvPr/>
        </p:nvSpPr>
        <p:spPr>
          <a:xfrm>
            <a:off x="771525" y="2775347"/>
            <a:ext cx="5454551" cy="2742456"/>
          </a:xfrm>
          <a:prstGeom prst="rect">
            <a:avLst/>
          </a:prstGeom>
          <a:solidFill>
            <a:srgbClr val="FFFFFF"/>
          </a:solidFill>
          <a:ln/>
        </p:spPr>
      </p:sp>
      <p:pic>
        <p:nvPicPr>
          <p:cNvPr id="10" name="Image 0" descr="preencoded.png">    </p:cNvPr>
          <p:cNvPicPr>
            <a:picLocks noChangeAspect="1"/>
          </p:cNvPicPr>
          <p:nvPr/>
        </p:nvPicPr>
        <p:blipFill>
          <a:blip r:embed="rId1"/>
          <a:srcRect l="0" r="0" t="0" b="0"/>
          <a:stretch/>
        </p:blipFill>
        <p:spPr>
          <a:xfrm>
            <a:off x="771525" y="2775347"/>
            <a:ext cx="5454551" cy="2742456"/>
          </a:xfrm>
          <a:prstGeom prst="rect">
            <a:avLst/>
          </a:prstGeom>
        </p:spPr>
      </p:pic>
      <p:sp>
        <p:nvSpPr>
          <p:cNvPr id="11" name="Shape 8"/>
          <p:cNvSpPr/>
          <p:nvPr/>
        </p:nvSpPr>
        <p:spPr>
          <a:xfrm>
            <a:off x="771525" y="5517803"/>
            <a:ext cx="5454551" cy="438150"/>
          </a:xfrm>
          <a:prstGeom prst="rect">
            <a:avLst/>
          </a:prstGeom>
          <a:solidFill>
            <a:srgbClr val="FBFBFD"/>
          </a:solidFill>
          <a:ln/>
        </p:spPr>
      </p:sp>
      <p:sp>
        <p:nvSpPr>
          <p:cNvPr id="12" name="Shape 9"/>
          <p:cNvSpPr/>
          <p:nvPr/>
        </p:nvSpPr>
        <p:spPr>
          <a:xfrm>
            <a:off x="771525" y="5517803"/>
            <a:ext cx="5454551" cy="9525"/>
          </a:xfrm>
          <a:prstGeom prst="rect">
            <a:avLst/>
          </a:prstGeom>
          <a:solidFill>
            <a:srgbClr val="EEF0F6"/>
          </a:solidFill>
          <a:ln/>
        </p:spPr>
      </p:sp>
      <p:sp>
        <p:nvSpPr>
          <p:cNvPr id="13" name="Text 10"/>
          <p:cNvSpPr/>
          <p:nvPr/>
        </p:nvSpPr>
        <p:spPr>
          <a:xfrm>
            <a:off x="904875" y="5603528"/>
            <a:ext cx="5351487"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7C8597"/>
                </a:solidFill>
                <a:latin typeface="Arial" pitchFamily="34" charset="0"/>
                <a:ea typeface="Arial" pitchFamily="34" charset="-122"/>
                <a:cs typeface="Arial" pitchFamily="34" charset="-120"/>
              </a:rPr>
              <a:t>"Light rain and crickets at sunset."</a:t>
            </a:r>
            <a:endParaRPr lang="en-US" sz="1500" dirty="0"/>
          </a:p>
        </p:txBody>
      </p:sp>
      <p:sp>
        <p:nvSpPr>
          <p:cNvPr id="14" name="Shape 11"/>
          <p:cNvSpPr/>
          <p:nvPr/>
        </p:nvSpPr>
        <p:spPr>
          <a:xfrm>
            <a:off x="6407051" y="2765822"/>
            <a:ext cx="5473750" cy="2761506"/>
          </a:xfrm>
          <a:prstGeom prst="roundRect">
            <a:avLst>
              <a:gd name="adj" fmla="val 2070"/>
            </a:avLst>
          </a:prstGeom>
          <a:solidFill>
            <a:srgbClr val="FFFFFF"/>
          </a:solidFill>
          <a:ln w="9525">
            <a:solidFill>
              <a:srgbClr val="E3E6EE"/>
            </a:solidFill>
            <a:prstDash val="solid"/>
          </a:ln>
        </p:spPr>
      </p:sp>
      <p:sp>
        <p:nvSpPr>
          <p:cNvPr id="15" name="Shape 12"/>
          <p:cNvSpPr/>
          <p:nvPr/>
        </p:nvSpPr>
        <p:spPr>
          <a:xfrm>
            <a:off x="6416576" y="2775347"/>
            <a:ext cx="5454700" cy="2742456"/>
          </a:xfrm>
          <a:prstGeom prst="rect">
            <a:avLst/>
          </a:prstGeom>
          <a:solidFill>
            <a:srgbClr val="FFFFFF"/>
          </a:solidFill>
          <a:ln/>
        </p:spPr>
      </p:sp>
      <p:pic>
        <p:nvPicPr>
          <p:cNvPr id="16" name="Image 1" descr="preencoded.png">    </p:cNvPr>
          <p:cNvPicPr>
            <a:picLocks noChangeAspect="1"/>
          </p:cNvPicPr>
          <p:nvPr/>
        </p:nvPicPr>
        <p:blipFill>
          <a:blip r:embed="rId2"/>
          <a:srcRect l="0" r="0" t="0" b="0"/>
          <a:stretch/>
        </p:blipFill>
        <p:spPr>
          <a:xfrm>
            <a:off x="6416576" y="2775347"/>
            <a:ext cx="5454700" cy="2742456"/>
          </a:xfrm>
          <a:prstGeom prst="rect">
            <a:avLst/>
          </a:prstGeom>
        </p:spPr>
      </p:pic>
      <p:sp>
        <p:nvSpPr>
          <p:cNvPr id="17" name="Shape 13"/>
          <p:cNvSpPr/>
          <p:nvPr/>
        </p:nvSpPr>
        <p:spPr>
          <a:xfrm>
            <a:off x="6416576" y="5517803"/>
            <a:ext cx="5454700" cy="438150"/>
          </a:xfrm>
          <a:prstGeom prst="rect">
            <a:avLst/>
          </a:prstGeom>
          <a:solidFill>
            <a:srgbClr val="FBFBFD"/>
          </a:solidFill>
          <a:ln/>
        </p:spPr>
      </p:sp>
      <p:sp>
        <p:nvSpPr>
          <p:cNvPr id="18" name="Shape 14"/>
          <p:cNvSpPr/>
          <p:nvPr/>
        </p:nvSpPr>
        <p:spPr>
          <a:xfrm>
            <a:off x="6416576" y="5517803"/>
            <a:ext cx="5454700" cy="9525"/>
          </a:xfrm>
          <a:prstGeom prst="rect">
            <a:avLst/>
          </a:prstGeom>
          <a:solidFill>
            <a:srgbClr val="EEF0F6"/>
          </a:solidFill>
          <a:ln/>
        </p:spPr>
      </p:sp>
      <p:sp>
        <p:nvSpPr>
          <p:cNvPr id="19" name="Text 15"/>
          <p:cNvSpPr/>
          <p:nvPr/>
        </p:nvSpPr>
        <p:spPr>
          <a:xfrm>
            <a:off x="6549926" y="5603528"/>
            <a:ext cx="5351641"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7C8597"/>
                </a:solidFill>
                <a:latin typeface="Arial" pitchFamily="34" charset="0"/>
                <a:ea typeface="Arial" pitchFamily="34" charset="-122"/>
                <a:cs typeface="Arial" pitchFamily="34" charset="-120"/>
              </a:rPr>
              <a:t>"A dog is barking."</a:t>
            </a:r>
            <a:endParaRPr lang="en-US" sz="1500" dirty="0"/>
          </a:p>
        </p:txBody>
      </p:sp>
      <p:sp>
        <p:nvSpPr>
          <p:cNvPr id="20" name="Shape 16"/>
          <p:cNvSpPr/>
          <p:nvPr/>
        </p:nvSpPr>
        <p:spPr>
          <a:xfrm>
            <a:off x="12052250" y="2765822"/>
            <a:ext cx="5473750" cy="2761506"/>
          </a:xfrm>
          <a:prstGeom prst="roundRect">
            <a:avLst>
              <a:gd name="adj" fmla="val 2070"/>
            </a:avLst>
          </a:prstGeom>
          <a:solidFill>
            <a:srgbClr val="FFFFFF"/>
          </a:solidFill>
          <a:ln w="9525">
            <a:solidFill>
              <a:srgbClr val="E3E6EE"/>
            </a:solidFill>
            <a:prstDash val="solid"/>
          </a:ln>
        </p:spPr>
      </p:sp>
      <p:sp>
        <p:nvSpPr>
          <p:cNvPr id="21" name="Shape 17"/>
          <p:cNvSpPr/>
          <p:nvPr/>
        </p:nvSpPr>
        <p:spPr>
          <a:xfrm>
            <a:off x="12061775" y="2775347"/>
            <a:ext cx="5454700" cy="2742456"/>
          </a:xfrm>
          <a:prstGeom prst="rect">
            <a:avLst/>
          </a:prstGeom>
          <a:solidFill>
            <a:srgbClr val="FFFFFF"/>
          </a:solidFill>
          <a:ln/>
        </p:spPr>
      </p:sp>
      <p:pic>
        <p:nvPicPr>
          <p:cNvPr id="22" name="Image 2" descr="preencoded.png">    </p:cNvPr>
          <p:cNvPicPr>
            <a:picLocks noChangeAspect="1"/>
          </p:cNvPicPr>
          <p:nvPr/>
        </p:nvPicPr>
        <p:blipFill>
          <a:blip r:embed="rId3"/>
          <a:srcRect l="0" r="0" t="0" b="0"/>
          <a:stretch/>
        </p:blipFill>
        <p:spPr>
          <a:xfrm>
            <a:off x="12061775" y="2775347"/>
            <a:ext cx="5454700" cy="2742456"/>
          </a:xfrm>
          <a:prstGeom prst="rect">
            <a:avLst/>
          </a:prstGeom>
        </p:spPr>
      </p:pic>
      <p:sp>
        <p:nvSpPr>
          <p:cNvPr id="23" name="Shape 18"/>
          <p:cNvSpPr/>
          <p:nvPr/>
        </p:nvSpPr>
        <p:spPr>
          <a:xfrm>
            <a:off x="12061775" y="5517803"/>
            <a:ext cx="5454700" cy="438150"/>
          </a:xfrm>
          <a:prstGeom prst="rect">
            <a:avLst/>
          </a:prstGeom>
          <a:solidFill>
            <a:srgbClr val="FBFBFD"/>
          </a:solidFill>
          <a:ln/>
        </p:spPr>
      </p:sp>
      <p:sp>
        <p:nvSpPr>
          <p:cNvPr id="24" name="Shape 19"/>
          <p:cNvSpPr/>
          <p:nvPr/>
        </p:nvSpPr>
        <p:spPr>
          <a:xfrm>
            <a:off x="12061775" y="5517803"/>
            <a:ext cx="5454700" cy="9525"/>
          </a:xfrm>
          <a:prstGeom prst="rect">
            <a:avLst/>
          </a:prstGeom>
          <a:solidFill>
            <a:srgbClr val="EEF0F6"/>
          </a:solidFill>
          <a:ln/>
        </p:spPr>
      </p:sp>
      <p:sp>
        <p:nvSpPr>
          <p:cNvPr id="25" name="Text 20"/>
          <p:cNvSpPr/>
          <p:nvPr/>
        </p:nvSpPr>
        <p:spPr>
          <a:xfrm>
            <a:off x="12195125" y="5603528"/>
            <a:ext cx="5351641"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7C8597"/>
                </a:solidFill>
                <a:latin typeface="Arial" pitchFamily="34" charset="0"/>
                <a:ea typeface="Arial" pitchFamily="34" charset="-122"/>
                <a:cs typeface="Arial" pitchFamily="34" charset="-120"/>
              </a:rPr>
              <a:t>"A music box is playing."</a:t>
            </a:r>
            <a:endParaRPr lang="en-US" sz="1500" dirty="0"/>
          </a:p>
        </p:txBody>
      </p:sp>
      <p:sp>
        <p:nvSpPr>
          <p:cNvPr id="26" name="Shape 21"/>
          <p:cNvSpPr/>
          <p:nvPr/>
        </p:nvSpPr>
        <p:spPr>
          <a:xfrm>
            <a:off x="762000" y="5698778"/>
            <a:ext cx="5473601" cy="2761506"/>
          </a:xfrm>
          <a:prstGeom prst="roundRect">
            <a:avLst>
              <a:gd name="adj" fmla="val 2070"/>
            </a:avLst>
          </a:prstGeom>
          <a:solidFill>
            <a:srgbClr val="FFFFFF"/>
          </a:solidFill>
          <a:ln w="9525">
            <a:solidFill>
              <a:srgbClr val="E3E6EE"/>
            </a:solidFill>
            <a:prstDash val="solid"/>
          </a:ln>
        </p:spPr>
      </p:sp>
      <p:sp>
        <p:nvSpPr>
          <p:cNvPr id="27" name="Shape 22"/>
          <p:cNvSpPr/>
          <p:nvPr/>
        </p:nvSpPr>
        <p:spPr>
          <a:xfrm>
            <a:off x="771525" y="5708303"/>
            <a:ext cx="5454551" cy="2742456"/>
          </a:xfrm>
          <a:prstGeom prst="rect">
            <a:avLst/>
          </a:prstGeom>
          <a:solidFill>
            <a:srgbClr val="FFFFFF"/>
          </a:solidFill>
          <a:ln/>
        </p:spPr>
      </p:sp>
      <p:pic>
        <p:nvPicPr>
          <p:cNvPr id="28" name="Image 3" descr="preencoded.png">    </p:cNvPr>
          <p:cNvPicPr>
            <a:picLocks noChangeAspect="1"/>
          </p:cNvPicPr>
          <p:nvPr/>
        </p:nvPicPr>
        <p:blipFill>
          <a:blip r:embed="rId4"/>
          <a:srcRect l="0" r="0" t="0" b="0"/>
          <a:stretch/>
        </p:blipFill>
        <p:spPr>
          <a:xfrm>
            <a:off x="771525" y="5708303"/>
            <a:ext cx="5454551" cy="2742456"/>
          </a:xfrm>
          <a:prstGeom prst="rect">
            <a:avLst/>
          </a:prstGeom>
        </p:spPr>
      </p:pic>
      <p:sp>
        <p:nvSpPr>
          <p:cNvPr id="29" name="Shape 23"/>
          <p:cNvSpPr/>
          <p:nvPr/>
        </p:nvSpPr>
        <p:spPr>
          <a:xfrm>
            <a:off x="771525" y="8450759"/>
            <a:ext cx="5454551" cy="438150"/>
          </a:xfrm>
          <a:prstGeom prst="rect">
            <a:avLst/>
          </a:prstGeom>
          <a:solidFill>
            <a:srgbClr val="FBFBFD"/>
          </a:solidFill>
          <a:ln/>
        </p:spPr>
      </p:sp>
      <p:sp>
        <p:nvSpPr>
          <p:cNvPr id="30" name="Shape 24"/>
          <p:cNvSpPr/>
          <p:nvPr/>
        </p:nvSpPr>
        <p:spPr>
          <a:xfrm>
            <a:off x="771525" y="8450759"/>
            <a:ext cx="5454551" cy="9525"/>
          </a:xfrm>
          <a:prstGeom prst="rect">
            <a:avLst/>
          </a:prstGeom>
          <a:solidFill>
            <a:srgbClr val="EEF0F6"/>
          </a:solidFill>
          <a:ln/>
        </p:spPr>
      </p:sp>
      <p:sp>
        <p:nvSpPr>
          <p:cNvPr id="31" name="Text 25"/>
          <p:cNvSpPr/>
          <p:nvPr/>
        </p:nvSpPr>
        <p:spPr>
          <a:xfrm>
            <a:off x="904875" y="8536484"/>
            <a:ext cx="5351487"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7C8597"/>
                </a:solidFill>
                <a:latin typeface="Arial" pitchFamily="34" charset="0"/>
                <a:ea typeface="Arial" pitchFamily="34" charset="-122"/>
                <a:cs typeface="Arial" pitchFamily="34" charset="-120"/>
              </a:rPr>
              <a:t>"Water is being poured into a glass."</a:t>
            </a:r>
            <a:endParaRPr lang="en-US" sz="1500" dirty="0"/>
          </a:p>
        </p:txBody>
      </p:sp>
      <p:sp>
        <p:nvSpPr>
          <p:cNvPr id="32" name="Shape 26"/>
          <p:cNvSpPr/>
          <p:nvPr/>
        </p:nvSpPr>
        <p:spPr>
          <a:xfrm>
            <a:off x="6407051" y="5698778"/>
            <a:ext cx="5473750" cy="2761506"/>
          </a:xfrm>
          <a:prstGeom prst="roundRect">
            <a:avLst>
              <a:gd name="adj" fmla="val 2070"/>
            </a:avLst>
          </a:prstGeom>
          <a:solidFill>
            <a:srgbClr val="FFFFFF"/>
          </a:solidFill>
          <a:ln w="9525">
            <a:solidFill>
              <a:srgbClr val="E3E6EE"/>
            </a:solidFill>
            <a:prstDash val="solid"/>
          </a:ln>
        </p:spPr>
      </p:sp>
      <p:sp>
        <p:nvSpPr>
          <p:cNvPr id="33" name="Shape 27"/>
          <p:cNvSpPr/>
          <p:nvPr/>
        </p:nvSpPr>
        <p:spPr>
          <a:xfrm>
            <a:off x="6416576" y="5708303"/>
            <a:ext cx="5454700" cy="2742456"/>
          </a:xfrm>
          <a:prstGeom prst="rect">
            <a:avLst/>
          </a:prstGeom>
          <a:solidFill>
            <a:srgbClr val="FFFFFF"/>
          </a:solidFill>
          <a:ln/>
        </p:spPr>
      </p:sp>
      <p:pic>
        <p:nvPicPr>
          <p:cNvPr id="34" name="Image 4" descr="preencoded.png">    </p:cNvPr>
          <p:cNvPicPr>
            <a:picLocks noChangeAspect="1"/>
          </p:cNvPicPr>
          <p:nvPr/>
        </p:nvPicPr>
        <p:blipFill>
          <a:blip r:embed="rId5"/>
          <a:srcRect l="0" r="0" t="0" b="0"/>
          <a:stretch/>
        </p:blipFill>
        <p:spPr>
          <a:xfrm>
            <a:off x="6416576" y="5708303"/>
            <a:ext cx="5454700" cy="2742456"/>
          </a:xfrm>
          <a:prstGeom prst="rect">
            <a:avLst/>
          </a:prstGeom>
        </p:spPr>
      </p:pic>
      <p:sp>
        <p:nvSpPr>
          <p:cNvPr id="35" name="Shape 28"/>
          <p:cNvSpPr/>
          <p:nvPr/>
        </p:nvSpPr>
        <p:spPr>
          <a:xfrm>
            <a:off x="6416576" y="8450759"/>
            <a:ext cx="5454700" cy="438150"/>
          </a:xfrm>
          <a:prstGeom prst="rect">
            <a:avLst/>
          </a:prstGeom>
          <a:solidFill>
            <a:srgbClr val="FBFBFD"/>
          </a:solidFill>
          <a:ln/>
        </p:spPr>
      </p:sp>
      <p:sp>
        <p:nvSpPr>
          <p:cNvPr id="36" name="Shape 29"/>
          <p:cNvSpPr/>
          <p:nvPr/>
        </p:nvSpPr>
        <p:spPr>
          <a:xfrm>
            <a:off x="6416576" y="8450759"/>
            <a:ext cx="5454700" cy="9525"/>
          </a:xfrm>
          <a:prstGeom prst="rect">
            <a:avLst/>
          </a:prstGeom>
          <a:solidFill>
            <a:srgbClr val="EEF0F6"/>
          </a:solidFill>
          <a:ln/>
        </p:spPr>
      </p:sp>
      <p:sp>
        <p:nvSpPr>
          <p:cNvPr id="37" name="Text 30"/>
          <p:cNvSpPr/>
          <p:nvPr/>
        </p:nvSpPr>
        <p:spPr>
          <a:xfrm>
            <a:off x="6549926" y="8536484"/>
            <a:ext cx="5351641"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7C8597"/>
                </a:solidFill>
                <a:latin typeface="Arial" pitchFamily="34" charset="0"/>
                <a:ea typeface="Arial" pitchFamily="34" charset="-122"/>
                <a:cs typeface="Arial" pitchFamily="34" charset="-120"/>
              </a:rPr>
              <a:t>"An old car's engine is starting and running."</a:t>
            </a:r>
            <a:endParaRPr lang="en-US" sz="1500" dirty="0"/>
          </a:p>
        </p:txBody>
      </p:sp>
      <p:sp>
        <p:nvSpPr>
          <p:cNvPr id="38" name="Shape 31"/>
          <p:cNvSpPr/>
          <p:nvPr/>
        </p:nvSpPr>
        <p:spPr>
          <a:xfrm>
            <a:off x="12052250" y="5698778"/>
            <a:ext cx="5473750" cy="2761506"/>
          </a:xfrm>
          <a:prstGeom prst="roundRect">
            <a:avLst>
              <a:gd name="adj" fmla="val 2070"/>
            </a:avLst>
          </a:prstGeom>
          <a:solidFill>
            <a:srgbClr val="FFFFFF"/>
          </a:solidFill>
          <a:ln w="9525">
            <a:solidFill>
              <a:srgbClr val="E3E6EE"/>
            </a:solidFill>
            <a:prstDash val="solid"/>
          </a:ln>
        </p:spPr>
      </p:sp>
      <p:sp>
        <p:nvSpPr>
          <p:cNvPr id="39" name="Shape 32"/>
          <p:cNvSpPr/>
          <p:nvPr/>
        </p:nvSpPr>
        <p:spPr>
          <a:xfrm>
            <a:off x="12061775" y="5708303"/>
            <a:ext cx="5454700" cy="2742456"/>
          </a:xfrm>
          <a:prstGeom prst="rect">
            <a:avLst/>
          </a:prstGeom>
          <a:solidFill>
            <a:srgbClr val="FFFFFF"/>
          </a:solidFill>
          <a:ln/>
        </p:spPr>
      </p:sp>
      <p:pic>
        <p:nvPicPr>
          <p:cNvPr id="40" name="Image 5" descr="preencoded.png">    </p:cNvPr>
          <p:cNvPicPr>
            <a:picLocks noChangeAspect="1"/>
          </p:cNvPicPr>
          <p:nvPr/>
        </p:nvPicPr>
        <p:blipFill>
          <a:blip r:embed="rId6"/>
          <a:srcRect l="0" r="0" t="0" b="0"/>
          <a:stretch/>
        </p:blipFill>
        <p:spPr>
          <a:xfrm>
            <a:off x="12061775" y="5708303"/>
            <a:ext cx="5454700" cy="2742456"/>
          </a:xfrm>
          <a:prstGeom prst="rect">
            <a:avLst/>
          </a:prstGeom>
        </p:spPr>
      </p:pic>
      <p:sp>
        <p:nvSpPr>
          <p:cNvPr id="41" name="Shape 33"/>
          <p:cNvSpPr/>
          <p:nvPr/>
        </p:nvSpPr>
        <p:spPr>
          <a:xfrm>
            <a:off x="12061775" y="8450759"/>
            <a:ext cx="5454700" cy="714375"/>
          </a:xfrm>
          <a:prstGeom prst="rect">
            <a:avLst/>
          </a:prstGeom>
          <a:solidFill>
            <a:srgbClr val="FBFBFD"/>
          </a:solidFill>
          <a:ln/>
        </p:spPr>
      </p:sp>
      <p:sp>
        <p:nvSpPr>
          <p:cNvPr id="42" name="Shape 34"/>
          <p:cNvSpPr/>
          <p:nvPr/>
        </p:nvSpPr>
        <p:spPr>
          <a:xfrm>
            <a:off x="12061775" y="8450759"/>
            <a:ext cx="5454700" cy="9525"/>
          </a:xfrm>
          <a:prstGeom prst="rect">
            <a:avLst/>
          </a:prstGeom>
          <a:solidFill>
            <a:srgbClr val="EEF0F6"/>
          </a:solidFill>
          <a:ln/>
        </p:spPr>
      </p:sp>
      <p:sp>
        <p:nvSpPr>
          <p:cNvPr id="43" name="Text 35"/>
          <p:cNvSpPr/>
          <p:nvPr/>
        </p:nvSpPr>
        <p:spPr>
          <a:xfrm>
            <a:off x="12195125" y="8536484"/>
            <a:ext cx="5351641"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7C8597"/>
                </a:solidFill>
                <a:latin typeface="Arial" pitchFamily="34" charset="0"/>
                <a:ea typeface="Arial" pitchFamily="34" charset="-122"/>
                <a:cs typeface="Arial" pitchFamily="34" charset="-120"/>
              </a:rPr>
              <a:t>"Someone is talking about their child pretending to be a superhero."</a:t>
            </a:r>
            <a:endParaRPr lang="en-US" sz="1500" dirty="0"/>
          </a:p>
        </p:txBody>
      </p:sp>
      <p:sp>
        <p:nvSpPr>
          <p:cNvPr id="44" name="Shape 36"/>
          <p:cNvSpPr/>
          <p:nvPr/>
        </p:nvSpPr>
        <p:spPr>
          <a:xfrm>
            <a:off x="762000" y="8650784"/>
            <a:ext cx="16764000" cy="950416"/>
          </a:xfrm>
          <a:prstGeom prst="roundRect">
            <a:avLst>
              <a:gd name="adj" fmla="val 6013"/>
            </a:avLst>
          </a:prstGeom>
          <a:solidFill>
            <a:srgbClr val="F6E2DF"/>
          </a:solidFill>
          <a:ln/>
        </p:spPr>
      </p:sp>
      <p:sp>
        <p:nvSpPr>
          <p:cNvPr id="45" name="Text 37"/>
          <p:cNvSpPr/>
          <p:nvPr/>
        </p:nvSpPr>
        <p:spPr>
          <a:xfrm>
            <a:off x="990600" y="8822234"/>
            <a:ext cx="16809720" cy="645616"/>
          </a:xfrm>
          <a:prstGeom prst="rect">
            <a:avLst/>
          </a:prstGeom>
          <a:noFill/>
          <a:ln/>
        </p:spPr>
        <p:txBody>
          <a:bodyPr wrap="square" lIns="25400" tIns="25400" rIns="25400" bIns="25400" rtlCol="0" anchor="t">
            <a:normAutofit/>
          </a:bodyPr>
          <a:lstStyle/>
          <a:p>
            <a:pPr algn="l" indent="0" marL="0">
              <a:lnSpc>
                <a:spcPct val="145000"/>
              </a:lnSpc>
              <a:buNone/>
            </a:pPr>
            <a:r>
              <a:rPr lang="en-US" sz="1500" b="1" dirty="0">
                <a:solidFill>
                  <a:srgbClr val="C25A4F"/>
                </a:solidFill>
                <a:latin typeface="Arial" pitchFamily="34" charset="0"/>
                <a:ea typeface="Arial" pitchFamily="34" charset="-122"/>
                <a:cs typeface="Arial" pitchFamily="34" charset="-120"/>
              </a:rPr>
              <a:t>Why this matters </a:t>
            </a:r>
            <a:pPr algn="l" indent="0" marL="0">
              <a:lnSpc>
                <a:spcPct val="145000"/>
              </a:lnSpc>
              <a:buNone/>
            </a:pPr>
            <a:r>
              <a:rPr lang="en-US" sz="1650" dirty="0">
                <a:solidFill>
                  <a:srgbClr val="1F2A44"/>
                </a:solidFill>
                <a:highlight>
                  <a:srgbClr val="F6E2DF"/>
                </a:highlight>
                <a:latin typeface="Arial" pitchFamily="34" charset="0"/>
                <a:ea typeface="Arial" pitchFamily="34" charset="-122"/>
                <a:cs typeface="Arial" pitchFamily="34" charset="-120"/>
              </a:rPr>
              <a:t>WavCaps captions are </a:t>
            </a:r>
            <a:pPr algn="l" indent="0" marL="0">
              <a:lnSpc>
                <a:spcPct val="145000"/>
              </a:lnSpc>
              <a:buNone/>
            </a:pPr>
            <a:r>
              <a:rPr lang="en-US" sz="1650" b="1" dirty="0">
                <a:solidFill>
                  <a:srgbClr val="1F2A44"/>
                </a:solidFill>
                <a:latin typeface="Arial" pitchFamily="34" charset="0"/>
                <a:ea typeface="Arial" pitchFamily="34" charset="-122"/>
                <a:cs typeface="Arial" pitchFamily="34" charset="-120"/>
              </a:rPr>
              <a:t>LLM-generated from web metadata </a:t>
            </a:r>
            <a:pPr algn="l" indent="0" marL="0">
              <a:lnSpc>
                <a:spcPct val="145000"/>
              </a:lnSpc>
              <a:buNone/>
            </a:pPr>
            <a:r>
              <a:rPr lang="en-US" sz="1650" dirty="0">
                <a:solidFill>
                  <a:srgbClr val="1F2A44"/>
                </a:solidFill>
                <a:highlight>
                  <a:srgbClr val="F6E2DF"/>
                </a:highlight>
                <a:latin typeface="Arial" pitchFamily="34" charset="0"/>
                <a:ea typeface="Arial" pitchFamily="34" charset="-122"/>
                <a:cs typeface="Arial" pitchFamily="34" charset="-120"/>
              </a:rPr>
              <a:t>— they inherit any biases of the generating LLM. The FreeSound subset overlaps Clotho's source platform — a contamination risk. Both are reasons Clotho is preferred for a clean zero-shot benchmark.</a:t>
            </a:r>
            <a:endParaRPr lang="en-US" sz="1650" dirty="0"/>
          </a:p>
        </p:txBody>
      </p:sp>
      <p:sp>
        <p:nvSpPr>
          <p:cNvPr id="46" name="Text 38"/>
          <p:cNvSpPr/>
          <p:nvPr/>
        </p:nvSpPr>
        <p:spPr>
          <a:xfrm>
            <a:off x="762000" y="9725025"/>
            <a:ext cx="3450012"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spc="30" kern="0" dirty="0">
                <a:solidFill>
                  <a:srgbClr val="7C8597"/>
                </a:solidFill>
                <a:latin typeface="Arial" pitchFamily="34" charset="0"/>
                <a:ea typeface="Arial" pitchFamily="34" charset="-122"/>
                <a:cs typeface="Arial" pitchFamily="34" charset="-120"/>
              </a:rPr>
              <a:t>Zuraiz · P2 · 2026-05-18 · Appendix B</a:t>
            </a:r>
            <a:endParaRPr lang="en-US" sz="1500" dirty="0"/>
          </a:p>
        </p:txBody>
      </p:sp>
      <p:sp>
        <p:nvSpPr>
          <p:cNvPr id="47" name="Text 39"/>
          <p:cNvSpPr/>
          <p:nvPr/>
        </p:nvSpPr>
        <p:spPr>
          <a:xfrm>
            <a:off x="16152912" y="9725025"/>
            <a:ext cx="1449288"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spc="30" kern="0" dirty="0">
                <a:solidFill>
                  <a:srgbClr val="7C8597"/>
                </a:solidFill>
                <a:latin typeface="Arial" pitchFamily="34" charset="0"/>
                <a:ea typeface="Arial" pitchFamily="34" charset="-122"/>
                <a:cs typeface="Arial" pitchFamily="34" charset="-120"/>
              </a:rPr>
              <a:t>A2 — Q&amp;A only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2026-05-16T18:12:49Z</dcterms:created>
  <dcterms:modified xsi:type="dcterms:W3CDTF">2026-05-16T18:12:49Z</dcterms:modified>
</cp:coreProperties>
</file>