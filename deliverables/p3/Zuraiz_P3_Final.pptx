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SPIDEr-FL</c:v>
                </c:pt>
              </c:strCache>
            </c:strRef>
          </c:tx>
          <c:spPr>
            <a:solidFill>
              <a:srgbClr val="9E9E9E"/>
            </a:solidFill>
            <a:effectLst/>
          </c:spPr>
          <c:invertIfNegative val="0"/>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9E9E9E"/>
              </a:solidFill>
              <a:effectLst/>
            </c:spPr>
          </c:dPt>
          <c:dPt>
            <c:idx val="1"/>
            <c:invertIfNegative val="0"/>
            <c:bubble3D val="0"/>
            <c:spPr>
              <a:solidFill>
                <a:srgbClr val="1F77B4"/>
              </a:solidFill>
              <a:effectLst/>
            </c:spPr>
          </c:dPt>
          <c:dPt>
            <c:idx val="2"/>
            <c:invertIfNegative val="0"/>
            <c:bubble3D val="0"/>
            <c:spPr>
              <a:solidFill>
                <a:srgbClr val="1F77B4"/>
              </a:solidFill>
              <a:effectLst/>
            </c:spPr>
          </c:dPt>
          <c:dPt>
            <c:idx val="3"/>
            <c:invertIfNegative val="0"/>
            <c:bubble3D val="0"/>
            <c:spPr>
              <a:solidFill>
                <a:srgbClr val="D62728"/>
              </a:solidFill>
              <a:effectLst/>
            </c:spPr>
          </c:dPt>
          <c:dPt>
            <c:idx val="4"/>
            <c:invertIfNegative val="0"/>
            <c:bubble3D val="0"/>
            <c:spPr>
              <a:solidFill>
                <a:srgbClr val="D62728"/>
              </a:solidFill>
              <a:effectLst/>
            </c:spPr>
          </c:dPt>
          <c:dPt>
            <c:idx val="5"/>
            <c:invertIfNegative val="0"/>
            <c:bubble3D val="0"/>
            <c:spPr>
              <a:solidFill>
                <a:srgbClr val="1F77B4"/>
              </a:solidFill>
              <a:effectLst/>
            </c:spPr>
          </c:dPt>
          <c:cat>
            <c:multiLvlStrRef>
              <c:f>Sheet1!$A$2:$A$7</c:f>
              <c:multiLvlStrCache>
                <c:ptCount val="6"/>
                <c:lvl>
                  <c:pt idx="0">
                    <c:v>AST (tag floor)</c:v>
                  </c:pt>
                  <c:pt idx="1">
                    <c:v>Qwen2.5-Omni-7B</c:v>
                  </c:pt>
                  <c:pt idx="2">
                    <c:v>SALMONN-13B</c:v>
                  </c:pt>
                  <c:pt idx="3">
                    <c:v>CNN14+BART</c:v>
                  </c:pt>
                  <c:pt idx="4">
                    <c:v>EnCLAP-base</c:v>
                  </c:pt>
                  <c:pt idx="5">
                    <c:v>Audio Flamingo 3</c:v>
                  </c:pt>
                </c:lvl>
              </c:multiLvlStrCache>
            </c:multiLvlStrRef>
          </c:cat>
          <c:val>
            <c:numRef>
              <c:f>Sheet1!$B$2:$B$7</c:f>
              <c:numCache>
                <c:formatCode>General</c:formatCode>
                <c:ptCount val="6"/>
                <c:pt idx="0">
                  <c:v>0.068</c:v>
                </c:pt>
                <c:pt idx="1">
                  <c:v>0.188</c:v>
                </c:pt>
                <c:pt idx="2">
                  <c:v>0.225</c:v>
                </c:pt>
                <c:pt idx="3">
                  <c:v>0.259</c:v>
                </c:pt>
                <c:pt idx="4">
                  <c:v>0.28</c:v>
                </c:pt>
                <c:pt idx="5">
                  <c:v>0.297</c:v>
                </c:pt>
              </c:numCache>
            </c:numRef>
          </c:val>
        </c:ser>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0.34"/>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Delta SPIDEr-FL (poly - mono)</c:v>
                </c:pt>
              </c:strCache>
            </c:strRef>
          </c:tx>
          <c:spPr>
            <a:solidFill>
              <a:srgbClr val="9E9E9E"/>
            </a:solidFill>
            <a:effectLst/>
          </c:spPr>
          <c:invertIfNegative val="0"/>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9E9E9E"/>
              </a:solidFill>
              <a:effectLst/>
            </c:spPr>
          </c:dPt>
          <c:dPt>
            <c:idx val="1"/>
            <c:invertIfNegative val="0"/>
            <c:bubble3D val="0"/>
            <c:spPr>
              <a:solidFill>
                <a:srgbClr val="1F77B4"/>
              </a:solidFill>
              <a:effectLst/>
            </c:spPr>
          </c:dPt>
          <c:dPt>
            <c:idx val="2"/>
            <c:invertIfNegative val="0"/>
            <c:bubble3D val="0"/>
            <c:spPr>
              <a:solidFill>
                <a:srgbClr val="1F77B4"/>
              </a:solidFill>
              <a:effectLst/>
            </c:spPr>
          </c:dPt>
          <c:dPt>
            <c:idx val="3"/>
            <c:invertIfNegative val="0"/>
            <c:bubble3D val="0"/>
            <c:spPr>
              <a:solidFill>
                <a:srgbClr val="D62728"/>
              </a:solidFill>
              <a:effectLst/>
            </c:spPr>
          </c:dPt>
          <c:dPt>
            <c:idx val="4"/>
            <c:invertIfNegative val="0"/>
            <c:bubble3D val="0"/>
            <c:spPr>
              <a:solidFill>
                <a:srgbClr val="D62728"/>
              </a:solidFill>
              <a:effectLst/>
            </c:spPr>
          </c:dPt>
          <c:dPt>
            <c:idx val="5"/>
            <c:invertIfNegative val="0"/>
            <c:bubble3D val="0"/>
            <c:spPr>
              <a:solidFill>
                <a:srgbClr val="1F77B4"/>
              </a:solidFill>
              <a:effectLst/>
            </c:spPr>
          </c:dPt>
          <c:cat>
            <c:multiLvlStrRef>
              <c:f>Sheet1!$A$2:$A$7</c:f>
              <c:multiLvlStrCache>
                <c:ptCount val="6"/>
                <c:lvl>
                  <c:pt idx="0">
                    <c:v>AST (tag floor)</c:v>
                  </c:pt>
                  <c:pt idx="1">
                    <c:v>Qwen2.5-Omni-7B</c:v>
                  </c:pt>
                  <c:pt idx="2">
                    <c:v>SALMONN-13B</c:v>
                  </c:pt>
                  <c:pt idx="3">
                    <c:v>CNN14+BART</c:v>
                  </c:pt>
                  <c:pt idx="4">
                    <c:v>EnCLAP-base</c:v>
                  </c:pt>
                  <c:pt idx="5">
                    <c:v>Audio Flamingo 3</c:v>
                  </c:pt>
                </c:lvl>
              </c:multiLvlStrCache>
            </c:multiLvlStrRef>
          </c:cat>
          <c:val>
            <c:numRef>
              <c:f>Sheet1!$B$2:$B$7</c:f>
              <c:numCache>
                <c:formatCode>General</c:formatCode>
                <c:ptCount val="6"/>
                <c:pt idx="0">
                  <c:v>0.019</c:v>
                </c:pt>
                <c:pt idx="1">
                  <c:v>0.094</c:v>
                </c:pt>
                <c:pt idx="2">
                  <c:v>0.059</c:v>
                </c:pt>
                <c:pt idx="3">
                  <c:v>0.06</c:v>
                </c:pt>
                <c:pt idx="4">
                  <c:v>0.073</c:v>
                </c:pt>
                <c:pt idx="5">
                  <c:v>0.088</c:v>
                </c:pt>
              </c:numCache>
            </c:numRef>
          </c:val>
        </c:ser>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0.11"/>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CHAIR-s at tau 0.25</c:v>
                </c:pt>
              </c:strCache>
            </c:strRef>
          </c:tx>
          <c:spPr>
            <a:solidFill>
              <a:srgbClr val="9E9E9E"/>
            </a:solidFill>
            <a:effectLst/>
          </c:spPr>
          <c:invertIfNegative val="0"/>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9E9E9E"/>
              </a:solidFill>
              <a:effectLst/>
            </c:spPr>
          </c:dPt>
          <c:dPt>
            <c:idx val="1"/>
            <c:invertIfNegative val="0"/>
            <c:bubble3D val="0"/>
            <c:spPr>
              <a:solidFill>
                <a:srgbClr val="1F77B4"/>
              </a:solidFill>
              <a:effectLst/>
            </c:spPr>
          </c:dPt>
          <c:dPt>
            <c:idx val="2"/>
            <c:invertIfNegative val="0"/>
            <c:bubble3D val="0"/>
            <c:spPr>
              <a:solidFill>
                <a:srgbClr val="1F77B4"/>
              </a:solidFill>
              <a:effectLst/>
            </c:spPr>
          </c:dPt>
          <c:dPt>
            <c:idx val="3"/>
            <c:invertIfNegative val="0"/>
            <c:bubble3D val="0"/>
            <c:spPr>
              <a:solidFill>
                <a:srgbClr val="D62728"/>
              </a:solidFill>
              <a:effectLst/>
            </c:spPr>
          </c:dPt>
          <c:dPt>
            <c:idx val="4"/>
            <c:invertIfNegative val="0"/>
            <c:bubble3D val="0"/>
            <c:spPr>
              <a:solidFill>
                <a:srgbClr val="D62728"/>
              </a:solidFill>
              <a:effectLst/>
            </c:spPr>
          </c:dPt>
          <c:dPt>
            <c:idx val="5"/>
            <c:invertIfNegative val="0"/>
            <c:bubble3D val="0"/>
            <c:spPr>
              <a:solidFill>
                <a:srgbClr val="1F77B4"/>
              </a:solidFill>
              <a:effectLst/>
            </c:spPr>
          </c:dPt>
          <c:cat>
            <c:multiLvlStrRef>
              <c:f>Sheet1!$A$2:$A$7</c:f>
              <c:multiLvlStrCache>
                <c:ptCount val="6"/>
                <c:lvl>
                  <c:pt idx="0">
                    <c:v>AST (tag floor)</c:v>
                  </c:pt>
                  <c:pt idx="1">
                    <c:v>Qwen2.5-Omni-7B</c:v>
                  </c:pt>
                  <c:pt idx="2">
                    <c:v>SALMONN-13B</c:v>
                  </c:pt>
                  <c:pt idx="3">
                    <c:v>CNN14+BART</c:v>
                  </c:pt>
                  <c:pt idx="4">
                    <c:v>EnCLAP-base</c:v>
                  </c:pt>
                  <c:pt idx="5">
                    <c:v>Audio Flamingo 3</c:v>
                  </c:pt>
                </c:lvl>
              </c:multiLvlStrCache>
            </c:multiLvlStrRef>
          </c:cat>
          <c:val>
            <c:numRef>
              <c:f>Sheet1!$B$2:$B$7</c:f>
              <c:numCache>
                <c:formatCode>General</c:formatCode>
                <c:ptCount val="6"/>
                <c:pt idx="0">
                  <c:v>0.956</c:v>
                </c:pt>
                <c:pt idx="1">
                  <c:v>0.5502</c:v>
                </c:pt>
                <c:pt idx="2">
                  <c:v>0.3321</c:v>
                </c:pt>
                <c:pt idx="3">
                  <c:v>0.3502</c:v>
                </c:pt>
                <c:pt idx="4">
                  <c:v>0.3512</c:v>
                </c:pt>
                <c:pt idx="5">
                  <c:v>0.3474</c:v>
                </c:pt>
              </c:numCache>
            </c:numRef>
          </c:val>
        </c:ser>
        <c:dLbls>
          <c:numFmt formatCode="0.0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asks whether the new generation of large audio-language models can describe audio as well as systems that were trained specifically for captioning. The one-number teaser: the best zero-shot model reaches 0.297 SPIDEr-FL on Clotho, above both trained baselines. The next ten minutes explain what that number means, where it holds, and where it breaks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T6: LALMs versus traditional captioning, with a focus on overlapping sound. Six systems: three traditional, three zero-shot LALMs from three different vendors, so the comparison is not single-vendor. Three research questions: headline quality, polyphony, and hallucination. All hypotheses were committed in advance with bootstrap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system implements one contract behind a registry, so one inference loop and one scorer serve everything from a CPU baseline to a 13-billion-parameter model on an A100. Each run writes a manifest with checkpoint hashes, library versions, decode settings, and the seed. The harness is validated by reproducing the official CNN14 baseline within 0.002. All six systems completed all 1,045 clips with zero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to RQ1 is not yes or no, it is model-dependent. Every LALM clears the tagging floor by a factor of three to four, so they all describe rather than list. But Qwen and SALMONN stay below both trained captioners. Audio Flamingo 3 beats both trained systems on every metric, and its 0.297 is also above EnCLAP's published 0.291. H1 and H3 are both significant. One disclosure: our EnCLAP reproduction runs about one point below its published anchor; that is in the paper, and H1 is anchored on CNN14, which reproduces within 0.002.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verbatim outputs for one clip, next to a human reference. AST produces a tag list. Qwen wraps everything in report framing, which no Clotho reference uses, and enumerates several events. SALMONN and the trained models produce short declaratives. Audio Flamingo 3 reads closest to the reference register, which is exactly what overlap metrics reward. And note the zipper: fluent, specific, and unsupported by the references and the audio tags. That previews the hallucination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1,045 clips with PANNs sound event detection: two classes co-active for at least one second. The pre-registered threshold of 0.5 was degenerate, so the pre-committed fallback rule selected 0.25: 336 polyphonic, 709 monophonic clips. Every system scores higher on the polyphonic subset, including all three non-LALM systems, which identifies it as a subset-difficulty effect: event-rich clips give captions more to match, while the monophonic bucket collects quiet ambiguous recordings. The audio-grounded MACE metric shows the same direction. This complements Professor Abesser and Harish's DCASE paper: counting and naming events gets harder with polyphony, producing a reference-like description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CHAIR-audio counts caption entities supported by neither the references nor the audio tags. The four serious captioners cluster around 0.33 to 0.35; Qwen hallucinates markedly more, and AST at 0.956 is the expected validity check for an indiscriminate tag list. H4's null is retained: the best captioner does not hallucinate less per caption. The decomposition explains it: per individual mention AF3 is actually the most grounded system in the table; it simply makes more claims per caption, and each claim is a chance to be wrong. Remember the zipper. And one concrete failure mode: greedy decoding sent Qwen into a 515-word repetition loop on one clip, caught only because we retain per-clip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honesty slide. All four hypotheses were committed before results, tested with BCa bootstrap and Holm correction: three supported, one null retained, and I report the null as a finding. Four disclosures, so nothing has to come out in questions. The preregistration was never formally frozen, so I treat it as a declared plan and list every deviation. Zero-shot describes my protocol, not the models' training diet: both audio specialists saw Clotho development pairs in training, which is symmetric with what the baselines trained on, and it is disclosed in the paper. The EnCLAP reproduction gap is reported openly. And the entire project is public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First, the RQ1 answer is model-dependent, and the current audio specialist genuinely beats trained captioners zero-shot. Second, the polyphony advantage is a property of the data, shared by every system, which complements the event-level picture from Professor Abesser's own work. Third, caption quality and audio grounding are different axes and evaluations should report both. Everything is reproducible from the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731520" y="1051560"/>
            <a:ext cx="7863840" cy="2011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Zero-Shot Audio-Language Models</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versus Trained Captioners</a:t>
            </a:r>
            <a:endParaRPr lang="en-US" sz="3800" dirty="0"/>
          </a:p>
        </p:txBody>
      </p:sp>
      <p:sp>
        <p:nvSpPr>
          <p:cNvPr id="3" name="Text 1"/>
          <p:cNvSpPr/>
          <p:nvPr/>
        </p:nvSpPr>
        <p:spPr>
          <a:xfrm>
            <a:off x="731520" y="3063240"/>
            <a:ext cx="786384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Audio-to-Text Captioning on Clotho  ·  Final Presentation (P3)</a:t>
            </a:r>
            <a:endParaRPr lang="en-US" sz="1800" dirty="0"/>
          </a:p>
        </p:txBody>
      </p:sp>
      <p:sp>
        <p:nvSpPr>
          <p:cNvPr id="4" name="Text 2"/>
          <p:cNvSpPr/>
          <p:nvPr/>
        </p:nvSpPr>
        <p:spPr>
          <a:xfrm>
            <a:off x="8778240" y="1371600"/>
            <a:ext cx="2834640" cy="1280160"/>
          </a:xfrm>
          <a:prstGeom prst="rect">
            <a:avLst/>
          </a:prstGeom>
          <a:noFill/>
          <a:ln/>
        </p:spPr>
        <p:txBody>
          <a:bodyPr wrap="square" lIns="0" tIns="0" rIns="0" bIns="0" rtlCol="0" anchor="ctr"/>
          <a:lstStyle/>
          <a:p>
            <a:pPr algn="ctr" indent="0" marL="0">
              <a:buNone/>
            </a:pPr>
            <a:r>
              <a:rPr lang="en-US" sz="6400" b="1" dirty="0">
                <a:solidFill>
                  <a:srgbClr val="FFFFFF"/>
                </a:solidFill>
                <a:latin typeface="Cambria" pitchFamily="34" charset="0"/>
                <a:ea typeface="Cambria" pitchFamily="34" charset="-122"/>
                <a:cs typeface="Cambria" pitchFamily="34" charset="-120"/>
              </a:rPr>
              <a:t>0.297</a:t>
            </a:r>
            <a:endParaRPr lang="en-US" sz="6400" dirty="0"/>
          </a:p>
        </p:txBody>
      </p:sp>
      <p:sp>
        <p:nvSpPr>
          <p:cNvPr id="5" name="Text 3"/>
          <p:cNvSpPr/>
          <p:nvPr/>
        </p:nvSpPr>
        <p:spPr>
          <a:xfrm>
            <a:off x="8778240" y="2651760"/>
            <a:ext cx="2834640" cy="77724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zero-shot SPIDEr-FL,</a:t>
            </a:r>
            <a:endParaRPr lang="en-US" sz="1300" dirty="0"/>
          </a:p>
          <a:p>
            <a:pPr algn="ctr" indent="0" marL="0">
              <a:buNone/>
            </a:pPr>
            <a:r>
              <a:rPr lang="en-US" sz="1300" dirty="0">
                <a:solidFill>
                  <a:srgbClr val="CADCFC"/>
                </a:solidFill>
                <a:latin typeface="Calibri" pitchFamily="34" charset="0"/>
                <a:ea typeface="Calibri" pitchFamily="34" charset="-122"/>
                <a:cs typeface="Calibri" pitchFamily="34" charset="-120"/>
              </a:rPr>
              <a:t>above both trained baselines</a:t>
            </a:r>
            <a:endParaRPr lang="en-US" sz="1300" dirty="0"/>
          </a:p>
        </p:txBody>
      </p:sp>
      <p:sp>
        <p:nvSpPr>
          <p:cNvPr id="6" name="Text 4"/>
          <p:cNvSpPr/>
          <p:nvPr/>
        </p:nvSpPr>
        <p:spPr>
          <a:xfrm>
            <a:off x="731520" y="5394960"/>
            <a:ext cx="10698480" cy="1005840"/>
          </a:xfrm>
          <a:prstGeom prst="rect">
            <a:avLst/>
          </a:prstGeom>
          <a:noFill/>
          <a:ln/>
        </p:spPr>
        <p:txBody>
          <a:bodyPr wrap="square" lIns="0" tIns="0" rIns="0" bIns="0" rtlCol="0" anchor="ctr"/>
          <a:lstStyle/>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Zuraiz  ·  CH-Proj-M Master's Project Computational Humanities  ·  SS 2026</a:t>
            </a: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Supervisor: Prof. Dr.-Ing. Jakob Abeßer  ·  University of Bamberg  ·  13 July 2026</a:t>
            </a:r>
            <a:endParaRPr lang="en-US" sz="1300" dirty="0"/>
          </a:p>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github.com/Zuraiz270/audio-to-text-captioning-using-LALMs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Task and research questions</a:t>
            </a:r>
            <a:endParaRPr lang="en-US" sz="3000" dirty="0"/>
          </a:p>
        </p:txBody>
      </p:sp>
      <p:sp>
        <p:nvSpPr>
          <p:cNvPr id="3" name="Text 1"/>
          <p:cNvSpPr/>
          <p:nvPr/>
        </p:nvSpPr>
        <p:spPr>
          <a:xfrm>
            <a:off x="548640" y="1051560"/>
            <a:ext cx="6400800" cy="1143000"/>
          </a:xfrm>
          <a:prstGeom prst="rect">
            <a:avLst/>
          </a:prstGeom>
          <a:noFill/>
          <a:ln/>
        </p:spPr>
        <p:txBody>
          <a:bodyPr wrap="square" lIns="0" tIns="0" rIns="0" bIns="0" rtlCol="0" anchor="ctr"/>
          <a:lstStyle/>
          <a:p>
            <a:pPr indent="0" marL="0">
              <a:lnSpc>
                <a:spcPct val="110000"/>
              </a:lnSpc>
              <a:buNone/>
            </a:pPr>
            <a:r>
              <a:rPr lang="en-US" sz="1500" dirty="0">
                <a:solidFill>
                  <a:srgbClr val="1F2937"/>
                </a:solidFill>
                <a:latin typeface="Calibri" pitchFamily="34" charset="0"/>
                <a:ea typeface="Calibri" pitchFamily="34" charset="-122"/>
                <a:cs typeface="Calibri" pitchFamily="34" charset="-120"/>
              </a:rPr>
              <a:t>Course task T6: how well can large audio-language models (LALMs) describe audio, especially overlapping sound, compared to traditional systems? Everything runs zero-shot on the full Clotho v2.1 evaluation split (1,045 clips, seed 42).</a:t>
            </a:r>
            <a:endParaRPr lang="en-US" sz="1500" dirty="0"/>
          </a:p>
        </p:txBody>
      </p:sp>
      <p:sp>
        <p:nvSpPr>
          <p:cNvPr id="4" name="Shape 2"/>
          <p:cNvSpPr/>
          <p:nvPr/>
        </p:nvSpPr>
        <p:spPr>
          <a:xfrm>
            <a:off x="548640" y="2377440"/>
            <a:ext cx="3108960" cy="3566160"/>
          </a:xfrm>
          <a:prstGeom prst="roundRect">
            <a:avLst>
              <a:gd name="adj" fmla="val 2353"/>
            </a:avLst>
          </a:prstGeom>
          <a:solidFill>
            <a:srgbClr val="EEF3FA"/>
          </a:solidFill>
          <a:ln/>
        </p:spPr>
      </p:sp>
      <p:sp>
        <p:nvSpPr>
          <p:cNvPr id="5" name="Text 3"/>
          <p:cNvSpPr/>
          <p:nvPr/>
        </p:nvSpPr>
        <p:spPr>
          <a:xfrm>
            <a:off x="777240" y="2560320"/>
            <a:ext cx="2651760" cy="365760"/>
          </a:xfrm>
          <a:prstGeom prst="rect">
            <a:avLst/>
          </a:prstGeom>
          <a:noFill/>
          <a:ln/>
        </p:spPr>
        <p:txBody>
          <a:bodyPr wrap="square" lIns="0" tIns="0" rIns="0" bIns="0" rtlCol="0" anchor="ctr"/>
          <a:lstStyle/>
          <a:p>
            <a:pPr indent="0" marL="0">
              <a:buNone/>
            </a:pPr>
            <a:r>
              <a:rPr lang="en-US" sz="1600" b="1" dirty="0">
                <a:solidFill>
                  <a:srgbClr val="D62728"/>
                </a:solidFill>
                <a:latin typeface="Calibri" pitchFamily="34" charset="0"/>
                <a:ea typeface="Calibri" pitchFamily="34" charset="-122"/>
                <a:cs typeface="Calibri" pitchFamily="34" charset="-120"/>
              </a:rPr>
              <a:t>Traditional systems</a:t>
            </a:r>
            <a:endParaRPr lang="en-US" sz="1600" dirty="0"/>
          </a:p>
        </p:txBody>
      </p:sp>
      <p:sp>
        <p:nvSpPr>
          <p:cNvPr id="6" name="Text 4"/>
          <p:cNvSpPr/>
          <p:nvPr/>
        </p:nvSpPr>
        <p:spPr>
          <a:xfrm>
            <a:off x="777240" y="3017520"/>
            <a:ext cx="2697480" cy="274320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AST</a:t>
            </a:r>
            <a:pPr indent="0" marL="0">
              <a:buNone/>
            </a:pPr>
            <a:r>
              <a:rPr lang="en-US" sz="1400" dirty="0">
                <a:solidFill>
                  <a:srgbClr val="1F2937"/>
                </a:solidFill>
                <a:latin typeface="Calibri" pitchFamily="34" charset="0"/>
                <a:ea typeface="Calibri" pitchFamily="34" charset="-122"/>
                <a:cs typeface="Calibri" pitchFamily="34" charset="-120"/>
              </a:rPr>
              <a:t> tagging floor (AudioSet top-5 template)
</a:t>
            </a:r>
            <a:pPr indent="0" marL="0">
              <a:buNone/>
            </a:pPr>
            <a:r>
              <a:rPr lang="en-US" sz="1400" b="1" dirty="0">
                <a:solidFill>
                  <a:srgbClr val="1F2937"/>
                </a:solidFill>
                <a:latin typeface="Calibri" pitchFamily="34" charset="0"/>
                <a:ea typeface="Calibri" pitchFamily="34" charset="-122"/>
                <a:cs typeface="Calibri" pitchFamily="34" charset="-120"/>
              </a:rPr>
              <a:t>CNN14+BART</a:t>
            </a:r>
            <a:pPr indent="0" marL="0">
              <a:buNone/>
            </a:pPr>
            <a:r>
              <a:rPr lang="en-US" sz="1400" dirty="0">
                <a:solidFill>
                  <a:srgbClr val="1F2937"/>
                </a:solidFill>
                <a:latin typeface="Calibri" pitchFamily="34" charset="0"/>
                <a:ea typeface="Calibri" pitchFamily="34" charset="-122"/>
                <a:cs typeface="Calibri" pitchFamily="34" charset="-120"/>
              </a:rPr>
              <a:t> DCASE 2023 baseline, trained on Clotho
</a:t>
            </a:r>
            <a:pPr indent="0" marL="0">
              <a:buNone/>
            </a:pPr>
            <a:r>
              <a:rPr lang="en-US" sz="1400" b="1" dirty="0">
                <a:solidFill>
                  <a:srgbClr val="1F2937"/>
                </a:solidFill>
                <a:latin typeface="Calibri" pitchFamily="34" charset="0"/>
                <a:ea typeface="Calibri" pitchFamily="34" charset="-122"/>
                <a:cs typeface="Calibri" pitchFamily="34" charset="-120"/>
              </a:rPr>
              <a:t>EnCLAP-base</a:t>
            </a:r>
            <a:pPr indent="0" marL="0">
              <a:buNone/>
            </a:pPr>
            <a:r>
              <a:rPr lang="en-US" sz="1400" dirty="0">
                <a:solidFill>
                  <a:srgbClr val="1F2937"/>
                </a:solidFill>
                <a:latin typeface="Calibri" pitchFamily="34" charset="0"/>
                <a:ea typeface="Calibri" pitchFamily="34" charset="-122"/>
                <a:cs typeface="Calibri" pitchFamily="34" charset="-120"/>
              </a:rPr>
              <a:t> EnCodec + CLAP + BART, trained on Clotho</a:t>
            </a:r>
            <a:endParaRPr lang="en-US" sz="1400" dirty="0"/>
          </a:p>
        </p:txBody>
      </p:sp>
      <p:sp>
        <p:nvSpPr>
          <p:cNvPr id="7" name="Shape 5"/>
          <p:cNvSpPr/>
          <p:nvPr/>
        </p:nvSpPr>
        <p:spPr>
          <a:xfrm>
            <a:off x="3840480" y="2377440"/>
            <a:ext cx="3108960" cy="3566160"/>
          </a:xfrm>
          <a:prstGeom prst="roundRect">
            <a:avLst>
              <a:gd name="adj" fmla="val 2353"/>
            </a:avLst>
          </a:prstGeom>
          <a:solidFill>
            <a:srgbClr val="EEF3FA"/>
          </a:solidFill>
          <a:ln/>
        </p:spPr>
      </p:sp>
      <p:sp>
        <p:nvSpPr>
          <p:cNvPr id="8" name="Text 6"/>
          <p:cNvSpPr/>
          <p:nvPr/>
        </p:nvSpPr>
        <p:spPr>
          <a:xfrm>
            <a:off x="4069080" y="2560320"/>
            <a:ext cx="2651760" cy="365760"/>
          </a:xfrm>
          <a:prstGeom prst="rect">
            <a:avLst/>
          </a:prstGeom>
          <a:noFill/>
          <a:ln/>
        </p:spPr>
        <p:txBody>
          <a:bodyPr wrap="square" lIns="0" tIns="0" rIns="0" bIns="0" rtlCol="0" anchor="ctr"/>
          <a:lstStyle/>
          <a:p>
            <a:pPr indent="0" marL="0">
              <a:buNone/>
            </a:pPr>
            <a:r>
              <a:rPr lang="en-US" sz="1600" b="1" dirty="0">
                <a:solidFill>
                  <a:srgbClr val="1F77B4"/>
                </a:solidFill>
                <a:latin typeface="Calibri" pitchFamily="34" charset="0"/>
                <a:ea typeface="Calibri" pitchFamily="34" charset="-122"/>
                <a:cs typeface="Calibri" pitchFamily="34" charset="-120"/>
              </a:rPr>
              <a:t>Zero-shot LALMs</a:t>
            </a:r>
            <a:endParaRPr lang="en-US" sz="1600" dirty="0"/>
          </a:p>
        </p:txBody>
      </p:sp>
      <p:sp>
        <p:nvSpPr>
          <p:cNvPr id="9" name="Text 7"/>
          <p:cNvSpPr/>
          <p:nvPr/>
        </p:nvSpPr>
        <p:spPr>
          <a:xfrm>
            <a:off x="4069080" y="3017520"/>
            <a:ext cx="2697480" cy="274320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Qwen2.5-Omni-7B</a:t>
            </a:r>
            <a:pPr indent="0" marL="0">
              <a:buNone/>
            </a:pPr>
            <a:r>
              <a:rPr lang="en-US" sz="1400" dirty="0">
                <a:solidFill>
                  <a:srgbClr val="1F2937"/>
                </a:solidFill>
                <a:latin typeface="Calibri" pitchFamily="34" charset="0"/>
                <a:ea typeface="Calibri" pitchFamily="34" charset="-122"/>
                <a:cs typeface="Calibri" pitchFamily="34" charset="-120"/>
              </a:rPr>
              <a:t> general omni-model (Alibaba)
</a:t>
            </a:r>
            <a:pPr indent="0" marL="0">
              <a:buNone/>
            </a:pPr>
            <a:r>
              <a:rPr lang="en-US" sz="1400" b="1" dirty="0">
                <a:solidFill>
                  <a:srgbClr val="1F2937"/>
                </a:solidFill>
                <a:latin typeface="Calibri" pitchFamily="34" charset="0"/>
                <a:ea typeface="Calibri" pitchFamily="34" charset="-122"/>
                <a:cs typeface="Calibri" pitchFamily="34" charset="-120"/>
              </a:rPr>
              <a:t>SALMONN-13B</a:t>
            </a:r>
            <a:pPr indent="0" marL="0">
              <a:buNone/>
            </a:pPr>
            <a:r>
              <a:rPr lang="en-US" sz="1400" dirty="0">
                <a:solidFill>
                  <a:srgbClr val="1F2937"/>
                </a:solidFill>
                <a:latin typeface="Calibri" pitchFamily="34" charset="0"/>
                <a:ea typeface="Calibri" pitchFamily="34" charset="-122"/>
                <a:cs typeface="Calibri" pitchFamily="34" charset="-120"/>
              </a:rPr>
              <a:t> audio specialist (Tsinghua/ByteDance)
</a:t>
            </a:r>
            <a:pPr indent="0" marL="0">
              <a:buNone/>
            </a:pPr>
            <a:r>
              <a:rPr lang="en-US" sz="1400" b="1" dirty="0">
                <a:solidFill>
                  <a:srgbClr val="1F2937"/>
                </a:solidFill>
                <a:latin typeface="Calibri" pitchFamily="34" charset="0"/>
                <a:ea typeface="Calibri" pitchFamily="34" charset="-122"/>
                <a:cs typeface="Calibri" pitchFamily="34" charset="-120"/>
              </a:rPr>
              <a:t>Audio Flamingo 3</a:t>
            </a:r>
            <a:pPr indent="0" marL="0">
              <a:buNone/>
            </a:pPr>
            <a:r>
              <a:rPr lang="en-US" sz="1400" dirty="0">
                <a:solidFill>
                  <a:srgbClr val="1F2937"/>
                </a:solidFill>
                <a:latin typeface="Calibri" pitchFamily="34" charset="0"/>
                <a:ea typeface="Calibri" pitchFamily="34" charset="-122"/>
                <a:cs typeface="Calibri" pitchFamily="34" charset="-120"/>
              </a:rPr>
              <a:t> audio specialist (NVIDIA, current SOTA)</a:t>
            </a:r>
            <a:endParaRPr lang="en-US" sz="1400" dirty="0"/>
          </a:p>
        </p:txBody>
      </p:sp>
      <p:sp>
        <p:nvSpPr>
          <p:cNvPr id="10" name="Shape 8"/>
          <p:cNvSpPr/>
          <p:nvPr/>
        </p:nvSpPr>
        <p:spPr>
          <a:xfrm>
            <a:off x="7223760" y="2377440"/>
            <a:ext cx="4389120" cy="1051560"/>
          </a:xfrm>
          <a:prstGeom prst="roundRect">
            <a:avLst>
              <a:gd name="adj" fmla="val 6957"/>
            </a:avLst>
          </a:prstGeom>
          <a:solidFill>
            <a:srgbClr val="FFFFFF"/>
          </a:solidFill>
          <a:ln/>
        </p:spPr>
      </p:sp>
      <p:sp>
        <p:nvSpPr>
          <p:cNvPr id="11" name="Shape 9"/>
          <p:cNvSpPr/>
          <p:nvPr/>
        </p:nvSpPr>
        <p:spPr>
          <a:xfrm>
            <a:off x="7223760" y="2377440"/>
            <a:ext cx="4389120" cy="1051560"/>
          </a:xfrm>
          <a:prstGeom prst="roundRect">
            <a:avLst>
              <a:gd name="adj" fmla="val 6957"/>
            </a:avLst>
          </a:prstGeom>
          <a:solidFill>
            <a:srgbClr val="EEF3FA"/>
          </a:solidFill>
          <a:ln/>
        </p:spPr>
      </p:sp>
      <p:sp>
        <p:nvSpPr>
          <p:cNvPr id="12" name="Text 10"/>
          <p:cNvSpPr/>
          <p:nvPr/>
        </p:nvSpPr>
        <p:spPr>
          <a:xfrm>
            <a:off x="7452360" y="2487168"/>
            <a:ext cx="777240" cy="411480"/>
          </a:xfrm>
          <a:prstGeom prst="rect">
            <a:avLst/>
          </a:prstGeom>
          <a:noFill/>
          <a:ln/>
        </p:spPr>
        <p:txBody>
          <a:bodyPr wrap="square" lIns="0" tIns="0" rIns="0" bIns="0" rtlCol="0" anchor="ctr"/>
          <a:lstStyle/>
          <a:p>
            <a:pPr indent="0" marL="0">
              <a:buNone/>
            </a:pPr>
            <a:r>
              <a:rPr lang="en-US" sz="1800" b="1" dirty="0">
                <a:solidFill>
                  <a:srgbClr val="1F77B4"/>
                </a:solidFill>
                <a:latin typeface="Cambria" pitchFamily="34" charset="0"/>
                <a:ea typeface="Cambria" pitchFamily="34" charset="-122"/>
                <a:cs typeface="Cambria" pitchFamily="34" charset="-120"/>
              </a:rPr>
              <a:t>RQ1</a:t>
            </a:r>
            <a:endParaRPr lang="en-US" sz="1800" dirty="0"/>
          </a:p>
        </p:txBody>
      </p:sp>
      <p:sp>
        <p:nvSpPr>
          <p:cNvPr id="13" name="Text 11"/>
          <p:cNvSpPr/>
          <p:nvPr/>
        </p:nvSpPr>
        <p:spPr>
          <a:xfrm>
            <a:off x="8275320" y="2468880"/>
            <a:ext cx="3200400" cy="8686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Do zero-shot LALMs match or beat trained captioners? (SPIDEr-FL, CIDEr)</a:t>
            </a:r>
            <a:endParaRPr lang="en-US" sz="1300" dirty="0"/>
          </a:p>
        </p:txBody>
      </p:sp>
      <p:sp>
        <p:nvSpPr>
          <p:cNvPr id="14" name="Shape 12"/>
          <p:cNvSpPr/>
          <p:nvPr/>
        </p:nvSpPr>
        <p:spPr>
          <a:xfrm>
            <a:off x="7223760" y="3611880"/>
            <a:ext cx="4389120" cy="1051560"/>
          </a:xfrm>
          <a:prstGeom prst="roundRect">
            <a:avLst>
              <a:gd name="adj" fmla="val 6957"/>
            </a:avLst>
          </a:prstGeom>
          <a:solidFill>
            <a:srgbClr val="FFFFFF"/>
          </a:solidFill>
          <a:ln/>
        </p:spPr>
      </p:sp>
      <p:sp>
        <p:nvSpPr>
          <p:cNvPr id="15" name="Shape 13"/>
          <p:cNvSpPr/>
          <p:nvPr/>
        </p:nvSpPr>
        <p:spPr>
          <a:xfrm>
            <a:off x="7223760" y="3611880"/>
            <a:ext cx="4389120" cy="1051560"/>
          </a:xfrm>
          <a:prstGeom prst="roundRect">
            <a:avLst>
              <a:gd name="adj" fmla="val 6957"/>
            </a:avLst>
          </a:prstGeom>
          <a:solidFill>
            <a:srgbClr val="EEF3FA"/>
          </a:solidFill>
          <a:ln/>
        </p:spPr>
      </p:sp>
      <p:sp>
        <p:nvSpPr>
          <p:cNvPr id="16" name="Text 14"/>
          <p:cNvSpPr/>
          <p:nvPr/>
        </p:nvSpPr>
        <p:spPr>
          <a:xfrm>
            <a:off x="7452360" y="3721608"/>
            <a:ext cx="777240" cy="411480"/>
          </a:xfrm>
          <a:prstGeom prst="rect">
            <a:avLst/>
          </a:prstGeom>
          <a:noFill/>
          <a:ln/>
        </p:spPr>
        <p:txBody>
          <a:bodyPr wrap="square" lIns="0" tIns="0" rIns="0" bIns="0" rtlCol="0" anchor="ctr"/>
          <a:lstStyle/>
          <a:p>
            <a:pPr indent="0" marL="0">
              <a:buNone/>
            </a:pPr>
            <a:r>
              <a:rPr lang="en-US" sz="1800" b="1" dirty="0">
                <a:solidFill>
                  <a:srgbClr val="1F77B4"/>
                </a:solidFill>
                <a:latin typeface="Cambria" pitchFamily="34" charset="0"/>
                <a:ea typeface="Cambria" pitchFamily="34" charset="-122"/>
                <a:cs typeface="Cambria" pitchFamily="34" charset="-120"/>
              </a:rPr>
              <a:t>RQ2</a:t>
            </a:r>
            <a:endParaRPr lang="en-US" sz="1800" dirty="0"/>
          </a:p>
        </p:txBody>
      </p:sp>
      <p:sp>
        <p:nvSpPr>
          <p:cNvPr id="17" name="Text 15"/>
          <p:cNvSpPr/>
          <p:nvPr/>
        </p:nvSpPr>
        <p:spPr>
          <a:xfrm>
            <a:off x="8275320" y="3703320"/>
            <a:ext cx="3200400" cy="8686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Polyphonic vs monophonic clips: where is captioning harder? (Δ SPIDEr-FL, MACE)</a:t>
            </a:r>
            <a:endParaRPr lang="en-US" sz="1300" dirty="0"/>
          </a:p>
        </p:txBody>
      </p:sp>
      <p:sp>
        <p:nvSpPr>
          <p:cNvPr id="18" name="Shape 16"/>
          <p:cNvSpPr/>
          <p:nvPr/>
        </p:nvSpPr>
        <p:spPr>
          <a:xfrm>
            <a:off x="7223760" y="4846320"/>
            <a:ext cx="4389120" cy="1051560"/>
          </a:xfrm>
          <a:prstGeom prst="roundRect">
            <a:avLst>
              <a:gd name="adj" fmla="val 6957"/>
            </a:avLst>
          </a:prstGeom>
          <a:solidFill>
            <a:srgbClr val="FFFFFF"/>
          </a:solidFill>
          <a:ln/>
        </p:spPr>
      </p:sp>
      <p:sp>
        <p:nvSpPr>
          <p:cNvPr id="19" name="Shape 17"/>
          <p:cNvSpPr/>
          <p:nvPr/>
        </p:nvSpPr>
        <p:spPr>
          <a:xfrm>
            <a:off x="7223760" y="4846320"/>
            <a:ext cx="4389120" cy="1051560"/>
          </a:xfrm>
          <a:prstGeom prst="roundRect">
            <a:avLst>
              <a:gd name="adj" fmla="val 6957"/>
            </a:avLst>
          </a:prstGeom>
          <a:solidFill>
            <a:srgbClr val="EEF3FA"/>
          </a:solidFill>
          <a:ln/>
        </p:spPr>
      </p:sp>
      <p:sp>
        <p:nvSpPr>
          <p:cNvPr id="20" name="Text 18"/>
          <p:cNvSpPr/>
          <p:nvPr/>
        </p:nvSpPr>
        <p:spPr>
          <a:xfrm>
            <a:off x="7452360" y="4956048"/>
            <a:ext cx="777240" cy="411480"/>
          </a:xfrm>
          <a:prstGeom prst="rect">
            <a:avLst/>
          </a:prstGeom>
          <a:noFill/>
          <a:ln/>
        </p:spPr>
        <p:txBody>
          <a:bodyPr wrap="square" lIns="0" tIns="0" rIns="0" bIns="0" rtlCol="0" anchor="ctr"/>
          <a:lstStyle/>
          <a:p>
            <a:pPr indent="0" marL="0">
              <a:buNone/>
            </a:pPr>
            <a:r>
              <a:rPr lang="en-US" sz="1800" b="1" dirty="0">
                <a:solidFill>
                  <a:srgbClr val="1F77B4"/>
                </a:solidFill>
                <a:latin typeface="Cambria" pitchFamily="34" charset="0"/>
                <a:ea typeface="Cambria" pitchFamily="34" charset="-122"/>
                <a:cs typeface="Cambria" pitchFamily="34" charset="-120"/>
              </a:rPr>
              <a:t>RQ3</a:t>
            </a:r>
            <a:endParaRPr lang="en-US" sz="1800" dirty="0"/>
          </a:p>
        </p:txBody>
      </p:sp>
      <p:sp>
        <p:nvSpPr>
          <p:cNvPr id="21" name="Text 19"/>
          <p:cNvSpPr/>
          <p:nvPr/>
        </p:nvSpPr>
        <p:spPr>
          <a:xfrm>
            <a:off x="8275320" y="4937760"/>
            <a:ext cx="3200400" cy="8686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Failure modes: how much do captions hallucinate? (CHAIR-audio)</a:t>
            </a:r>
            <a:endParaRPr lang="en-US" sz="1300" dirty="0"/>
          </a:p>
        </p:txBody>
      </p:sp>
      <p:sp>
        <p:nvSpPr>
          <p:cNvPr id="22" name="Text 20"/>
          <p:cNvSpPr/>
          <p:nvPr/>
        </p:nvSpPr>
        <p:spPr>
          <a:xfrm>
            <a:off x="548640" y="6172200"/>
            <a:ext cx="1106424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Preregistered hypotheses H1–H4 with BCa bootstrap and Holm correction.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Method: one harness for all six systems</a:t>
            </a:r>
            <a:endParaRPr lang="en-US" sz="3000" dirty="0"/>
          </a:p>
        </p:txBody>
      </p:sp>
      <p:sp>
        <p:nvSpPr>
          <p:cNvPr id="3" name="Shape 1"/>
          <p:cNvSpPr/>
          <p:nvPr/>
        </p:nvSpPr>
        <p:spPr>
          <a:xfrm>
            <a:off x="548640" y="1371600"/>
            <a:ext cx="2084832" cy="1143000"/>
          </a:xfrm>
          <a:prstGeom prst="roundRect">
            <a:avLst>
              <a:gd name="adj" fmla="val 6400"/>
            </a:avLst>
          </a:prstGeom>
          <a:solidFill>
            <a:srgbClr val="EEF3FA"/>
          </a:solidFill>
          <a:ln/>
        </p:spPr>
      </p:sp>
      <p:sp>
        <p:nvSpPr>
          <p:cNvPr id="4" name="Text 2"/>
          <p:cNvSpPr/>
          <p:nvPr/>
        </p:nvSpPr>
        <p:spPr>
          <a:xfrm>
            <a:off x="62179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Clotho v2.1 eval</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1,045 clips, 44.1 kHz</a:t>
            </a:r>
            <a:endParaRPr lang="en-US" sz="1150" dirty="0"/>
          </a:p>
        </p:txBody>
      </p:sp>
      <p:sp>
        <p:nvSpPr>
          <p:cNvPr id="5" name="Text 3"/>
          <p:cNvSpPr/>
          <p:nvPr/>
        </p:nvSpPr>
        <p:spPr>
          <a:xfrm>
            <a:off x="2592324" y="1673352"/>
            <a:ext cx="384048"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6" name="Shape 4"/>
          <p:cNvSpPr/>
          <p:nvPr/>
        </p:nvSpPr>
        <p:spPr>
          <a:xfrm>
            <a:off x="2926080" y="1371600"/>
            <a:ext cx="2084832" cy="1143000"/>
          </a:xfrm>
          <a:prstGeom prst="roundRect">
            <a:avLst>
              <a:gd name="adj" fmla="val 6400"/>
            </a:avLst>
          </a:prstGeom>
          <a:solidFill>
            <a:srgbClr val="EEF3FA"/>
          </a:solidFill>
          <a:ln/>
        </p:spPr>
      </p:sp>
      <p:sp>
        <p:nvSpPr>
          <p:cNvPr id="7" name="Text 5"/>
          <p:cNvSpPr/>
          <p:nvPr/>
        </p:nvSpPr>
        <p:spPr>
          <a:xfrm>
            <a:off x="299923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caption(waveform, sr)</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one contract per system</a:t>
            </a:r>
            <a:endParaRPr lang="en-US" sz="1150" dirty="0"/>
          </a:p>
        </p:txBody>
      </p:sp>
      <p:sp>
        <p:nvSpPr>
          <p:cNvPr id="8" name="Text 6"/>
          <p:cNvSpPr/>
          <p:nvPr/>
        </p:nvSpPr>
        <p:spPr>
          <a:xfrm>
            <a:off x="4969764" y="1673352"/>
            <a:ext cx="384048"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5303520" y="1371600"/>
            <a:ext cx="2084832" cy="1143000"/>
          </a:xfrm>
          <a:prstGeom prst="roundRect">
            <a:avLst>
              <a:gd name="adj" fmla="val 6400"/>
            </a:avLst>
          </a:prstGeom>
          <a:solidFill>
            <a:srgbClr val="EEF3FA"/>
          </a:solidFill>
          <a:ln/>
        </p:spPr>
      </p:sp>
      <p:sp>
        <p:nvSpPr>
          <p:cNvPr id="10" name="Text 8"/>
          <p:cNvSpPr/>
          <p:nvPr/>
        </p:nvSpPr>
        <p:spPr>
          <a:xfrm>
            <a:off x="537667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predictions JSON + manifest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SHA-256s, versions, seed 42</a:t>
            </a:r>
            <a:endParaRPr lang="en-US" sz="1150" dirty="0"/>
          </a:p>
        </p:txBody>
      </p:sp>
      <p:sp>
        <p:nvSpPr>
          <p:cNvPr id="11" name="Text 9"/>
          <p:cNvSpPr/>
          <p:nvPr/>
        </p:nvSpPr>
        <p:spPr>
          <a:xfrm>
            <a:off x="7347204" y="1673352"/>
            <a:ext cx="384048"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7680960" y="1371600"/>
            <a:ext cx="2084832" cy="1143000"/>
          </a:xfrm>
          <a:prstGeom prst="roundRect">
            <a:avLst>
              <a:gd name="adj" fmla="val 6400"/>
            </a:avLst>
          </a:prstGeom>
          <a:solidFill>
            <a:srgbClr val="EEF3FA"/>
          </a:solidFill>
          <a:ln/>
        </p:spPr>
      </p:sp>
      <p:sp>
        <p:nvSpPr>
          <p:cNvPr id="13" name="Text 11"/>
          <p:cNvSpPr/>
          <p:nvPr/>
        </p:nvSpPr>
        <p:spPr>
          <a:xfrm>
            <a:off x="775411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aac-metrics scorer</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SPIDEr-FL, CIDEr, SPICE</a:t>
            </a:r>
            <a:endParaRPr lang="en-US" sz="1150" dirty="0"/>
          </a:p>
        </p:txBody>
      </p:sp>
      <p:sp>
        <p:nvSpPr>
          <p:cNvPr id="14" name="Text 12"/>
          <p:cNvSpPr/>
          <p:nvPr/>
        </p:nvSpPr>
        <p:spPr>
          <a:xfrm>
            <a:off x="9724644" y="1673352"/>
            <a:ext cx="384048"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10058400" y="1371600"/>
            <a:ext cx="2084832" cy="1143000"/>
          </a:xfrm>
          <a:prstGeom prst="roundRect">
            <a:avLst>
              <a:gd name="adj" fmla="val 6400"/>
            </a:avLst>
          </a:prstGeom>
          <a:solidFill>
            <a:srgbClr val="EEF3FA"/>
          </a:solidFill>
          <a:ln/>
        </p:spPr>
      </p:sp>
      <p:sp>
        <p:nvSpPr>
          <p:cNvPr id="16" name="Text 14"/>
          <p:cNvSpPr/>
          <p:nvPr/>
        </p:nvSpPr>
        <p:spPr>
          <a:xfrm>
            <a:off x="10131552" y="1444752"/>
            <a:ext cx="1938528" cy="996696"/>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analysis</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subsets, CHAIR, MACE, bootstrap</a:t>
            </a:r>
            <a:endParaRPr lang="en-US" sz="1150" dirty="0"/>
          </a:p>
        </p:txBody>
      </p:sp>
      <p:sp>
        <p:nvSpPr>
          <p:cNvPr id="17" name="Shape 15"/>
          <p:cNvSpPr/>
          <p:nvPr/>
        </p:nvSpPr>
        <p:spPr>
          <a:xfrm>
            <a:off x="548640" y="3017520"/>
            <a:ext cx="3611880" cy="2286000"/>
          </a:xfrm>
          <a:prstGeom prst="roundRect">
            <a:avLst>
              <a:gd name="adj" fmla="val 3200"/>
            </a:avLst>
          </a:prstGeom>
          <a:solidFill>
            <a:srgbClr val="FFFFFF"/>
          </a:solidFill>
          <a:ln/>
        </p:spPr>
      </p:sp>
      <p:sp>
        <p:nvSpPr>
          <p:cNvPr id="18" name="Shape 16"/>
          <p:cNvSpPr/>
          <p:nvPr/>
        </p:nvSpPr>
        <p:spPr>
          <a:xfrm>
            <a:off x="548640" y="3017520"/>
            <a:ext cx="3611880" cy="2286000"/>
          </a:xfrm>
          <a:prstGeom prst="roundRect">
            <a:avLst>
              <a:gd name="adj" fmla="val 3200"/>
            </a:avLst>
          </a:prstGeom>
          <a:solidFill>
            <a:srgbClr val="EEF3FA"/>
          </a:solidFill>
          <a:ln/>
        </p:spPr>
      </p:sp>
      <p:sp>
        <p:nvSpPr>
          <p:cNvPr id="19" name="Text 17"/>
          <p:cNvSpPr/>
          <p:nvPr/>
        </p:nvSpPr>
        <p:spPr>
          <a:xfrm>
            <a:off x="777240" y="3200400"/>
            <a:ext cx="3154680" cy="41148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Harness validated</a:t>
            </a:r>
            <a:endParaRPr lang="en-US" sz="1600" dirty="0"/>
          </a:p>
        </p:txBody>
      </p:sp>
      <p:sp>
        <p:nvSpPr>
          <p:cNvPr id="20" name="Text 18"/>
          <p:cNvSpPr/>
          <p:nvPr/>
        </p:nvSpPr>
        <p:spPr>
          <a:xfrm>
            <a:off x="777240" y="3703320"/>
            <a:ext cx="3154680" cy="1463040"/>
          </a:xfrm>
          <a:prstGeom prst="rect">
            <a:avLst/>
          </a:prstGeom>
          <a:noFill/>
          <a:ln/>
        </p:spPr>
        <p:txBody>
          <a:bodyPr wrap="square" lIns="0" tIns="0" rIns="0" bIns="0" rtlCol="0" anchor="ctr"/>
          <a:lstStyle/>
          <a:p>
            <a:pPr indent="0" marL="0">
              <a:lnSpc>
                <a:spcPct val="110000"/>
              </a:lnSpc>
              <a:buNone/>
            </a:pPr>
            <a:r>
              <a:rPr lang="en-US" sz="1350" dirty="0">
                <a:solidFill>
                  <a:srgbClr val="1F2937"/>
                </a:solidFill>
                <a:latin typeface="Calibri" pitchFamily="34" charset="0"/>
                <a:ea typeface="Calibri" pitchFamily="34" charset="-122"/>
                <a:cs typeface="Calibri" pitchFamily="34" charset="-120"/>
              </a:rPr>
              <a:t>CNN14 reproduces its official score: 0.259 vs 0.261 published. Same scorer, clips, and references for every row.</a:t>
            </a:r>
            <a:endParaRPr lang="en-US" sz="1350" dirty="0"/>
          </a:p>
        </p:txBody>
      </p:sp>
      <p:sp>
        <p:nvSpPr>
          <p:cNvPr id="21" name="Shape 19"/>
          <p:cNvSpPr/>
          <p:nvPr/>
        </p:nvSpPr>
        <p:spPr>
          <a:xfrm>
            <a:off x="4434840" y="3017520"/>
            <a:ext cx="3611880" cy="2286000"/>
          </a:xfrm>
          <a:prstGeom prst="roundRect">
            <a:avLst>
              <a:gd name="adj" fmla="val 3200"/>
            </a:avLst>
          </a:prstGeom>
          <a:solidFill>
            <a:srgbClr val="FFFFFF"/>
          </a:solidFill>
          <a:ln/>
        </p:spPr>
      </p:sp>
      <p:sp>
        <p:nvSpPr>
          <p:cNvPr id="22" name="Shape 20"/>
          <p:cNvSpPr/>
          <p:nvPr/>
        </p:nvSpPr>
        <p:spPr>
          <a:xfrm>
            <a:off x="4434840" y="3017520"/>
            <a:ext cx="3611880" cy="2286000"/>
          </a:xfrm>
          <a:prstGeom prst="roundRect">
            <a:avLst>
              <a:gd name="adj" fmla="val 3200"/>
            </a:avLst>
          </a:prstGeom>
          <a:solidFill>
            <a:srgbClr val="EEF3FA"/>
          </a:solidFill>
          <a:ln/>
        </p:spPr>
      </p:sp>
      <p:sp>
        <p:nvSpPr>
          <p:cNvPr id="23" name="Text 21"/>
          <p:cNvSpPr/>
          <p:nvPr/>
        </p:nvSpPr>
        <p:spPr>
          <a:xfrm>
            <a:off x="4663440" y="3200400"/>
            <a:ext cx="3154680" cy="41148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LALMs on one A100 each</a:t>
            </a:r>
            <a:endParaRPr lang="en-US" sz="1600" dirty="0"/>
          </a:p>
        </p:txBody>
      </p:sp>
      <p:sp>
        <p:nvSpPr>
          <p:cNvPr id="24" name="Text 22"/>
          <p:cNvSpPr/>
          <p:nvPr/>
        </p:nvSpPr>
        <p:spPr>
          <a:xfrm>
            <a:off x="4663440" y="3703320"/>
            <a:ext cx="3154680" cy="1463040"/>
          </a:xfrm>
          <a:prstGeom prst="rect">
            <a:avLst/>
          </a:prstGeom>
          <a:noFill/>
          <a:ln/>
        </p:spPr>
        <p:txBody>
          <a:bodyPr wrap="square" lIns="0" tIns="0" rIns="0" bIns="0" rtlCol="0" anchor="ctr"/>
          <a:lstStyle/>
          <a:p>
            <a:pPr indent="0" marL="0">
              <a:lnSpc>
                <a:spcPct val="110000"/>
              </a:lnSpc>
              <a:buNone/>
            </a:pPr>
            <a:r>
              <a:rPr lang="en-US" sz="1350" dirty="0">
                <a:solidFill>
                  <a:srgbClr val="1F2937"/>
                </a:solidFill>
                <a:latin typeface="Calibri" pitchFamily="34" charset="0"/>
                <a:ea typeface="Calibri" pitchFamily="34" charset="-122"/>
                <a:cs typeface="Calibri" pitchFamily="34" charset="-120"/>
              </a:rPr>
              <a:t>Offline compute nodes, pre-cached checkpoints, fixed one-line prompt recorded per run. Full runs take 8 to 19 minutes.</a:t>
            </a:r>
            <a:endParaRPr lang="en-US" sz="1350" dirty="0"/>
          </a:p>
        </p:txBody>
      </p:sp>
      <p:sp>
        <p:nvSpPr>
          <p:cNvPr id="25" name="Shape 23"/>
          <p:cNvSpPr/>
          <p:nvPr/>
        </p:nvSpPr>
        <p:spPr>
          <a:xfrm>
            <a:off x="8321040" y="3017520"/>
            <a:ext cx="3611880" cy="2286000"/>
          </a:xfrm>
          <a:prstGeom prst="roundRect">
            <a:avLst>
              <a:gd name="adj" fmla="val 3200"/>
            </a:avLst>
          </a:prstGeom>
          <a:solidFill>
            <a:srgbClr val="FFFFFF"/>
          </a:solidFill>
          <a:ln/>
        </p:spPr>
      </p:sp>
      <p:sp>
        <p:nvSpPr>
          <p:cNvPr id="26" name="Shape 24"/>
          <p:cNvSpPr/>
          <p:nvPr/>
        </p:nvSpPr>
        <p:spPr>
          <a:xfrm>
            <a:off x="8321040" y="3017520"/>
            <a:ext cx="3611880" cy="2286000"/>
          </a:xfrm>
          <a:prstGeom prst="roundRect">
            <a:avLst>
              <a:gd name="adj" fmla="val 3200"/>
            </a:avLst>
          </a:prstGeom>
          <a:solidFill>
            <a:srgbClr val="EEF3FA"/>
          </a:solidFill>
          <a:ln/>
        </p:spPr>
      </p:sp>
      <p:sp>
        <p:nvSpPr>
          <p:cNvPr id="27" name="Text 25"/>
          <p:cNvSpPr/>
          <p:nvPr/>
        </p:nvSpPr>
        <p:spPr>
          <a:xfrm>
            <a:off x="8549640" y="3200400"/>
            <a:ext cx="3154680" cy="41148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Complete and auditable</a:t>
            </a:r>
            <a:endParaRPr lang="en-US" sz="1600" dirty="0"/>
          </a:p>
        </p:txBody>
      </p:sp>
      <p:sp>
        <p:nvSpPr>
          <p:cNvPr id="28" name="Text 26"/>
          <p:cNvSpPr/>
          <p:nvPr/>
        </p:nvSpPr>
        <p:spPr>
          <a:xfrm>
            <a:off x="8549640" y="3703320"/>
            <a:ext cx="3154680" cy="1463040"/>
          </a:xfrm>
          <a:prstGeom prst="rect">
            <a:avLst/>
          </a:prstGeom>
          <a:noFill/>
          <a:ln/>
        </p:spPr>
        <p:txBody>
          <a:bodyPr wrap="square" lIns="0" tIns="0" rIns="0" bIns="0" rtlCol="0" anchor="ctr"/>
          <a:lstStyle/>
          <a:p>
            <a:pPr indent="0" marL="0">
              <a:lnSpc>
                <a:spcPct val="110000"/>
              </a:lnSpc>
              <a:buNone/>
            </a:pPr>
            <a:r>
              <a:rPr lang="en-US" sz="1350" dirty="0">
                <a:solidFill>
                  <a:srgbClr val="1F2937"/>
                </a:solidFill>
                <a:latin typeface="Calibri" pitchFamily="34" charset="0"/>
                <a:ea typeface="Calibri" pitchFamily="34" charset="-122"/>
                <a:cs typeface="Calibri" pitchFamily="34" charset="-120"/>
              </a:rPr>
              <a:t>1,045 of 1,045 clips for every system, zero failures. Every number traces to a committed result file.</a:t>
            </a:r>
            <a:endParaRPr lang="en-US" sz="1350" dirty="0"/>
          </a:p>
        </p:txBody>
      </p:sp>
      <p:sp>
        <p:nvSpPr>
          <p:cNvPr id="29" name="Text 27"/>
          <p:cNvSpPr/>
          <p:nvPr/>
        </p:nvSpPr>
        <p:spPr>
          <a:xfrm>
            <a:off x="548640" y="5623560"/>
            <a:ext cx="11064240" cy="41148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Baselines on CPU, LALMs on NHR@FAU TinyGPU. Only the compute location moves; the measurement never changes.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RQ1: It depends on the model</a:t>
            </a:r>
            <a:endParaRPr lang="en-US" sz="3000" dirty="0"/>
          </a:p>
        </p:txBody>
      </p:sp>
      <p:graphicFrame>
        <p:nvGraphicFramePr>
          <p:cNvPr id="3" name="Chart 0" descr=""/>
          <p:cNvGraphicFramePr/>
          <p:nvPr/>
        </p:nvGraphicFramePr>
        <p:xfrm>
          <a:off x="457200" y="11430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143000"/>
            <a:ext cx="3840480" cy="1188720"/>
          </a:xfrm>
          <a:prstGeom prst="roundRect">
            <a:avLst>
              <a:gd name="adj" fmla="val 6154"/>
            </a:avLst>
          </a:prstGeom>
          <a:solidFill>
            <a:srgbClr val="EEF3FA"/>
          </a:solidFill>
          <a:ln/>
        </p:spPr>
      </p:sp>
      <p:sp>
        <p:nvSpPr>
          <p:cNvPr id="5" name="Text 2"/>
          <p:cNvSpPr/>
          <p:nvPr/>
        </p:nvSpPr>
        <p:spPr>
          <a:xfrm>
            <a:off x="7973568" y="1261872"/>
            <a:ext cx="3474720" cy="960120"/>
          </a:xfrm>
          <a:prstGeom prst="rect">
            <a:avLst/>
          </a:prstGeom>
          <a:noFill/>
          <a:ln/>
        </p:spPr>
        <p:txBody>
          <a:bodyPr wrap="square" lIns="0" tIns="0" rIns="0" bIns="0" rtlCol="0" anchor="ctr"/>
          <a:lstStyle/>
          <a:p>
            <a:pPr indent="0" marL="0">
              <a:buNone/>
            </a:pPr>
            <a:r>
              <a:rPr lang="en-US" sz="1300" b="1" dirty="0">
                <a:solidFill>
                  <a:srgbClr val="1F77B4"/>
                </a:solidFill>
                <a:latin typeface="Calibri" pitchFamily="34" charset="0"/>
                <a:ea typeface="Calibri" pitchFamily="34" charset="-122"/>
                <a:cs typeface="Calibri" pitchFamily="34" charset="-120"/>
              </a:rPr>
              <a:t>H1 ✓  </a:t>
            </a:r>
            <a:pPr indent="0" marL="0">
              <a:buNone/>
            </a:pPr>
            <a:r>
              <a:rPr lang="en-US" sz="1300" dirty="0">
                <a:solidFill>
                  <a:srgbClr val="1F2937"/>
                </a:solidFill>
                <a:latin typeface="Calibri" pitchFamily="34" charset="0"/>
                <a:ea typeface="Calibri" pitchFamily="34" charset="-122"/>
                <a:cs typeface="Calibri" pitchFamily="34" charset="-120"/>
              </a:rPr>
              <a:t>AF3 beats the 0.261 baseline: CI lower 0.283, p ≈ 0.001, Holm-corrected</a:t>
            </a:r>
            <a:endParaRPr lang="en-US" sz="1300" dirty="0"/>
          </a:p>
        </p:txBody>
      </p:sp>
      <p:sp>
        <p:nvSpPr>
          <p:cNvPr id="6" name="Shape 3"/>
          <p:cNvSpPr/>
          <p:nvPr/>
        </p:nvSpPr>
        <p:spPr>
          <a:xfrm>
            <a:off x="7772400" y="2514600"/>
            <a:ext cx="3840480" cy="1188720"/>
          </a:xfrm>
          <a:prstGeom prst="roundRect">
            <a:avLst>
              <a:gd name="adj" fmla="val 6154"/>
            </a:avLst>
          </a:prstGeom>
          <a:solidFill>
            <a:srgbClr val="EEF3FA"/>
          </a:solidFill>
          <a:ln/>
        </p:spPr>
      </p:sp>
      <p:sp>
        <p:nvSpPr>
          <p:cNvPr id="7" name="Text 4"/>
          <p:cNvSpPr/>
          <p:nvPr/>
        </p:nvSpPr>
        <p:spPr>
          <a:xfrm>
            <a:off x="7973568" y="2633472"/>
            <a:ext cx="3474720" cy="960120"/>
          </a:xfrm>
          <a:prstGeom prst="rect">
            <a:avLst/>
          </a:prstGeom>
          <a:noFill/>
          <a:ln/>
        </p:spPr>
        <p:txBody>
          <a:bodyPr wrap="square" lIns="0" tIns="0" rIns="0" bIns="0" rtlCol="0" anchor="ctr"/>
          <a:lstStyle/>
          <a:p>
            <a:pPr indent="0" marL="0">
              <a:buNone/>
            </a:pPr>
            <a:r>
              <a:rPr lang="en-US" sz="1300" b="1" dirty="0">
                <a:solidFill>
                  <a:srgbClr val="1F77B4"/>
                </a:solidFill>
                <a:latin typeface="Calibri" pitchFamily="34" charset="0"/>
                <a:ea typeface="Calibri" pitchFamily="34" charset="-122"/>
                <a:cs typeface="Calibri" pitchFamily="34" charset="-120"/>
              </a:rPr>
              <a:t>H3 ✓  </a:t>
            </a:r>
            <a:pPr indent="0" marL="0">
              <a:buNone/>
            </a:pPr>
            <a:r>
              <a:rPr lang="en-US" sz="1300" dirty="0">
                <a:solidFill>
                  <a:srgbClr val="1F2937"/>
                </a:solidFill>
                <a:latin typeface="Calibri" pitchFamily="34" charset="0"/>
                <a:ea typeface="Calibri" pitchFamily="34" charset="-122"/>
                <a:cs typeface="Calibri" pitchFamily="34" charset="-120"/>
              </a:rPr>
              <a:t>AF3 over SALMONN, paired per clip: +0.072 (CI lower +0.058)</a:t>
            </a:r>
            <a:endParaRPr lang="en-US" sz="1300" dirty="0"/>
          </a:p>
        </p:txBody>
      </p:sp>
      <p:sp>
        <p:nvSpPr>
          <p:cNvPr id="8" name="Shape 5"/>
          <p:cNvSpPr/>
          <p:nvPr/>
        </p:nvSpPr>
        <p:spPr>
          <a:xfrm>
            <a:off x="7772400" y="3886200"/>
            <a:ext cx="3840480" cy="1737360"/>
          </a:xfrm>
          <a:prstGeom prst="roundRect">
            <a:avLst>
              <a:gd name="adj" fmla="val 4211"/>
            </a:avLst>
          </a:prstGeom>
          <a:solidFill>
            <a:srgbClr val="FDF2F2"/>
          </a:solidFill>
          <a:ln/>
        </p:spPr>
      </p:sp>
      <p:sp>
        <p:nvSpPr>
          <p:cNvPr id="9" name="Text 6"/>
          <p:cNvSpPr/>
          <p:nvPr/>
        </p:nvSpPr>
        <p:spPr>
          <a:xfrm>
            <a:off x="7973568" y="4023360"/>
            <a:ext cx="3474720" cy="150876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Published anchors  </a:t>
            </a:r>
            <a:pPr indent="0" marL="0">
              <a:buNone/>
            </a:pPr>
            <a:r>
              <a:rPr lang="en-US" sz="1250" dirty="0">
                <a:solidFill>
                  <a:srgbClr val="1F2937"/>
                </a:solidFill>
                <a:latin typeface="Calibri" pitchFamily="34" charset="0"/>
                <a:ea typeface="Calibri" pitchFamily="34" charset="-122"/>
                <a:cs typeface="Calibri" pitchFamily="34" charset="-120"/>
              </a:rPr>
              <a:t>CNN14 0.261 (official), EnCLAP-base 0.291. Our EnCLAP row runs 1.1 pp low (released checkpoint / decoding); disclosed in the paper. H1 is anchored on CNN14.</a:t>
            </a:r>
            <a:endParaRPr lang="en-US" sz="1250" dirty="0"/>
          </a:p>
        </p:txBody>
      </p:sp>
      <p:sp>
        <p:nvSpPr>
          <p:cNvPr id="10" name="Text 7"/>
          <p:cNvSpPr/>
          <p:nvPr/>
        </p:nvSpPr>
        <p:spPr>
          <a:xfrm>
            <a:off x="548640" y="5943600"/>
            <a:ext cx="1106424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Two LALMs trail both trained captioners. The audio specialist AF3 beats both, on every metric, and clears EnCLAP's published SPIDEr-FL too.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What the captions actually look like</a:t>
            </a:r>
            <a:endParaRPr lang="en-US" sz="3000" dirty="0"/>
          </a:p>
        </p:txBody>
      </p:sp>
      <p:sp>
        <p:nvSpPr>
          <p:cNvPr id="3" name="Text 1"/>
          <p:cNvSpPr/>
          <p:nvPr/>
        </p:nvSpPr>
        <p:spPr>
          <a:xfrm>
            <a:off x="548640" y="1024128"/>
            <a:ext cx="11064240" cy="320040"/>
          </a:xfrm>
          <a:prstGeom prst="rect">
            <a:avLst/>
          </a:prstGeom>
          <a:noFill/>
          <a:ln/>
        </p:spPr>
        <p:txBody>
          <a:bodyPr wrap="square" lIns="0" tIns="0" rIns="0" bIns="0" rtlCol="0" anchor="ctr"/>
          <a:lstStyle/>
          <a:p>
            <a:pPr indent="0" marL="0">
              <a:buNone/>
            </a:pPr>
            <a:r>
              <a:rPr lang="en-US" sz="1300" dirty="0">
                <a:solidFill>
                  <a:srgbClr val="6B7280"/>
                </a:solidFill>
                <a:latin typeface="Courier New" pitchFamily="34" charset="0"/>
                <a:ea typeface="Courier New" pitchFamily="34" charset="-122"/>
                <a:cs typeface="Courier New" pitchFamily="34" charset="-120"/>
              </a:rPr>
              <a:t>creaky.wav</a:t>
            </a:r>
            <a:pPr indent="0" marL="0">
              <a:buNone/>
            </a:pPr>
            <a:r>
              <a:rPr lang="en-US" sz="1300" dirty="0">
                <a:solidFill>
                  <a:srgbClr val="6B7280"/>
                </a:solidFill>
              </a:rPr>
              <a:t>   one of the five human references:</a:t>
            </a:r>
            <a:endParaRPr lang="en-US" sz="13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indent="0" marL="0">
              <a:buNone/>
            </a:pPr>
            <a:r>
              <a:rPr lang="en-US" sz="1500" i="1" dirty="0">
                <a:solidFill>
                  <a:srgbClr val="1F2937"/>
                </a:solidFill>
                <a:latin typeface="Cambria" pitchFamily="34" charset="0"/>
                <a:ea typeface="Cambria" pitchFamily="34" charset="-122"/>
                <a:cs typeface="Cambria" pitchFamily="34" charset="-120"/>
              </a:rPr>
              <a:t>“First, people are walking and then voices are talking in the background while music plays softly.”</a:t>
            </a:r>
            <a:endParaRPr lang="en-US" sz="1500" dirty="0"/>
          </a:p>
        </p:txBody>
      </p:sp>
      <p:sp>
        <p:nvSpPr>
          <p:cNvPr id="5" name="Shape 3"/>
          <p:cNvSpPr/>
          <p:nvPr/>
        </p:nvSpPr>
        <p:spPr>
          <a:xfrm>
            <a:off x="548640" y="2057400"/>
            <a:ext cx="11064240" cy="713232"/>
          </a:xfrm>
          <a:prstGeom prst="roundRect">
            <a:avLst>
              <a:gd name="adj" fmla="val 10256"/>
            </a:avLst>
          </a:prstGeom>
          <a:solidFill>
            <a:srgbClr val="EEF3FA"/>
          </a:solidFill>
          <a:ln/>
        </p:spPr>
      </p:sp>
      <p:sp>
        <p:nvSpPr>
          <p:cNvPr id="6" name="Text 4"/>
          <p:cNvSpPr/>
          <p:nvPr/>
        </p:nvSpPr>
        <p:spPr>
          <a:xfrm>
            <a:off x="777240" y="2130552"/>
            <a:ext cx="1920240" cy="566928"/>
          </a:xfrm>
          <a:prstGeom prst="rect">
            <a:avLst/>
          </a:prstGeom>
          <a:noFill/>
          <a:ln/>
        </p:spPr>
        <p:txBody>
          <a:bodyPr wrap="square" lIns="0" tIns="0" rIns="0" bIns="0" rtlCol="0" anchor="ctr"/>
          <a:lstStyle/>
          <a:p>
            <a:pPr indent="0" marL="0">
              <a:buNone/>
            </a:pPr>
            <a:r>
              <a:rPr lang="en-US" sz="1250" b="1" dirty="0">
                <a:solidFill>
                  <a:srgbClr val="9E9E9E"/>
                </a:solidFill>
                <a:latin typeface="Calibri" pitchFamily="34" charset="0"/>
                <a:ea typeface="Calibri" pitchFamily="34" charset="-122"/>
                <a:cs typeface="Calibri" pitchFamily="34" charset="-120"/>
              </a:rPr>
              <a:t>AST (floor)</a:t>
            </a:r>
            <a:endParaRPr lang="en-US" sz="1250" dirty="0"/>
          </a:p>
        </p:txBody>
      </p:sp>
      <p:sp>
        <p:nvSpPr>
          <p:cNvPr id="7" name="Text 5"/>
          <p:cNvSpPr/>
          <p:nvPr/>
        </p:nvSpPr>
        <p:spPr>
          <a:xfrm>
            <a:off x="2788920" y="213055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 sound of speech, walk, footsteps, animal, inside, large room or hall and outside, rural or natural</a:t>
            </a:r>
            <a:endParaRPr lang="en-US" sz="1250" dirty="0"/>
          </a:p>
        </p:txBody>
      </p:sp>
      <p:sp>
        <p:nvSpPr>
          <p:cNvPr id="8" name="Text 6"/>
          <p:cNvSpPr/>
          <p:nvPr/>
        </p:nvSpPr>
        <p:spPr>
          <a:xfrm>
            <a:off x="8961120" y="213055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a tag list, not a sentence</a:t>
            </a:r>
            <a:endParaRPr lang="en-US" sz="1100" dirty="0"/>
          </a:p>
        </p:txBody>
      </p:sp>
      <p:sp>
        <p:nvSpPr>
          <p:cNvPr id="9" name="Shape 7"/>
          <p:cNvSpPr/>
          <p:nvPr/>
        </p:nvSpPr>
        <p:spPr>
          <a:xfrm>
            <a:off x="548640" y="2880360"/>
            <a:ext cx="11064240" cy="713232"/>
          </a:xfrm>
          <a:prstGeom prst="roundRect">
            <a:avLst>
              <a:gd name="adj" fmla="val 10256"/>
            </a:avLst>
          </a:prstGeom>
          <a:solidFill>
            <a:srgbClr val="EEF3FA"/>
          </a:solidFill>
          <a:ln/>
        </p:spPr>
      </p:sp>
      <p:sp>
        <p:nvSpPr>
          <p:cNvPr id="10" name="Text 8"/>
          <p:cNvSpPr/>
          <p:nvPr/>
        </p:nvSpPr>
        <p:spPr>
          <a:xfrm>
            <a:off x="777240" y="2953512"/>
            <a:ext cx="1920240" cy="566928"/>
          </a:xfrm>
          <a:prstGeom prst="rect">
            <a:avLst/>
          </a:prstGeom>
          <a:noFill/>
          <a:ln/>
        </p:spPr>
        <p:txBody>
          <a:bodyPr wrap="square" lIns="0" tIns="0" rIns="0" bIns="0" rtlCol="0" anchor="ctr"/>
          <a:lstStyle/>
          <a:p>
            <a:pPr indent="0" marL="0">
              <a:buNone/>
            </a:pPr>
            <a:r>
              <a:rPr lang="en-US" sz="1250" b="1" dirty="0">
                <a:solidFill>
                  <a:srgbClr val="1F77B4"/>
                </a:solidFill>
                <a:latin typeface="Calibri" pitchFamily="34" charset="0"/>
                <a:ea typeface="Calibri" pitchFamily="34" charset="-122"/>
                <a:cs typeface="Calibri" pitchFamily="34" charset="-120"/>
              </a:rPr>
              <a:t>Qwen2.5-Omni</a:t>
            </a:r>
            <a:endParaRPr lang="en-US" sz="1250" dirty="0"/>
          </a:p>
        </p:txBody>
      </p:sp>
      <p:sp>
        <p:nvSpPr>
          <p:cNvPr id="11" name="Text 9"/>
          <p:cNvSpPr/>
          <p:nvPr/>
        </p:nvSpPr>
        <p:spPr>
          <a:xfrm>
            <a:off x="2788920" y="295351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The audio contains the sounds of footsteps, a door creaking open and shut, and some indistinct voices in the background.</a:t>
            </a:r>
            <a:endParaRPr lang="en-US" sz="1250" dirty="0"/>
          </a:p>
        </p:txBody>
      </p:sp>
      <p:sp>
        <p:nvSpPr>
          <p:cNvPr id="12" name="Text 10"/>
          <p:cNvSpPr/>
          <p:nvPr/>
        </p:nvSpPr>
        <p:spPr>
          <a:xfrm>
            <a:off x="8961120" y="295351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report framing; no reference sounds like this</a:t>
            </a:r>
            <a:endParaRPr lang="en-US" sz="1100" dirty="0"/>
          </a:p>
        </p:txBody>
      </p:sp>
      <p:sp>
        <p:nvSpPr>
          <p:cNvPr id="13" name="Shape 11"/>
          <p:cNvSpPr/>
          <p:nvPr/>
        </p:nvSpPr>
        <p:spPr>
          <a:xfrm>
            <a:off x="548640" y="3703320"/>
            <a:ext cx="11064240" cy="713232"/>
          </a:xfrm>
          <a:prstGeom prst="roundRect">
            <a:avLst>
              <a:gd name="adj" fmla="val 10256"/>
            </a:avLst>
          </a:prstGeom>
          <a:solidFill>
            <a:srgbClr val="EEF3FA"/>
          </a:solidFill>
          <a:ln/>
        </p:spPr>
      </p:sp>
      <p:sp>
        <p:nvSpPr>
          <p:cNvPr id="14" name="Text 12"/>
          <p:cNvSpPr/>
          <p:nvPr/>
        </p:nvSpPr>
        <p:spPr>
          <a:xfrm>
            <a:off x="777240" y="3776472"/>
            <a:ext cx="1920240" cy="566928"/>
          </a:xfrm>
          <a:prstGeom prst="rect">
            <a:avLst/>
          </a:prstGeom>
          <a:noFill/>
          <a:ln/>
        </p:spPr>
        <p:txBody>
          <a:bodyPr wrap="square" lIns="0" tIns="0" rIns="0" bIns="0" rtlCol="0" anchor="ctr"/>
          <a:lstStyle/>
          <a:p>
            <a:pPr indent="0" marL="0">
              <a:buNone/>
            </a:pPr>
            <a:r>
              <a:rPr lang="en-US" sz="1250" b="1" dirty="0">
                <a:solidFill>
                  <a:srgbClr val="1F77B4"/>
                </a:solidFill>
                <a:latin typeface="Calibri" pitchFamily="34" charset="0"/>
                <a:ea typeface="Calibri" pitchFamily="34" charset="-122"/>
                <a:cs typeface="Calibri" pitchFamily="34" charset="-120"/>
              </a:rPr>
              <a:t>SALMONN</a:t>
            </a:r>
            <a:endParaRPr lang="en-US" sz="1250" dirty="0"/>
          </a:p>
        </p:txBody>
      </p:sp>
      <p:sp>
        <p:nvSpPr>
          <p:cNvPr id="15" name="Text 13"/>
          <p:cNvSpPr/>
          <p:nvPr/>
        </p:nvSpPr>
        <p:spPr>
          <a:xfrm>
            <a:off x="2788920" y="377647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People are walking and talking in a corridor.</a:t>
            </a:r>
            <a:endParaRPr lang="en-US" sz="1250" dirty="0"/>
          </a:p>
        </p:txBody>
      </p:sp>
      <p:sp>
        <p:nvSpPr>
          <p:cNvPr id="16" name="Text 14"/>
          <p:cNvSpPr/>
          <p:nvPr/>
        </p:nvSpPr>
        <p:spPr>
          <a:xfrm>
            <a:off x="8961120" y="377647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short declarative</a:t>
            </a:r>
            <a:endParaRPr lang="en-US" sz="1100" dirty="0"/>
          </a:p>
        </p:txBody>
      </p:sp>
      <p:sp>
        <p:nvSpPr>
          <p:cNvPr id="17" name="Shape 15"/>
          <p:cNvSpPr/>
          <p:nvPr/>
        </p:nvSpPr>
        <p:spPr>
          <a:xfrm>
            <a:off x="548640" y="4526280"/>
            <a:ext cx="11064240" cy="713232"/>
          </a:xfrm>
          <a:prstGeom prst="roundRect">
            <a:avLst>
              <a:gd name="adj" fmla="val 10256"/>
            </a:avLst>
          </a:prstGeom>
          <a:solidFill>
            <a:srgbClr val="EEF3FA"/>
          </a:solidFill>
          <a:ln/>
        </p:spPr>
      </p:sp>
      <p:sp>
        <p:nvSpPr>
          <p:cNvPr id="18" name="Text 16"/>
          <p:cNvSpPr/>
          <p:nvPr/>
        </p:nvSpPr>
        <p:spPr>
          <a:xfrm>
            <a:off x="777240" y="4599432"/>
            <a:ext cx="1920240" cy="566928"/>
          </a:xfrm>
          <a:prstGeom prst="rect">
            <a:avLst/>
          </a:prstGeom>
          <a:noFill/>
          <a:ln/>
        </p:spPr>
        <p:txBody>
          <a:bodyPr wrap="square" lIns="0" tIns="0" rIns="0" bIns="0" rtlCol="0" anchor="ctr"/>
          <a:lstStyle/>
          <a:p>
            <a:pPr indent="0" marL="0">
              <a:buNone/>
            </a:pPr>
            <a:r>
              <a:rPr lang="en-US" sz="1250" b="1" dirty="0">
                <a:solidFill>
                  <a:srgbClr val="D62728"/>
                </a:solidFill>
                <a:latin typeface="Calibri" pitchFamily="34" charset="0"/>
                <a:ea typeface="Calibri" pitchFamily="34" charset="-122"/>
                <a:cs typeface="Calibri" pitchFamily="34" charset="-120"/>
              </a:rPr>
              <a:t>EnCLAP (trained)</a:t>
            </a:r>
            <a:endParaRPr lang="en-US" sz="1250" dirty="0"/>
          </a:p>
        </p:txBody>
      </p:sp>
      <p:sp>
        <p:nvSpPr>
          <p:cNvPr id="19" name="Text 17"/>
          <p:cNvSpPr/>
          <p:nvPr/>
        </p:nvSpPr>
        <p:spPr>
          <a:xfrm>
            <a:off x="2788920" y="459943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 person is walking on a hard floor.</a:t>
            </a:r>
            <a:endParaRPr lang="en-US" sz="1250" dirty="0"/>
          </a:p>
        </p:txBody>
      </p:sp>
      <p:sp>
        <p:nvSpPr>
          <p:cNvPr id="20" name="Text 18"/>
          <p:cNvSpPr/>
          <p:nvPr/>
        </p:nvSpPr>
        <p:spPr>
          <a:xfrm>
            <a:off x="8961120" y="459943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Clotho register (CNN14 similar)</a:t>
            </a:r>
            <a:endParaRPr lang="en-US" sz="1100" dirty="0"/>
          </a:p>
        </p:txBody>
      </p:sp>
      <p:sp>
        <p:nvSpPr>
          <p:cNvPr id="21" name="Shape 19"/>
          <p:cNvSpPr/>
          <p:nvPr/>
        </p:nvSpPr>
        <p:spPr>
          <a:xfrm>
            <a:off x="548640" y="5349240"/>
            <a:ext cx="11064240" cy="713232"/>
          </a:xfrm>
          <a:prstGeom prst="roundRect">
            <a:avLst>
              <a:gd name="adj" fmla="val 10256"/>
            </a:avLst>
          </a:prstGeom>
          <a:solidFill>
            <a:srgbClr val="EEF3FA"/>
          </a:solidFill>
          <a:ln/>
        </p:spPr>
      </p:sp>
      <p:sp>
        <p:nvSpPr>
          <p:cNvPr id="22" name="Text 20"/>
          <p:cNvSpPr/>
          <p:nvPr/>
        </p:nvSpPr>
        <p:spPr>
          <a:xfrm>
            <a:off x="777240" y="5422392"/>
            <a:ext cx="1920240" cy="566928"/>
          </a:xfrm>
          <a:prstGeom prst="rect">
            <a:avLst/>
          </a:prstGeom>
          <a:noFill/>
          <a:ln/>
        </p:spPr>
        <p:txBody>
          <a:bodyPr wrap="square" lIns="0" tIns="0" rIns="0" bIns="0" rtlCol="0" anchor="ctr"/>
          <a:lstStyle/>
          <a:p>
            <a:pPr indent="0" marL="0">
              <a:buNone/>
            </a:pPr>
            <a:r>
              <a:rPr lang="en-US" sz="1250" b="1" dirty="0">
                <a:solidFill>
                  <a:srgbClr val="1F77B4"/>
                </a:solidFill>
                <a:latin typeface="Calibri" pitchFamily="34" charset="0"/>
                <a:ea typeface="Calibri" pitchFamily="34" charset="-122"/>
                <a:cs typeface="Calibri" pitchFamily="34" charset="-120"/>
              </a:rPr>
              <a:t>Audio Flamingo 3</a:t>
            </a:r>
            <a:endParaRPr lang="en-US" sz="1250" dirty="0"/>
          </a:p>
        </p:txBody>
      </p:sp>
      <p:sp>
        <p:nvSpPr>
          <p:cNvPr id="23" name="Text 21"/>
          <p:cNvSpPr/>
          <p:nvPr/>
        </p:nvSpPr>
        <p:spPr>
          <a:xfrm>
            <a:off x="2788920" y="5422392"/>
            <a:ext cx="6035040" cy="56692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 person is walking around and talking while opening and closing a </a:t>
            </a:r>
            <a:pPr indent="0" marL="0">
              <a:buNone/>
            </a:pPr>
            <a:r>
              <a:rPr lang="en-US" sz="1250" b="1" dirty="0">
                <a:solidFill>
                  <a:srgbClr val="D62728"/>
                </a:solidFill>
                <a:latin typeface="Calibri" pitchFamily="34" charset="0"/>
                <a:ea typeface="Calibri" pitchFamily="34" charset="-122"/>
                <a:cs typeface="Calibri" pitchFamily="34" charset="-120"/>
              </a:rPr>
              <a:t>zipper</a:t>
            </a:r>
            <a:pP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p>
        </p:txBody>
      </p:sp>
      <p:sp>
        <p:nvSpPr>
          <p:cNvPr id="24" name="Text 22"/>
          <p:cNvSpPr/>
          <p:nvPr/>
        </p:nvSpPr>
        <p:spPr>
          <a:xfrm>
            <a:off x="8961120" y="5422392"/>
            <a:ext cx="2514600" cy="56692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fluent Clotho register, but invents a zipper</a:t>
            </a:r>
            <a:endParaRPr lang="en-US" sz="1100" dirty="0"/>
          </a:p>
        </p:txBody>
      </p:sp>
      <p:sp>
        <p:nvSpPr>
          <p:cNvPr id="25" name="Text 23"/>
          <p:cNvSpPr/>
          <p:nvPr/>
        </p:nvSpPr>
        <p:spPr>
          <a:xfrm>
            <a:off x="548640" y="6263640"/>
            <a:ext cx="11064240" cy="4114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Overlap metrics reward the Clotho register. Fluency can invent detail; that is RQ3.</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RQ2: Polyphony helps everyone, so it is the data, not the models</a:t>
            </a:r>
            <a:endParaRPr lang="en-US" sz="3000" dirty="0"/>
          </a:p>
        </p:txBody>
      </p:sp>
      <p:graphicFrame>
        <p:nvGraphicFramePr>
          <p:cNvPr id="3" name="Chart 0" descr=""/>
          <p:cNvGraphicFramePr/>
          <p:nvPr/>
        </p:nvGraphicFramePr>
        <p:xfrm>
          <a:off x="457200" y="11430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143000"/>
            <a:ext cx="3840480" cy="1325880"/>
          </a:xfrm>
          <a:prstGeom prst="roundRect">
            <a:avLst>
              <a:gd name="adj" fmla="val 5517"/>
            </a:avLst>
          </a:prstGeom>
          <a:solidFill>
            <a:srgbClr val="EEF3FA"/>
          </a:solidFill>
          <a:ln/>
        </p:spPr>
      </p:sp>
      <p:sp>
        <p:nvSpPr>
          <p:cNvPr id="5" name="Text 2"/>
          <p:cNvSpPr/>
          <p:nvPr/>
        </p:nvSpPr>
        <p:spPr>
          <a:xfrm>
            <a:off x="7973568" y="1280160"/>
            <a:ext cx="3474720" cy="1097280"/>
          </a:xfrm>
          <a:prstGeom prst="rect">
            <a:avLst/>
          </a:prstGeom>
          <a:noFill/>
          <a:ln/>
        </p:spPr>
        <p:txBody>
          <a:bodyPr wrap="square" lIns="0" tIns="0" rIns="0" bIns="0" rtlCol="0" anchor="ctr"/>
          <a:lstStyle/>
          <a:p>
            <a:pPr indent="0" marL="0">
              <a:buNone/>
            </a:pPr>
            <a:r>
              <a:rPr lang="en-US" sz="1300" b="1" dirty="0">
                <a:solidFill>
                  <a:srgbClr val="1F77B4"/>
                </a:solidFill>
                <a:latin typeface="Calibri" pitchFamily="34" charset="0"/>
                <a:ea typeface="Calibri" pitchFamily="34" charset="-122"/>
                <a:cs typeface="Calibri" pitchFamily="34" charset="-120"/>
              </a:rPr>
              <a:t>H2 ✓ all three LALMs  </a:t>
            </a:r>
            <a:pPr indent="0" marL="0">
              <a:buNone/>
            </a:pPr>
            <a:r>
              <a:rPr lang="en-US" sz="1300" dirty="0">
                <a:solidFill>
                  <a:srgbClr val="1F2937"/>
                </a:solidFill>
                <a:latin typeface="Calibri" pitchFamily="34" charset="0"/>
                <a:ea typeface="Calibri" pitchFamily="34" charset="-122"/>
                <a:cs typeface="Calibri" pitchFamily="34" charset="-120"/>
              </a:rPr>
              <a:t>+0.059 to +0.094, p ≈ 0.001. But the baselines shift the same way.</a:t>
            </a:r>
            <a:endParaRPr lang="en-US" sz="1300" dirty="0"/>
          </a:p>
        </p:txBody>
      </p:sp>
      <p:sp>
        <p:nvSpPr>
          <p:cNvPr id="6" name="Shape 3"/>
          <p:cNvSpPr/>
          <p:nvPr/>
        </p:nvSpPr>
        <p:spPr>
          <a:xfrm>
            <a:off x="7772400" y="2651760"/>
            <a:ext cx="3840480" cy="1234440"/>
          </a:xfrm>
          <a:prstGeom prst="roundRect">
            <a:avLst>
              <a:gd name="adj" fmla="val 5926"/>
            </a:avLst>
          </a:prstGeom>
          <a:solidFill>
            <a:srgbClr val="EEF3FA"/>
          </a:solidFill>
          <a:ln/>
        </p:spPr>
      </p:sp>
      <p:sp>
        <p:nvSpPr>
          <p:cNvPr id="7" name="Text 4"/>
          <p:cNvSpPr/>
          <p:nvPr/>
        </p:nvSpPr>
        <p:spPr>
          <a:xfrm>
            <a:off x="7973568" y="2788920"/>
            <a:ext cx="3474720" cy="100584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MACE agrees  </a:t>
            </a:r>
            <a:pPr indent="0" marL="0">
              <a:buNone/>
            </a:pPr>
            <a:r>
              <a:rPr lang="en-US" sz="1300" dirty="0">
                <a:solidFill>
                  <a:srgbClr val="1F2937"/>
                </a:solidFill>
                <a:latin typeface="Calibri" pitchFamily="34" charset="0"/>
                <a:ea typeface="Calibri" pitchFamily="34" charset="-122"/>
                <a:cs typeface="Calibri" pitchFamily="34" charset="-120"/>
              </a:rPr>
              <a:t>audio-grounded deltas +0.021 to +0.032, so this is not a reference-overlap artefact.</a:t>
            </a:r>
            <a:endParaRPr lang="en-US" sz="1300" dirty="0"/>
          </a:p>
        </p:txBody>
      </p:sp>
      <p:sp>
        <p:nvSpPr>
          <p:cNvPr id="8" name="Shape 5"/>
          <p:cNvSpPr/>
          <p:nvPr/>
        </p:nvSpPr>
        <p:spPr>
          <a:xfrm>
            <a:off x="7772400" y="4069080"/>
            <a:ext cx="3840480" cy="1554480"/>
          </a:xfrm>
          <a:prstGeom prst="roundRect">
            <a:avLst>
              <a:gd name="adj" fmla="val 4706"/>
            </a:avLst>
          </a:prstGeom>
          <a:solidFill>
            <a:srgbClr val="FFFFFF"/>
          </a:solidFill>
          <a:ln/>
        </p:spPr>
      </p:sp>
      <p:sp>
        <p:nvSpPr>
          <p:cNvPr id="9" name="Shape 6"/>
          <p:cNvSpPr/>
          <p:nvPr/>
        </p:nvSpPr>
        <p:spPr>
          <a:xfrm>
            <a:off x="7772400" y="4069080"/>
            <a:ext cx="3840480" cy="1554480"/>
          </a:xfrm>
          <a:prstGeom prst="roundRect">
            <a:avLst>
              <a:gd name="adj" fmla="val 4706"/>
            </a:avLst>
          </a:prstGeom>
          <a:solidFill>
            <a:srgbClr val="EEF3FA"/>
          </a:solidFill>
          <a:ln/>
        </p:spPr>
      </p:sp>
      <p:sp>
        <p:nvSpPr>
          <p:cNvPr id="10" name="Text 7"/>
          <p:cNvSpPr/>
          <p:nvPr/>
        </p:nvSpPr>
        <p:spPr>
          <a:xfrm>
            <a:off x="7973568" y="4206240"/>
            <a:ext cx="3474720" cy="132588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Harish &amp; Abeßer (DCASE 2025):  </a:t>
            </a:r>
            <a:pPr indent="0" marL="0">
              <a:buNone/>
            </a:pPr>
            <a:r>
              <a:rPr lang="en-US" sz="1250" dirty="0">
                <a:solidFill>
                  <a:srgbClr val="1F2937"/>
                </a:solidFill>
                <a:latin typeface="Calibri" pitchFamily="34" charset="0"/>
                <a:ea typeface="Calibri" pitchFamily="34" charset="-122"/>
                <a:cs typeface="Calibri" pitchFamily="34" charset="-120"/>
              </a:rPr>
              <a:t>event-level tasks degrade with polyphony. Caption-level description does not. The findings complement each other.</a:t>
            </a:r>
            <a:endParaRPr lang="en-US" sz="1250" dirty="0"/>
          </a:p>
        </p:txBody>
      </p:sp>
      <p:sp>
        <p:nvSpPr>
          <p:cNvPr id="11" name="Text 8"/>
          <p:cNvSpPr/>
          <p:nvPr/>
        </p:nvSpPr>
        <p:spPr>
          <a:xfrm>
            <a:off x="548640" y="5943600"/>
            <a:ext cx="1106424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Split: PANNs SED, τ = 0.25 (pre-committed fallback): 336 polyphonic / 709 monophonic. Event-rich clips give captions more matchable content.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RQ3: The best captioner is not the most grounded</a:t>
            </a:r>
            <a:endParaRPr lang="en-US" sz="3000" dirty="0"/>
          </a:p>
        </p:txBody>
      </p:sp>
      <p:graphicFrame>
        <p:nvGraphicFramePr>
          <p:cNvPr id="3" name="Chart 0" descr=""/>
          <p:cNvGraphicFramePr/>
          <p:nvPr/>
        </p:nvGraphicFramePr>
        <p:xfrm>
          <a:off x="457200" y="11430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143000"/>
            <a:ext cx="3840480" cy="1325880"/>
          </a:xfrm>
          <a:prstGeom prst="roundRect">
            <a:avLst>
              <a:gd name="adj" fmla="val 5517"/>
            </a:avLst>
          </a:prstGeom>
          <a:solidFill>
            <a:srgbClr val="EEF3FA"/>
          </a:solidFill>
          <a:ln/>
        </p:spPr>
      </p:sp>
      <p:sp>
        <p:nvSpPr>
          <p:cNvPr id="5" name="Text 2"/>
          <p:cNvSpPr/>
          <p:nvPr/>
        </p:nvSpPr>
        <p:spPr>
          <a:xfrm>
            <a:off x="7973568" y="1280160"/>
            <a:ext cx="3474720" cy="1097280"/>
          </a:xfrm>
          <a:prstGeom prst="rect">
            <a:avLst/>
          </a:prstGeom>
          <a:noFill/>
          <a:ln/>
        </p:spPr>
        <p:txBody>
          <a:bodyPr wrap="square" lIns="0" tIns="0" rIns="0" bIns="0" rtlCol="0" anchor="ctr"/>
          <a:lstStyle/>
          <a:p>
            <a:pPr indent="0" marL="0">
              <a:buNone/>
            </a:pPr>
            <a:r>
              <a:rPr lang="en-US" sz="1300" b="1" dirty="0">
                <a:solidFill>
                  <a:srgbClr val="D62728"/>
                </a:solidFill>
                <a:latin typeface="Calibri" pitchFamily="34" charset="0"/>
                <a:ea typeface="Calibri" pitchFamily="34" charset="-122"/>
                <a:cs typeface="Calibri" pitchFamily="34" charset="-120"/>
              </a:rPr>
              <a:t>H4: null retained  </a:t>
            </a:r>
            <a:pPr indent="0" marL="0">
              <a:buNone/>
            </a:pPr>
            <a:r>
              <a:rPr lang="en-US" sz="1300" dirty="0">
                <a:solidFill>
                  <a:srgbClr val="1F2937"/>
                </a:solidFill>
                <a:latin typeface="Calibri" pitchFamily="34" charset="0"/>
                <a:ea typeface="Calibri" pitchFamily="34" charset="-122"/>
                <a:cs typeface="Calibri" pitchFamily="34" charset="-120"/>
              </a:rPr>
              <a:t>AF3 does not hallucinate less than SALMONN per caption (-0.015, p = 0.82); stable across τ.</a:t>
            </a:r>
            <a:endParaRPr lang="en-US" sz="1300" dirty="0"/>
          </a:p>
        </p:txBody>
      </p:sp>
      <p:sp>
        <p:nvSpPr>
          <p:cNvPr id="6" name="Shape 3"/>
          <p:cNvSpPr/>
          <p:nvPr/>
        </p:nvSpPr>
        <p:spPr>
          <a:xfrm>
            <a:off x="7772400" y="2651760"/>
            <a:ext cx="3840480" cy="1645920"/>
          </a:xfrm>
          <a:prstGeom prst="roundRect">
            <a:avLst>
              <a:gd name="adj" fmla="val 4444"/>
            </a:avLst>
          </a:prstGeom>
          <a:solidFill>
            <a:srgbClr val="EEF3FA"/>
          </a:solidFill>
          <a:ln/>
        </p:spPr>
      </p:sp>
      <p:sp>
        <p:nvSpPr>
          <p:cNvPr id="7" name="Text 4"/>
          <p:cNvSpPr/>
          <p:nvPr/>
        </p:nvSpPr>
        <p:spPr>
          <a:xfrm>
            <a:off x="7973568" y="2788920"/>
            <a:ext cx="3474720" cy="14173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Why: more claims per caption.  </a:t>
            </a:r>
            <a:pPr indent="0" marL="0">
              <a:buNone/>
            </a:pPr>
            <a:r>
              <a:rPr lang="en-US" sz="1250" dirty="0">
                <a:solidFill>
                  <a:srgbClr val="1F2937"/>
                </a:solidFill>
                <a:latin typeface="Calibri" pitchFamily="34" charset="0"/>
                <a:ea typeface="Calibri" pitchFamily="34" charset="-122"/>
                <a:cs typeface="Calibri" pitchFamily="34" charset="-120"/>
              </a:rPr>
              <a:t>Per mention AF3 is the most grounded in the table (CHAIR-i 0.299, lowest). It just mentions more entities: 1.54 vs 1.38 per caption.</a:t>
            </a:r>
            <a:endParaRPr lang="en-US" sz="1250" dirty="0"/>
          </a:p>
        </p:txBody>
      </p:sp>
      <p:sp>
        <p:nvSpPr>
          <p:cNvPr id="8" name="Shape 5"/>
          <p:cNvSpPr/>
          <p:nvPr/>
        </p:nvSpPr>
        <p:spPr>
          <a:xfrm>
            <a:off x="7772400" y="4480560"/>
            <a:ext cx="3840480" cy="1143000"/>
          </a:xfrm>
          <a:prstGeom prst="roundRect">
            <a:avLst>
              <a:gd name="adj" fmla="val 6400"/>
            </a:avLst>
          </a:prstGeom>
          <a:solidFill>
            <a:srgbClr val="FDF2F2"/>
          </a:solidFill>
          <a:ln/>
        </p:spPr>
      </p:sp>
      <p:sp>
        <p:nvSpPr>
          <p:cNvPr id="9" name="Text 6"/>
          <p:cNvSpPr/>
          <p:nvPr/>
        </p:nvSpPr>
        <p:spPr>
          <a:xfrm>
            <a:off x="7973568" y="4590288"/>
            <a:ext cx="3474720" cy="9601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Failure mode caught:  </a:t>
            </a:r>
            <a:pPr indent="0" marL="0">
              <a:buNone/>
            </a:pPr>
            <a:r>
              <a:rPr lang="en-US" sz="1250" dirty="0">
                <a:solidFill>
                  <a:srgbClr val="1F2937"/>
                </a:solidFill>
                <a:latin typeface="Calibri" pitchFamily="34" charset="0"/>
                <a:ea typeface="Calibri" pitchFamily="34" charset="-122"/>
                <a:cs typeface="Calibri" pitchFamily="34" charset="-120"/>
              </a:rPr>
              <a:t>greedy decoding drove Qwen into a 515-word “tapped, tapped, …” loop on one clip.</a:t>
            </a:r>
            <a:endParaRPr lang="en-US" sz="1250" dirty="0"/>
          </a:p>
        </p:txBody>
      </p:sp>
      <p:sp>
        <p:nvSpPr>
          <p:cNvPr id="10" name="Text 7"/>
          <p:cNvSpPr/>
          <p:nvPr/>
        </p:nvSpPr>
        <p:spPr>
          <a:xfrm>
            <a:off x="548640" y="5943600"/>
            <a:ext cx="1106424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AST at 0.956 is the validity check. Qwen is the outlier at 0.550. Overlap quality and grounding are separate axes.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Limitations, deviations, and what “zero-shot” means</a:t>
            </a:r>
            <a:endParaRPr lang="en-US" sz="3000" dirty="0"/>
          </a:p>
        </p:txBody>
      </p:sp>
      <p:sp>
        <p:nvSpPr>
          <p:cNvPr id="3" name="Shape 1"/>
          <p:cNvSpPr/>
          <p:nvPr/>
        </p:nvSpPr>
        <p:spPr>
          <a:xfrm>
            <a:off x="548640" y="1143000"/>
            <a:ext cx="5120640" cy="960120"/>
          </a:xfrm>
          <a:prstGeom prst="roundRect">
            <a:avLst>
              <a:gd name="adj" fmla="val 7619"/>
            </a:avLst>
          </a:prstGeom>
          <a:solidFill>
            <a:srgbClr val="EEF3FA"/>
          </a:solidFill>
          <a:ln/>
        </p:spPr>
      </p:sp>
      <p:sp>
        <p:nvSpPr>
          <p:cNvPr id="4" name="Text 2"/>
          <p:cNvSpPr/>
          <p:nvPr/>
        </p:nvSpPr>
        <p:spPr>
          <a:xfrm>
            <a:off x="777240" y="1234440"/>
            <a:ext cx="868680" cy="777240"/>
          </a:xfrm>
          <a:prstGeom prst="rect">
            <a:avLst/>
          </a:prstGeom>
          <a:noFill/>
          <a:ln/>
        </p:spPr>
        <p:txBody>
          <a:bodyPr wrap="square" lIns="0" tIns="0" rIns="0" bIns="0" rtlCol="0" anchor="ctr"/>
          <a:lstStyle/>
          <a:p>
            <a:pPr indent="0" marL="0">
              <a:buNone/>
            </a:pPr>
            <a:r>
              <a:rPr lang="en-US" sz="2000" b="1" dirty="0">
                <a:solidFill>
                  <a:srgbClr val="1F77B4"/>
                </a:solidFill>
                <a:latin typeface="Cambria" pitchFamily="34" charset="0"/>
                <a:ea typeface="Cambria" pitchFamily="34" charset="-122"/>
                <a:cs typeface="Cambria" pitchFamily="34" charset="-120"/>
              </a:rPr>
              <a:t>H1 ✓</a:t>
            </a:r>
            <a:endParaRPr lang="en-US" sz="2000" dirty="0"/>
          </a:p>
        </p:txBody>
      </p:sp>
      <p:sp>
        <p:nvSpPr>
          <p:cNvPr id="5" name="Text 3"/>
          <p:cNvSpPr/>
          <p:nvPr/>
        </p:nvSpPr>
        <p:spPr>
          <a:xfrm>
            <a:off x="1691640" y="1234440"/>
            <a:ext cx="37947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AF3 above the 0.261 CNN14 anchor (CI lower 0.283)</a:t>
            </a:r>
            <a:endParaRPr lang="en-US" sz="1300" dirty="0"/>
          </a:p>
        </p:txBody>
      </p:sp>
      <p:sp>
        <p:nvSpPr>
          <p:cNvPr id="6" name="Shape 4"/>
          <p:cNvSpPr/>
          <p:nvPr/>
        </p:nvSpPr>
        <p:spPr>
          <a:xfrm>
            <a:off x="548640" y="2286000"/>
            <a:ext cx="5120640" cy="960120"/>
          </a:xfrm>
          <a:prstGeom prst="roundRect">
            <a:avLst>
              <a:gd name="adj" fmla="val 7619"/>
            </a:avLst>
          </a:prstGeom>
          <a:solidFill>
            <a:srgbClr val="EEF3FA"/>
          </a:solidFill>
          <a:ln/>
        </p:spPr>
      </p:sp>
      <p:sp>
        <p:nvSpPr>
          <p:cNvPr id="7" name="Text 5"/>
          <p:cNvSpPr/>
          <p:nvPr/>
        </p:nvSpPr>
        <p:spPr>
          <a:xfrm>
            <a:off x="777240" y="2377440"/>
            <a:ext cx="868680" cy="777240"/>
          </a:xfrm>
          <a:prstGeom prst="rect">
            <a:avLst/>
          </a:prstGeom>
          <a:noFill/>
          <a:ln/>
        </p:spPr>
        <p:txBody>
          <a:bodyPr wrap="square" lIns="0" tIns="0" rIns="0" bIns="0" rtlCol="0" anchor="ctr"/>
          <a:lstStyle/>
          <a:p>
            <a:pPr indent="0" marL="0">
              <a:buNone/>
            </a:pPr>
            <a:r>
              <a:rPr lang="en-US" sz="2000" b="1" dirty="0">
                <a:solidFill>
                  <a:srgbClr val="1F77B4"/>
                </a:solidFill>
                <a:latin typeface="Cambria" pitchFamily="34" charset="0"/>
                <a:ea typeface="Cambria" pitchFamily="34" charset="-122"/>
                <a:cs typeface="Cambria" pitchFamily="34" charset="-120"/>
              </a:rPr>
              <a:t>H2 ✓</a:t>
            </a:r>
            <a:endParaRPr lang="en-US" sz="2000" dirty="0"/>
          </a:p>
        </p:txBody>
      </p:sp>
      <p:sp>
        <p:nvSpPr>
          <p:cNvPr id="8" name="Text 6"/>
          <p:cNvSpPr/>
          <p:nvPr/>
        </p:nvSpPr>
        <p:spPr>
          <a:xfrm>
            <a:off x="1691640" y="2377440"/>
            <a:ext cx="37947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poly &gt; mono for all three LALMs; shared with baselines</a:t>
            </a:r>
            <a:endParaRPr lang="en-US" sz="1300" dirty="0"/>
          </a:p>
        </p:txBody>
      </p:sp>
      <p:sp>
        <p:nvSpPr>
          <p:cNvPr id="9" name="Shape 7"/>
          <p:cNvSpPr/>
          <p:nvPr/>
        </p:nvSpPr>
        <p:spPr>
          <a:xfrm>
            <a:off x="548640" y="3429000"/>
            <a:ext cx="5120640" cy="960120"/>
          </a:xfrm>
          <a:prstGeom prst="roundRect">
            <a:avLst>
              <a:gd name="adj" fmla="val 7619"/>
            </a:avLst>
          </a:prstGeom>
          <a:solidFill>
            <a:srgbClr val="EEF3FA"/>
          </a:solidFill>
          <a:ln/>
        </p:spPr>
      </p:sp>
      <p:sp>
        <p:nvSpPr>
          <p:cNvPr id="10" name="Text 8"/>
          <p:cNvSpPr/>
          <p:nvPr/>
        </p:nvSpPr>
        <p:spPr>
          <a:xfrm>
            <a:off x="777240" y="3520440"/>
            <a:ext cx="868680" cy="777240"/>
          </a:xfrm>
          <a:prstGeom prst="rect">
            <a:avLst/>
          </a:prstGeom>
          <a:noFill/>
          <a:ln/>
        </p:spPr>
        <p:txBody>
          <a:bodyPr wrap="square" lIns="0" tIns="0" rIns="0" bIns="0" rtlCol="0" anchor="ctr"/>
          <a:lstStyle/>
          <a:p>
            <a:pPr indent="0" marL="0">
              <a:buNone/>
            </a:pPr>
            <a:r>
              <a:rPr lang="en-US" sz="2000" b="1" dirty="0">
                <a:solidFill>
                  <a:srgbClr val="1F77B4"/>
                </a:solidFill>
                <a:latin typeface="Cambria" pitchFamily="34" charset="0"/>
                <a:ea typeface="Cambria" pitchFamily="34" charset="-122"/>
                <a:cs typeface="Cambria" pitchFamily="34" charset="-120"/>
              </a:rPr>
              <a:t>H3 ✓</a:t>
            </a:r>
            <a:endParaRPr lang="en-US" sz="2000" dirty="0"/>
          </a:p>
        </p:txBody>
      </p:sp>
      <p:sp>
        <p:nvSpPr>
          <p:cNvPr id="11" name="Text 9"/>
          <p:cNvSpPr/>
          <p:nvPr/>
        </p:nvSpPr>
        <p:spPr>
          <a:xfrm>
            <a:off x="1691640" y="3520440"/>
            <a:ext cx="37947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AF3 above SALMONN, paired per clip (+0.072)</a:t>
            </a:r>
            <a:endParaRPr lang="en-US" sz="1300" dirty="0"/>
          </a:p>
        </p:txBody>
      </p:sp>
      <p:sp>
        <p:nvSpPr>
          <p:cNvPr id="12" name="Shape 10"/>
          <p:cNvSpPr/>
          <p:nvPr/>
        </p:nvSpPr>
        <p:spPr>
          <a:xfrm>
            <a:off x="548640" y="4572000"/>
            <a:ext cx="5120640" cy="960120"/>
          </a:xfrm>
          <a:prstGeom prst="roundRect">
            <a:avLst>
              <a:gd name="adj" fmla="val 7619"/>
            </a:avLst>
          </a:prstGeom>
          <a:solidFill>
            <a:srgbClr val="EEF3FA"/>
          </a:solidFill>
          <a:ln/>
        </p:spPr>
      </p:sp>
      <p:sp>
        <p:nvSpPr>
          <p:cNvPr id="13" name="Text 11"/>
          <p:cNvSpPr/>
          <p:nvPr/>
        </p:nvSpPr>
        <p:spPr>
          <a:xfrm>
            <a:off x="777240" y="4663440"/>
            <a:ext cx="868680" cy="777240"/>
          </a:xfrm>
          <a:prstGeom prst="rect">
            <a:avLst/>
          </a:prstGeom>
          <a:noFill/>
          <a:ln/>
        </p:spPr>
        <p:txBody>
          <a:bodyPr wrap="square" lIns="0" tIns="0" rIns="0" bIns="0" rtlCol="0" anchor="ctr"/>
          <a:lstStyle/>
          <a:p>
            <a:pPr indent="0" marL="0">
              <a:buNone/>
            </a:pPr>
            <a:r>
              <a:rPr lang="en-US" sz="2000" b="1" dirty="0">
                <a:solidFill>
                  <a:srgbClr val="D62728"/>
                </a:solidFill>
                <a:latin typeface="Cambria" pitchFamily="34" charset="0"/>
                <a:ea typeface="Cambria" pitchFamily="34" charset="-122"/>
                <a:cs typeface="Cambria" pitchFamily="34" charset="-120"/>
              </a:rPr>
              <a:t>H4 ✗</a:t>
            </a:r>
            <a:endParaRPr lang="en-US" sz="2000" dirty="0"/>
          </a:p>
        </p:txBody>
      </p:sp>
      <p:sp>
        <p:nvSpPr>
          <p:cNvPr id="14" name="Text 12"/>
          <p:cNvSpPr/>
          <p:nvPr/>
        </p:nvSpPr>
        <p:spPr>
          <a:xfrm>
            <a:off x="1691640" y="4663440"/>
            <a:ext cx="37947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null retained: AF3 not less hallucination-prone per caption</a:t>
            </a:r>
            <a:endParaRPr lang="en-US" sz="1300" dirty="0"/>
          </a:p>
        </p:txBody>
      </p:sp>
      <p:sp>
        <p:nvSpPr>
          <p:cNvPr id="15" name="Shape 13"/>
          <p:cNvSpPr/>
          <p:nvPr/>
        </p:nvSpPr>
        <p:spPr>
          <a:xfrm>
            <a:off x="5943600" y="1143000"/>
            <a:ext cx="5669280" cy="960120"/>
          </a:xfrm>
          <a:prstGeom prst="roundRect">
            <a:avLst>
              <a:gd name="adj" fmla="val 7619"/>
            </a:avLst>
          </a:prstGeom>
          <a:solidFill>
            <a:srgbClr val="EEF3FA"/>
          </a:solidFill>
          <a:ln/>
        </p:spPr>
      </p:sp>
      <p:sp>
        <p:nvSpPr>
          <p:cNvPr id="16" name="Text 14"/>
          <p:cNvSpPr/>
          <p:nvPr/>
        </p:nvSpPr>
        <p:spPr>
          <a:xfrm>
            <a:off x="6172200" y="1216152"/>
            <a:ext cx="5212080" cy="82296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Declared plan, not sealed   </a:t>
            </a:r>
            <a:pPr indent="0" marL="0">
              <a:buNone/>
            </a:pPr>
            <a:r>
              <a:rPr lang="en-US" sz="1150" dirty="0">
                <a:solidFill>
                  <a:srgbClr val="1F2937"/>
                </a:solidFill>
                <a:latin typeface="Calibri" pitchFamily="34" charset="0"/>
                <a:ea typeface="Calibri" pitchFamily="34" charset="-122"/>
                <a:cs typeface="Calibri" pitchFamily="34" charset="-120"/>
              </a:rPr>
              <a:t>The preregistration was drafted before the LALM runs but never formally frozen. So we claim a declared analysis plan, and disclose all seven deviations in the paper.</a:t>
            </a:r>
            <a:endParaRPr lang="en-US" sz="1150" dirty="0"/>
          </a:p>
        </p:txBody>
      </p:sp>
      <p:sp>
        <p:nvSpPr>
          <p:cNvPr id="17" name="Shape 15"/>
          <p:cNvSpPr/>
          <p:nvPr/>
        </p:nvSpPr>
        <p:spPr>
          <a:xfrm>
            <a:off x="5943600" y="2286000"/>
            <a:ext cx="5669280" cy="960120"/>
          </a:xfrm>
          <a:prstGeom prst="roundRect">
            <a:avLst>
              <a:gd name="adj" fmla="val 7619"/>
            </a:avLst>
          </a:prstGeom>
          <a:solidFill>
            <a:srgbClr val="FDF2F2"/>
          </a:solidFill>
          <a:ln/>
        </p:spPr>
      </p:sp>
      <p:sp>
        <p:nvSpPr>
          <p:cNvPr id="18" name="Text 16"/>
          <p:cNvSpPr/>
          <p:nvPr/>
        </p:nvSpPr>
        <p:spPr>
          <a:xfrm>
            <a:off x="6172200" y="2359152"/>
            <a:ext cx="5212080" cy="82296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“Zero-shot” = protocol, not data purity   </a:t>
            </a:r>
            <a:pPr indent="0" marL="0">
              <a:buNone/>
            </a:pPr>
            <a:r>
              <a:rPr lang="en-US" sz="1150" dirty="0">
                <a:solidFill>
                  <a:srgbClr val="1F2937"/>
                </a:solidFill>
                <a:latin typeface="Calibri" pitchFamily="34" charset="0"/>
                <a:ea typeface="Calibri" pitchFamily="34" charset="-122"/>
                <a:cs typeface="Calibri" pitchFamily="34" charset="-120"/>
              </a:rPr>
              <a:t>AF3 and SALMONN list Clotho development pairs in their training corpora (their own papers). The eval split is held out for everyone, and the trained baselines used the same development data. Disclosed and discussed.</a:t>
            </a:r>
            <a:endParaRPr lang="en-US" sz="1150" dirty="0"/>
          </a:p>
        </p:txBody>
      </p:sp>
      <p:sp>
        <p:nvSpPr>
          <p:cNvPr id="19" name="Shape 17"/>
          <p:cNvSpPr/>
          <p:nvPr/>
        </p:nvSpPr>
        <p:spPr>
          <a:xfrm>
            <a:off x="5943600" y="3429000"/>
            <a:ext cx="5669280" cy="960120"/>
          </a:xfrm>
          <a:prstGeom prst="roundRect">
            <a:avLst>
              <a:gd name="adj" fmla="val 7619"/>
            </a:avLst>
          </a:prstGeom>
          <a:solidFill>
            <a:srgbClr val="EEF3FA"/>
          </a:solidFill>
          <a:ln/>
        </p:spPr>
      </p:sp>
      <p:sp>
        <p:nvSpPr>
          <p:cNvPr id="20" name="Text 18"/>
          <p:cNvSpPr/>
          <p:nvPr/>
        </p:nvSpPr>
        <p:spPr>
          <a:xfrm>
            <a:off x="6172200" y="3502152"/>
            <a:ext cx="5212080" cy="82296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Anchors reported honestly   </a:t>
            </a:r>
            <a:pPr indent="0" marL="0">
              <a:buNone/>
            </a:pPr>
            <a:r>
              <a:rPr lang="en-US" sz="1150" dirty="0">
                <a:solidFill>
                  <a:srgbClr val="1F2937"/>
                </a:solidFill>
                <a:latin typeface="Calibri" pitchFamily="34" charset="0"/>
                <a:ea typeface="Calibri" pitchFamily="34" charset="-122"/>
                <a:cs typeface="Calibri" pitchFamily="34" charset="-120"/>
              </a:rPr>
              <a:t>EnCLAP runs 1.1 pp under its published anchor; reported, not tuned away. CNN14 anchors the harness at 0.002 accuracy.</a:t>
            </a:r>
            <a:endParaRPr lang="en-US" sz="1150" dirty="0"/>
          </a:p>
        </p:txBody>
      </p:sp>
      <p:sp>
        <p:nvSpPr>
          <p:cNvPr id="21" name="Shape 19"/>
          <p:cNvSpPr/>
          <p:nvPr/>
        </p:nvSpPr>
        <p:spPr>
          <a:xfrm>
            <a:off x="5943600" y="4572000"/>
            <a:ext cx="5669280" cy="960120"/>
          </a:xfrm>
          <a:prstGeom prst="roundRect">
            <a:avLst>
              <a:gd name="adj" fmla="val 7619"/>
            </a:avLst>
          </a:prstGeom>
          <a:solidFill>
            <a:srgbClr val="EEF3FA"/>
          </a:solidFill>
          <a:ln/>
        </p:spPr>
      </p:sp>
      <p:sp>
        <p:nvSpPr>
          <p:cNvPr id="22" name="Text 20"/>
          <p:cNvSpPr/>
          <p:nvPr/>
        </p:nvSpPr>
        <p:spPr>
          <a:xfrm>
            <a:off x="6172200" y="4645152"/>
            <a:ext cx="5212080" cy="82296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Everything public   </a:t>
            </a:r>
            <a:pPr indent="0" marL="0">
              <a:buNone/>
            </a:pPr>
            <a:r>
              <a:rPr lang="en-US" sz="1150" dirty="0">
                <a:solidFill>
                  <a:srgbClr val="1F2937"/>
                </a:solidFill>
                <a:latin typeface="Calibri" pitchFamily="34" charset="0"/>
                <a:ea typeface="Calibri" pitchFamily="34" charset="-122"/>
                <a:cs typeface="Calibri" pitchFamily="34" charset="-120"/>
              </a:rPr>
              <a:t>Code, configs, manifests, all result files, the logbook, and the preregistration are in the repository.</a:t>
            </a:r>
            <a:endParaRPr lang="en-US" sz="1150" dirty="0"/>
          </a:p>
        </p:txBody>
      </p:sp>
      <p:sp>
        <p:nvSpPr>
          <p:cNvPr id="23" name="Text 21"/>
          <p:cNvSpPr/>
          <p:nvPr/>
        </p:nvSpPr>
        <p:spPr>
          <a:xfrm>
            <a:off x="548640" y="5989320"/>
            <a:ext cx="11064240" cy="45720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These are the project's limitations as I see them. All of them are disclosed in the paper, and I am glad to discuss any of them.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731520" y="548640"/>
            <a:ext cx="1069848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things to remember</a:t>
            </a:r>
            <a:endParaRPr lang="en-US" sz="3400" dirty="0"/>
          </a:p>
        </p:txBody>
      </p:sp>
      <p:sp>
        <p:nvSpPr>
          <p:cNvPr id="3" name="Text 1"/>
          <p:cNvSpPr/>
          <p:nvPr/>
        </p:nvSpPr>
        <p:spPr>
          <a:xfrm>
            <a:off x="731520" y="1600200"/>
            <a:ext cx="685800" cy="1097280"/>
          </a:xfrm>
          <a:prstGeom prst="rect">
            <a:avLst/>
          </a:prstGeom>
          <a:noFill/>
          <a:ln/>
        </p:spPr>
        <p:txBody>
          <a:bodyPr wrap="square" lIns="0" tIns="0" rIns="0" bIns="0" rtlCol="0" anchor="ctr"/>
          <a:lstStyle/>
          <a:p>
            <a:pPr indent="0" marL="0">
              <a:buNone/>
            </a:pPr>
            <a:r>
              <a:rPr lang="en-US" sz="4000" b="1" dirty="0">
                <a:solidFill>
                  <a:srgbClr val="CADCFC"/>
                </a:solidFill>
                <a:latin typeface="Cambria" pitchFamily="34" charset="0"/>
                <a:ea typeface="Cambria" pitchFamily="34" charset="-122"/>
                <a:cs typeface="Cambria" pitchFamily="34" charset="-120"/>
              </a:rPr>
              <a:t>1</a:t>
            </a:r>
            <a:endParaRPr lang="en-US" sz="4000" dirty="0"/>
          </a:p>
        </p:txBody>
      </p:sp>
      <p:sp>
        <p:nvSpPr>
          <p:cNvPr id="4" name="Text 2"/>
          <p:cNvSpPr/>
          <p:nvPr/>
        </p:nvSpPr>
        <p:spPr>
          <a:xfrm>
            <a:off x="1600200" y="1673352"/>
            <a:ext cx="9784080" cy="118872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Whether a zero-shot LALM beats trained captioners depends on the model. The current audio specialist does, on every metric; a general omni-model and an older specialist do not.</a:t>
            </a:r>
            <a:endParaRPr lang="en-US" sz="1600" dirty="0"/>
          </a:p>
        </p:txBody>
      </p:sp>
      <p:sp>
        <p:nvSpPr>
          <p:cNvPr id="5" name="Text 3"/>
          <p:cNvSpPr/>
          <p:nvPr/>
        </p:nvSpPr>
        <p:spPr>
          <a:xfrm>
            <a:off x="731520" y="2926080"/>
            <a:ext cx="685800" cy="1097280"/>
          </a:xfrm>
          <a:prstGeom prst="rect">
            <a:avLst/>
          </a:prstGeom>
          <a:noFill/>
          <a:ln/>
        </p:spPr>
        <p:txBody>
          <a:bodyPr wrap="square" lIns="0" tIns="0" rIns="0" bIns="0" rtlCol="0" anchor="ctr"/>
          <a:lstStyle/>
          <a:p>
            <a:pPr indent="0" marL="0">
              <a:buNone/>
            </a:pPr>
            <a:r>
              <a:rPr lang="en-US" sz="4000" b="1" dirty="0">
                <a:solidFill>
                  <a:srgbClr val="CADCFC"/>
                </a:solidFill>
                <a:latin typeface="Cambria" pitchFamily="34" charset="0"/>
                <a:ea typeface="Cambria" pitchFamily="34" charset="-122"/>
                <a:cs typeface="Cambria" pitchFamily="34" charset="-120"/>
              </a:rPr>
              <a:t>2</a:t>
            </a:r>
            <a:endParaRPr lang="en-US" sz="4000" dirty="0"/>
          </a:p>
        </p:txBody>
      </p:sp>
      <p:sp>
        <p:nvSpPr>
          <p:cNvPr id="6" name="Text 4"/>
          <p:cNvSpPr/>
          <p:nvPr/>
        </p:nvSpPr>
        <p:spPr>
          <a:xfrm>
            <a:off x="1600200" y="2999232"/>
            <a:ext cx="9784080" cy="118872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Polyphonic clips score higher for every system. That is a dataset effect, not an LALM property: no caption-level polyphony penalty, complementing the event-level degradation in Harish &amp; Abeßer.</a:t>
            </a:r>
            <a:endParaRPr lang="en-US" sz="1600" dirty="0"/>
          </a:p>
        </p:txBody>
      </p:sp>
      <p:sp>
        <p:nvSpPr>
          <p:cNvPr id="7" name="Text 5"/>
          <p:cNvSpPr/>
          <p:nvPr/>
        </p:nvSpPr>
        <p:spPr>
          <a:xfrm>
            <a:off x="731520" y="4251960"/>
            <a:ext cx="685800" cy="1097280"/>
          </a:xfrm>
          <a:prstGeom prst="rect">
            <a:avLst/>
          </a:prstGeom>
          <a:noFill/>
          <a:ln/>
        </p:spPr>
        <p:txBody>
          <a:bodyPr wrap="square" lIns="0" tIns="0" rIns="0" bIns="0" rtlCol="0" anchor="ctr"/>
          <a:lstStyle/>
          <a:p>
            <a:pPr indent="0" marL="0">
              <a:buNone/>
            </a:pPr>
            <a:r>
              <a:rPr lang="en-US" sz="4000" b="1" dirty="0">
                <a:solidFill>
                  <a:srgbClr val="CADCFC"/>
                </a:solidFill>
                <a:latin typeface="Cambria" pitchFamily="34" charset="0"/>
                <a:ea typeface="Cambria" pitchFamily="34" charset="-122"/>
                <a:cs typeface="Cambria" pitchFamily="34" charset="-120"/>
              </a:rPr>
              <a:t>3</a:t>
            </a:r>
            <a:endParaRPr lang="en-US" sz="4000" dirty="0"/>
          </a:p>
        </p:txBody>
      </p:sp>
      <p:sp>
        <p:nvSpPr>
          <p:cNvPr id="8" name="Text 6"/>
          <p:cNvSpPr/>
          <p:nvPr/>
        </p:nvSpPr>
        <p:spPr>
          <a:xfrm>
            <a:off x="1600200" y="4325112"/>
            <a:ext cx="9784080" cy="118872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Overlap quality and grounding are separate axes. The best captioner hallucinates no less per caption; it is simply the most grounded per claim while making more claims. Evaluate both.</a:t>
            </a:r>
            <a:endParaRPr lang="en-US" sz="1600" dirty="0"/>
          </a:p>
        </p:txBody>
      </p:sp>
      <p:sp>
        <p:nvSpPr>
          <p:cNvPr id="9" name="Text 7"/>
          <p:cNvSpPr/>
          <p:nvPr/>
        </p:nvSpPr>
        <p:spPr>
          <a:xfrm>
            <a:off x="731520" y="5806440"/>
            <a:ext cx="10698480" cy="777240"/>
          </a:xfrm>
          <a:prstGeom prst="rect">
            <a:avLst/>
          </a:prstGeom>
          <a:noFill/>
          <a:ln/>
        </p:spPr>
        <p:txBody>
          <a:bodyPr wrap="square" lIns="0" tIns="0" rIns="0" bIns="0"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Paper, code, results, logbook: github.com/Zuraiz270/audio-to-text-captioning-using-LALMs</a:t>
            </a:r>
            <a:endParaRPr lang="en-US" sz="1400" dirty="0"/>
          </a:p>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2026-07-13T08:00:02Z</dcterms:created>
  <dcterms:modified xsi:type="dcterms:W3CDTF">2026-07-13T08:00:02Z</dcterms:modified>
</cp:coreProperties>
</file>