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SPIDEr-FL</c:v>
                </c:pt>
              </c:strCache>
            </c:strRef>
          </c:tx>
          <c:spPr>
            <a:solidFill>
              <a:srgbClr val="9E9E9E"/>
            </a:solidFill>
            <a:effectLst/>
          </c:spPr>
          <c:invertIfNegative val="0"/>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9E9E9E"/>
              </a:solidFill>
              <a:effectLst/>
            </c:spPr>
          </c:dPt>
          <c:dPt>
            <c:idx val="1"/>
            <c:invertIfNegative val="0"/>
            <c:bubble3D val="0"/>
            <c:spPr>
              <a:solidFill>
                <a:srgbClr val="1F77B4"/>
              </a:solidFill>
              <a:effectLst/>
            </c:spPr>
          </c:dPt>
          <c:dPt>
            <c:idx val="2"/>
            <c:invertIfNegative val="0"/>
            <c:bubble3D val="0"/>
            <c:spPr>
              <a:solidFill>
                <a:srgbClr val="1F77B4"/>
              </a:solidFill>
              <a:effectLst/>
            </c:spPr>
          </c:dPt>
          <c:dPt>
            <c:idx val="3"/>
            <c:invertIfNegative val="0"/>
            <c:bubble3D val="0"/>
            <c:spPr>
              <a:solidFill>
                <a:srgbClr val="D62728"/>
              </a:solidFill>
              <a:effectLst/>
            </c:spPr>
          </c:dPt>
          <c:dPt>
            <c:idx val="4"/>
            <c:invertIfNegative val="0"/>
            <c:bubble3D val="0"/>
            <c:spPr>
              <a:solidFill>
                <a:srgbClr val="D62728"/>
              </a:solidFill>
              <a:effectLst/>
            </c:spPr>
          </c:dPt>
          <c:dPt>
            <c:idx val="5"/>
            <c:invertIfNegative val="0"/>
            <c:bubble3D val="0"/>
            <c:spPr>
              <a:solidFill>
                <a:srgbClr val="1F77B4"/>
              </a:solidFill>
              <a:effectLst/>
            </c:spPr>
          </c:dPt>
          <c:cat>
            <c:multiLvlStrRef>
              <c:f>Sheet1!$A$2:$A$7</c:f>
              <c:multiLvlStrCache>
                <c:ptCount val="6"/>
                <c:lvl>
                  <c:pt idx="0">
                    <c:v>AST (tag floor)</c:v>
                  </c:pt>
                  <c:pt idx="1">
                    <c:v>Qwen2.5-Omni-7B</c:v>
                  </c:pt>
                  <c:pt idx="2">
                    <c:v>SALMONN-13B</c:v>
                  </c:pt>
                  <c:pt idx="3">
                    <c:v>CNN14+BART</c:v>
                  </c:pt>
                  <c:pt idx="4">
                    <c:v>EnCLAP-base</c:v>
                  </c:pt>
                  <c:pt idx="5">
                    <c:v>Audio Flamingo 3</c:v>
                  </c:pt>
                </c:lvl>
              </c:multiLvlStrCache>
            </c:multiLvlStrRef>
          </c:cat>
          <c:val>
            <c:numRef>
              <c:f>Sheet1!$B$2:$B$7</c:f>
              <c:numCache>
                <c:formatCode>General</c:formatCode>
                <c:ptCount val="6"/>
                <c:pt idx="0">
                  <c:v>0.068</c:v>
                </c:pt>
                <c:pt idx="1">
                  <c:v>0.188</c:v>
                </c:pt>
                <c:pt idx="2">
                  <c:v>0.225</c:v>
                </c:pt>
                <c:pt idx="3">
                  <c:v>0.259</c:v>
                </c:pt>
                <c:pt idx="4">
                  <c:v>0.28</c:v>
                </c:pt>
                <c:pt idx="5">
                  <c:v>0.297</c:v>
                </c:pt>
              </c:numCache>
            </c:numRef>
          </c:val>
        </c:ser>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34"/>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Delta SPIDEr-FL (poly - mono)</c:v>
                </c:pt>
              </c:strCache>
            </c:strRef>
          </c:tx>
          <c:spPr>
            <a:solidFill>
              <a:srgbClr val="9E9E9E"/>
            </a:solidFill>
            <a:effectLst/>
          </c:spPr>
          <c:invertIfNegative val="0"/>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9E9E9E"/>
              </a:solidFill>
              <a:effectLst/>
            </c:spPr>
          </c:dPt>
          <c:dPt>
            <c:idx val="1"/>
            <c:invertIfNegative val="0"/>
            <c:bubble3D val="0"/>
            <c:spPr>
              <a:solidFill>
                <a:srgbClr val="1F77B4"/>
              </a:solidFill>
              <a:effectLst/>
            </c:spPr>
          </c:dPt>
          <c:dPt>
            <c:idx val="2"/>
            <c:invertIfNegative val="0"/>
            <c:bubble3D val="0"/>
            <c:spPr>
              <a:solidFill>
                <a:srgbClr val="1F77B4"/>
              </a:solidFill>
              <a:effectLst/>
            </c:spPr>
          </c:dPt>
          <c:dPt>
            <c:idx val="3"/>
            <c:invertIfNegative val="0"/>
            <c:bubble3D val="0"/>
            <c:spPr>
              <a:solidFill>
                <a:srgbClr val="D62728"/>
              </a:solidFill>
              <a:effectLst/>
            </c:spPr>
          </c:dPt>
          <c:dPt>
            <c:idx val="4"/>
            <c:invertIfNegative val="0"/>
            <c:bubble3D val="0"/>
            <c:spPr>
              <a:solidFill>
                <a:srgbClr val="D62728"/>
              </a:solidFill>
              <a:effectLst/>
            </c:spPr>
          </c:dPt>
          <c:dPt>
            <c:idx val="5"/>
            <c:invertIfNegative val="0"/>
            <c:bubble3D val="0"/>
            <c:spPr>
              <a:solidFill>
                <a:srgbClr val="1F77B4"/>
              </a:solidFill>
              <a:effectLst/>
            </c:spPr>
          </c:dPt>
          <c:cat>
            <c:multiLvlStrRef>
              <c:f>Sheet1!$A$2:$A$7</c:f>
              <c:multiLvlStrCache>
                <c:ptCount val="6"/>
                <c:lvl>
                  <c:pt idx="0">
                    <c:v>AST (tag floor)</c:v>
                  </c:pt>
                  <c:pt idx="1">
                    <c:v>Qwen2.5-Omni-7B</c:v>
                  </c:pt>
                  <c:pt idx="2">
                    <c:v>SALMONN-13B</c:v>
                  </c:pt>
                  <c:pt idx="3">
                    <c:v>CNN14+BART</c:v>
                  </c:pt>
                  <c:pt idx="4">
                    <c:v>EnCLAP-base</c:v>
                  </c:pt>
                  <c:pt idx="5">
                    <c:v>Audio Flamingo 3</c:v>
                  </c:pt>
                </c:lvl>
              </c:multiLvlStrCache>
            </c:multiLvlStrRef>
          </c:cat>
          <c:val>
            <c:numRef>
              <c:f>Sheet1!$B$2:$B$7</c:f>
              <c:numCache>
                <c:formatCode>General</c:formatCode>
                <c:ptCount val="6"/>
                <c:pt idx="0">
                  <c:v>0.019</c:v>
                </c:pt>
                <c:pt idx="1">
                  <c:v>0.094</c:v>
                </c:pt>
                <c:pt idx="2">
                  <c:v>0.059</c:v>
                </c:pt>
                <c:pt idx="3">
                  <c:v>0.06</c:v>
                </c:pt>
                <c:pt idx="4">
                  <c:v>0.073</c:v>
                </c:pt>
                <c:pt idx="5">
                  <c:v>0.088</c:v>
                </c:pt>
              </c:numCache>
            </c:numRef>
          </c:val>
        </c:ser>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11"/>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CHAIR-s at tau 0.25</c:v>
                </c:pt>
              </c:strCache>
            </c:strRef>
          </c:tx>
          <c:spPr>
            <a:solidFill>
              <a:srgbClr val="9E9E9E"/>
            </a:solidFill>
            <a:effectLst/>
          </c:spPr>
          <c:invertIfNegative val="0"/>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9E9E9E"/>
              </a:solidFill>
              <a:effectLst/>
            </c:spPr>
          </c:dPt>
          <c:dPt>
            <c:idx val="1"/>
            <c:invertIfNegative val="0"/>
            <c:bubble3D val="0"/>
            <c:spPr>
              <a:solidFill>
                <a:srgbClr val="1F77B4"/>
              </a:solidFill>
              <a:effectLst/>
            </c:spPr>
          </c:dPt>
          <c:dPt>
            <c:idx val="2"/>
            <c:invertIfNegative val="0"/>
            <c:bubble3D val="0"/>
            <c:spPr>
              <a:solidFill>
                <a:srgbClr val="1F77B4"/>
              </a:solidFill>
              <a:effectLst/>
            </c:spPr>
          </c:dPt>
          <c:dPt>
            <c:idx val="3"/>
            <c:invertIfNegative val="0"/>
            <c:bubble3D val="0"/>
            <c:spPr>
              <a:solidFill>
                <a:srgbClr val="D62728"/>
              </a:solidFill>
              <a:effectLst/>
            </c:spPr>
          </c:dPt>
          <c:dPt>
            <c:idx val="4"/>
            <c:invertIfNegative val="0"/>
            <c:bubble3D val="0"/>
            <c:spPr>
              <a:solidFill>
                <a:srgbClr val="D62728"/>
              </a:solidFill>
              <a:effectLst/>
            </c:spPr>
          </c:dPt>
          <c:dPt>
            <c:idx val="5"/>
            <c:invertIfNegative val="0"/>
            <c:bubble3D val="0"/>
            <c:spPr>
              <a:solidFill>
                <a:srgbClr val="1F77B4"/>
              </a:solidFill>
              <a:effectLst/>
            </c:spPr>
          </c:dPt>
          <c:cat>
            <c:multiLvlStrRef>
              <c:f>Sheet1!$A$2:$A$7</c:f>
              <c:multiLvlStrCache>
                <c:ptCount val="6"/>
                <c:lvl>
                  <c:pt idx="0">
                    <c:v>AST (tag floor)</c:v>
                  </c:pt>
                  <c:pt idx="1">
                    <c:v>Qwen2.5-Omni-7B</c:v>
                  </c:pt>
                  <c:pt idx="2">
                    <c:v>SALMONN-13B</c:v>
                  </c:pt>
                  <c:pt idx="3">
                    <c:v>CNN14+BART</c:v>
                  </c:pt>
                  <c:pt idx="4">
                    <c:v>EnCLAP-base</c:v>
                  </c:pt>
                  <c:pt idx="5">
                    <c:v>Audio Flamingo 3</c:v>
                  </c:pt>
                </c:lvl>
              </c:multiLvlStrCache>
            </c:multiLvlStrRef>
          </c:cat>
          <c:val>
            <c:numRef>
              <c:f>Sheet1!$B$2:$B$7</c:f>
              <c:numCache>
                <c:formatCode>General</c:formatCode>
                <c:ptCount val="6"/>
                <c:pt idx="0">
                  <c:v>0.956</c:v>
                </c:pt>
                <c:pt idx="1">
                  <c:v>0.5502</c:v>
                </c:pt>
                <c:pt idx="2">
                  <c:v>0.3321</c:v>
                </c:pt>
                <c:pt idx="3">
                  <c:v>0.3502</c:v>
                </c:pt>
                <c:pt idx="4">
                  <c:v>0.3512</c:v>
                </c:pt>
                <c:pt idx="5">
                  <c:v>0.3474</c:v>
                </c:pt>
              </c:numCache>
            </c:numRef>
          </c:val>
        </c:ser>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asks one simple question. Today's big AI models can hear. But can
they describe what they hear, as well as systems that were trained just for
that one job?
[point at the number]
This number is the short answer. Point two nine seven. That's the best
zero-shot model, and it's above both trained baselines I reproduced.
The next ten minutes: what this number means, where it holds, and where it
breaks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task. Audio captioning means: audio goes in, one English sentence
comes out. Like: "Rain falls while a car passes by."
I compare six systems. Two teams.
[left side]
The traditional team. AST, which only lists sound tags. That's my floor. And
two real captioners, trained on Clotho: the official CNN14 baseline, and
EnCLAP.
[right side]
The LALM team, all zero-shot. I never trained anything. Qwen, a general
do-everything model. SALMONN, an older audio specialist. And Audio Flamingo 3
from NVIDIA, the current state of the art. Three models, three different
companies. So this is not a one-vendor story.
Three questions. One: do they match the trained systems? Two: what happens on
clips with overlapping sounds? Three: how much do they hallucinate?
And important: all hypotheses were written down before the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make this comparison fair? One harness. Let me walk the flow, left to right.
[trace the boxes with your hand]
It starts with the data. The Clotho evaluation set. One thousand forty-five clips, untouched, native sample rate.
Box two: every system implements the same tiny interface. Audio in, caption out. A small CPU model and a thirteen-billion-parameter model on an A100 look exactly the same to my pipeline.
Box three: each run writes its predictions, plus a receipt. Checkpoint hashes, library versions, decode settings, the seed. Every number in my paper traces back to a file.
Box four: one scorer for everyone. Same clips, same five references, same metric.
And box five: all the analysis, the subsets, CHAIR, MACE, the statistics, reads only from those files.
Three reasons to trust this machine.
First: it reproduces the official baseline. Point two five nine against point two six one published. The ruler works.
Second: the big models ran on the cluster, offline, from pre-cached checkpoints, with a fixed one-line prompt.
Third: all six systems finished every clip. Zero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the headline.
[point at chart, bottom to top]
The answer to question one is not yes or no. It depends on the model.
Look at the order. Every LALM beats the tag floor by three to four times. So
they all really describe, they don't just list.
But. Qwen and SALMONN both stay below both trained captioners. So the claim
"LALMs beat trained systems"? False in general.
And then Audio Flamingo 3. It beats both trained captioners. On every single
metric. Zero-shot. And its point two nine seven is even above EnCLAP's
published score of point two nine one.
The statistics hold. Hypothesis one: even the careful lower bound is point two
eight three, clearly over the bar. Hypothesis three: paired on the same clips,
AF3 is plus point zero seven two over SALMONN. Both very significant.
One honest note, bottom right. My EnCLAP row runs about one point below its
published number. That's disclosed in the paper. And my main hypothesis is
anchored on CNN14, which reproduces almost exactly. So nothing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forget numbers for a moment. This is what the systems actually say. Same
clip, real outputs.
The human wrote: people walking, voices, soft music.
AST gives a tag list. Not a sentence.
Qwen says "the audio contains..." — like a report. No human reference ever
sounds like that. And it lists many events.
SALMONN and EnCLAP: short, natural sentences.
And Audio Flamingo 3 sounds exactly like a Clotho reference. That's exactly
what the metrics reward.
But look at the red word. A zipper. Fluent, specific... and not supported by
the references or by the audio. Keep that zipper in mind. It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overlapping sound. Polyphony.
Clotho has no polyphony labels, so I built them. A sound event detector marks
which sounds are active at every moment. If two sounds overlap for at least
one second, the clip counts as polyphonic. The first threshold from the plan
turned out degenerate, so a fallback rule, written down before any results,
picked the final one. Three hundred thirty-six polyphonic clips, seven hundred
nine monophonic.
And here's the surprise.
[point at chart]
Every bar is positive. Every system scores higher on the polyphonic clips.
Even the trained ones. Even the tag floor.
So yes, hypothesis two formally passes for all three LALMs. But the baselines
shift the same way. Which means: this is a property of the data, not of the
models. Clips with more events give a caption more to match. The quiet,
ambiguous clips are the hard ones.
The MACE metric, which listens to the audio itself, agrees. So it's not a
wording artifact.
And this connects to your own work, Professor. Your DCASE paper with Harish
showed: tagging and counting get worse with polyphony. I show: describing does
not. Event level suffers, caption level doesn't. The two findings complement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hallucination.
I ported the CHAIR metric from image captioning to audio. A mentioned sound
counts as hallucinated only if it's missing from the five human references AND
missing from the detected audio events. Double check, so it's conservative.
[point at chart]
The four serious captioners cluster around point three three to point three
five. Qwen is the outlier at point five five. And AST at point nine six is
actually good news — a blind tag list SHOULD fail this metric. That validates
it.
Hypothesis four is my null result. Audio Flamingo does NOT hallucinate less
than SALMONN. The best captioner is not the most grounded one. And I report
that as a finding.
But here's the interesting part. Per single claim, AF3 is the MOST grounded
model in the whole table. Lowest rate per mention. It just makes more claims
per caption. One point five four entities versus one point three eight. More
claims, more chances to be wrong.
That's the zipper, in numbers.
And one bonus failure: greedy decoding once drove Qwen into a five-hundred-
fifteen-word loop. "Tapped, tapped, tapped..." We caught it because every
single output is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weak points. These are mine, openly.
The scoreboard: three hypotheses supported, one null, reported as a result.
The preregistration was drafted before the runs, but never formally frozen. So
I claim a declared plan, not confirmatory research, and I list all seven
deviations.
"Zero-shot" means my protocol: no fine-tuning, no examples. It does not mean
the models never saw Clotho. Both audio specialists had Clotho training pairs
in their corpora. Their own papers say so. That's the same data my baselines
trained on, so it stays symmetric. And it's disclosed.
The EnCLAP gap is reported, not tuned away. And everything, code, results,
logbook, preregistration, is public.
All of this is in the paper, and I'm glad to discuss any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The word-overlap family (RQ1 — the main scoreboard)
CIDEr — "did you use the right words?"Counts word sequences (n-grams) shared between the model caption and the 5 human references, weighting rare informative words ("ratchet") more than filler ("a", "sound"). Used in: Table 1, RQ1. AF3: 0.460.
SPICE — "did you name the right things?"Ignores exact wording; parses captions into little (object, attribute, relation) tuples — (rain, falls), (car, passes) — and scores tuple overlap. So CIDEr rewards phrasing, SPICE rewards content. AF3: 0.137.
SPIDEr — just the average of CIDEr and SPICE. Words + things, one number.
FER (fluency error rate) — fraction of a model's captions that a trained detector flags as broken English (repetitions, missing verb, half-sentence). Application: proves Qwen's low score is not garbage output — Qwen has the lowest FER in the table (0.005).
SPIDEr-FL — the headline metric of the whole project. It's SPIDEr, but any caption flagged by the fluency detector loses 90% of its score. Why it's the headline: it's the official DCASE challenge metric, and it stops broken text from scoring. Every number in the RQ1 ordering (0.068 → 0.188 → 0.225 → 0.259 → 0.280 → 0.297) is SPIDEr-FL. H1, H2, H3 are all tested on it.
METEOR — older word-matcher with synonym support. In Table 1 for completeness only.
The grounding family (RQ3 — is the caption actually true?)
CHAIR-audio — "did you mention sounds that aren't there?"Our port of a vision metric. Scan each caption for 604 known sound words; a mention is hallucinated if it's in neither the 5 references nor the detected audio events (dual criterion = conservative).
CHAIR-s = share of captions with ≥1 invented sound (per-caption). H4 tested on this: AF3 0.347 ≈ SALMONN 0.332 → null retained.
CHAIR-i = share of all mentions that are invented (per-claim). The twist: AF3 has the lowest CHAIR-i (0.299) — most truthful per claim, it just makes more claims (1.54 vs 1.38 per caption).
Built-in sanity check: AST's blind tag list scores 0.956 — a hallucination metric that a dumb tagger fails is a metric that works.
MACE — "does the caption match the audio itself?"Uses CLAP, a model that embeds sounds and sentences into the same vector space, and measures how close the caption sits to the actual recording — no word overlap involved at all. Applications in the project: (1) RQ2 cross-check — poly beats mono on MACE too (+0.021…+0.032), proving the polyphony effect isn't a wording artifact; (2) RQ3 — Qwen draws level with SALMONN on MACE despite losing badly on SPIDEr-FL, proving wording and truth are different skills. Kept secondary because its backend hears a random 7-second crop per call (±0.002 noise).
The one answer that ties it together (if he asks "why so many metrics?")
"Because each metric can be fooled in a different way. SPIDEr-FL can be fooled by sounding like the references without being right. CHAIR can be fooled by saying very little. MACE is noisy on its own. Used together they triangulate: AF3 wins the overlap axis, but the grounding axes show it hallucinates as often per caption as SALMONN — and only the combination of metrics could reveal that."
And the mapping in one breath: RQ1 = SPIDEr-FL (with CIDEr/SPICE/FER as support) · RQ2 = Δ SPIDEr-FL between poly and mono, cross-checked by MACE · RQ3 = CHAIR-s (hypothesis), CHAIR-i (explanation), MACE (independent confirmation).
One. Whether a zero-shot model beats trained captioners depends on the model.
The current audio specialist really does.
Two. Polyphonic clips score higher for everyone. That's the dataset, not the
models. And it complements the event-level picture from your own work.
Three. Caption quality and audio grounding are different axes. Measure both.
Everything is reproducible from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31520" y="1051560"/>
            <a:ext cx="7863840" cy="2011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Zero-Shot Audio-Language Models</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versus Trained Captioners</a:t>
            </a:r>
            <a:endParaRPr lang="en-US" sz="3800" dirty="0"/>
          </a:p>
        </p:txBody>
      </p:sp>
      <p:sp>
        <p:nvSpPr>
          <p:cNvPr id="3" name="Text 1"/>
          <p:cNvSpPr/>
          <p:nvPr/>
        </p:nvSpPr>
        <p:spPr>
          <a:xfrm>
            <a:off x="731520" y="3063240"/>
            <a:ext cx="786384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Audio-to-Text Captioning on Clotho  ·  Final Presentation (P3)</a:t>
            </a:r>
            <a:endParaRPr lang="en-US" sz="1800" dirty="0"/>
          </a:p>
        </p:txBody>
      </p:sp>
      <p:sp>
        <p:nvSpPr>
          <p:cNvPr id="4" name="Text 2"/>
          <p:cNvSpPr/>
          <p:nvPr/>
        </p:nvSpPr>
        <p:spPr>
          <a:xfrm>
            <a:off x="8778240" y="1371600"/>
            <a:ext cx="283464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0.297</a:t>
            </a:r>
            <a:endParaRPr lang="en-US" sz="6400" dirty="0"/>
          </a:p>
        </p:txBody>
      </p:sp>
      <p:sp>
        <p:nvSpPr>
          <p:cNvPr id="5" name="Text 3"/>
          <p:cNvSpPr/>
          <p:nvPr/>
        </p:nvSpPr>
        <p:spPr>
          <a:xfrm>
            <a:off x="8778240" y="2651760"/>
            <a:ext cx="2834640" cy="7772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zero-shot SPIDEr-FL,</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above both trained baselines</a:t>
            </a:r>
            <a:endParaRPr lang="en-US" sz="1300" dirty="0"/>
          </a:p>
        </p:txBody>
      </p:sp>
      <p:sp>
        <p:nvSpPr>
          <p:cNvPr id="6" name="Text 4"/>
          <p:cNvSpPr/>
          <p:nvPr/>
        </p:nvSpPr>
        <p:spPr>
          <a:xfrm>
            <a:off x="731520" y="5394960"/>
            <a:ext cx="10698480" cy="1005840"/>
          </a:xfrm>
          <a:prstGeom prst="rect">
            <a:avLst/>
          </a:prstGeom>
          <a:noFill/>
          <a:ln/>
        </p:spPr>
        <p:txBody>
          <a:bodyPr wrap="square" lIns="0" tIns="0" rIns="0" bIns="0" rtlCol="0" anchor="ctr"/>
          <a:lstStyle/>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Zuraiz  ·  CH-Proj-M Master's Project Computational Humanities  ·  SS 2026</a:t>
            </a: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Supervisor: Prof. Dr.-Ing. Jakob Abeßer  ·  University of Bamberg  ·  13 July 2026</a:t>
            </a: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github.com/Zuraiz270/audio-to-text-captioning-using-LALMs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Task and research questions</a:t>
            </a:r>
            <a:endParaRPr lang="en-US" sz="3000" dirty="0"/>
          </a:p>
        </p:txBody>
      </p:sp>
      <p:sp>
        <p:nvSpPr>
          <p:cNvPr id="3" name="Text 1"/>
          <p:cNvSpPr/>
          <p:nvPr/>
        </p:nvSpPr>
        <p:spPr>
          <a:xfrm>
            <a:off x="548640" y="1051560"/>
            <a:ext cx="6400800" cy="1143000"/>
          </a:xfrm>
          <a:prstGeom prst="rect">
            <a:avLst/>
          </a:prstGeom>
          <a:noFill/>
          <a:ln/>
        </p:spPr>
        <p:txBody>
          <a:bodyPr wrap="square" lIns="0" tIns="0" rIns="0" bIns="0" rtlCol="0" anchor="ctr"/>
          <a:lstStyle/>
          <a:p>
            <a:pPr indent="0" marL="0">
              <a:lnSpc>
                <a:spcPct val="110000"/>
              </a:lnSpc>
              <a:buNone/>
            </a:pPr>
            <a:r>
              <a:rPr lang="en-US" sz="1500" dirty="0">
                <a:solidFill>
                  <a:srgbClr val="1F2937"/>
                </a:solidFill>
                <a:latin typeface="Calibri" pitchFamily="34" charset="0"/>
                <a:ea typeface="Calibri" pitchFamily="34" charset="-122"/>
                <a:cs typeface="Calibri" pitchFamily="34" charset="-120"/>
              </a:rPr>
              <a:t>Course task T6: how well can large audio-language models (LALMs) describe audio, especially overlapping sound, compared to traditional systems? Everything runs zero-shot on the full Clotho v2.1 evaluation split (1,045 clips, seed 42).</a:t>
            </a:r>
            <a:endParaRPr lang="en-US" sz="1500" dirty="0"/>
          </a:p>
        </p:txBody>
      </p:sp>
      <p:sp>
        <p:nvSpPr>
          <p:cNvPr id="4" name="Shape 2"/>
          <p:cNvSpPr/>
          <p:nvPr/>
        </p:nvSpPr>
        <p:spPr>
          <a:xfrm>
            <a:off x="548640" y="2377440"/>
            <a:ext cx="3108960" cy="3566160"/>
          </a:xfrm>
          <a:prstGeom prst="roundRect">
            <a:avLst>
              <a:gd name="adj" fmla="val 2353"/>
            </a:avLst>
          </a:prstGeom>
          <a:solidFill>
            <a:srgbClr val="EEF3FA"/>
          </a:solidFill>
          <a:ln/>
        </p:spPr>
      </p:sp>
      <p:sp>
        <p:nvSpPr>
          <p:cNvPr id="5" name="Text 3"/>
          <p:cNvSpPr/>
          <p:nvPr/>
        </p:nvSpPr>
        <p:spPr>
          <a:xfrm>
            <a:off x="777240" y="2560320"/>
            <a:ext cx="2651760" cy="365760"/>
          </a:xfrm>
          <a:prstGeom prst="rect">
            <a:avLst/>
          </a:prstGeom>
          <a:noFill/>
          <a:ln/>
        </p:spPr>
        <p:txBody>
          <a:bodyPr wrap="square" lIns="0" tIns="0" rIns="0" bIns="0" rtlCol="0" anchor="ctr"/>
          <a:lstStyle/>
          <a:p>
            <a:pPr indent="0" marL="0">
              <a:buNone/>
            </a:pPr>
            <a:r>
              <a:rPr lang="en-US" sz="1600" b="1" dirty="0">
                <a:solidFill>
                  <a:srgbClr val="D62728"/>
                </a:solidFill>
                <a:latin typeface="Calibri" pitchFamily="34" charset="0"/>
                <a:ea typeface="Calibri" pitchFamily="34" charset="-122"/>
                <a:cs typeface="Calibri" pitchFamily="34" charset="-120"/>
              </a:rPr>
              <a:t>Traditional systems</a:t>
            </a:r>
            <a:endParaRPr lang="en-US" sz="1600" dirty="0"/>
          </a:p>
        </p:txBody>
      </p:sp>
      <p:sp>
        <p:nvSpPr>
          <p:cNvPr id="6" name="Text 4"/>
          <p:cNvSpPr/>
          <p:nvPr/>
        </p:nvSpPr>
        <p:spPr>
          <a:xfrm>
            <a:off x="777240" y="3017520"/>
            <a:ext cx="2697480" cy="274320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AST</a:t>
            </a:r>
            <a:pPr indent="0" marL="0">
              <a:buNone/>
            </a:pPr>
            <a:r>
              <a:rPr lang="en-US" sz="1400" dirty="0">
                <a:solidFill>
                  <a:srgbClr val="1F2937"/>
                </a:solidFill>
                <a:latin typeface="Calibri" pitchFamily="34" charset="0"/>
                <a:ea typeface="Calibri" pitchFamily="34" charset="-122"/>
                <a:cs typeface="Calibri" pitchFamily="34" charset="-120"/>
              </a:rPr>
              <a:t> tagging floor (AudioSet top-5 template)
</a:t>
            </a:r>
            <a:pPr indent="0" marL="0">
              <a:buNone/>
            </a:pPr>
            <a:r>
              <a:rPr lang="en-US" sz="1400" b="1" dirty="0">
                <a:solidFill>
                  <a:srgbClr val="1F2937"/>
                </a:solidFill>
                <a:latin typeface="Calibri" pitchFamily="34" charset="0"/>
                <a:ea typeface="Calibri" pitchFamily="34" charset="-122"/>
                <a:cs typeface="Calibri" pitchFamily="34" charset="-120"/>
              </a:rPr>
              <a:t>CNN14+BART</a:t>
            </a:r>
            <a:pPr indent="0" marL="0">
              <a:buNone/>
            </a:pPr>
            <a:r>
              <a:rPr lang="en-US" sz="1400" dirty="0">
                <a:solidFill>
                  <a:srgbClr val="1F2937"/>
                </a:solidFill>
                <a:latin typeface="Calibri" pitchFamily="34" charset="0"/>
                <a:ea typeface="Calibri" pitchFamily="34" charset="-122"/>
                <a:cs typeface="Calibri" pitchFamily="34" charset="-120"/>
              </a:rPr>
              <a:t> DCASE 2023 baseline, trained on Clotho
</a:t>
            </a:r>
            <a:pPr indent="0" marL="0">
              <a:buNone/>
            </a:pPr>
            <a:r>
              <a:rPr lang="en-US" sz="1400" b="1" dirty="0">
                <a:solidFill>
                  <a:srgbClr val="1F2937"/>
                </a:solidFill>
                <a:latin typeface="Calibri" pitchFamily="34" charset="0"/>
                <a:ea typeface="Calibri" pitchFamily="34" charset="-122"/>
                <a:cs typeface="Calibri" pitchFamily="34" charset="-120"/>
              </a:rPr>
              <a:t>EnCLAP-base</a:t>
            </a:r>
            <a:pPr indent="0" marL="0">
              <a:buNone/>
            </a:pPr>
            <a:r>
              <a:rPr lang="en-US" sz="1400" dirty="0">
                <a:solidFill>
                  <a:srgbClr val="1F2937"/>
                </a:solidFill>
                <a:latin typeface="Calibri" pitchFamily="34" charset="0"/>
                <a:ea typeface="Calibri" pitchFamily="34" charset="-122"/>
                <a:cs typeface="Calibri" pitchFamily="34" charset="-120"/>
              </a:rPr>
              <a:t> EnCodec + CLAP + BART, trained on Clotho</a:t>
            </a:r>
            <a:endParaRPr lang="en-US" sz="1400" dirty="0"/>
          </a:p>
        </p:txBody>
      </p:sp>
      <p:sp>
        <p:nvSpPr>
          <p:cNvPr id="7" name="Shape 5"/>
          <p:cNvSpPr/>
          <p:nvPr/>
        </p:nvSpPr>
        <p:spPr>
          <a:xfrm>
            <a:off x="3840480" y="2377440"/>
            <a:ext cx="3108960" cy="3566160"/>
          </a:xfrm>
          <a:prstGeom prst="roundRect">
            <a:avLst>
              <a:gd name="adj" fmla="val 2353"/>
            </a:avLst>
          </a:prstGeom>
          <a:solidFill>
            <a:srgbClr val="EEF3FA"/>
          </a:solidFill>
          <a:ln/>
        </p:spPr>
      </p:sp>
      <p:sp>
        <p:nvSpPr>
          <p:cNvPr id="8" name="Text 6"/>
          <p:cNvSpPr/>
          <p:nvPr/>
        </p:nvSpPr>
        <p:spPr>
          <a:xfrm>
            <a:off x="4069080" y="2560320"/>
            <a:ext cx="2651760" cy="365760"/>
          </a:xfrm>
          <a:prstGeom prst="rect">
            <a:avLst/>
          </a:prstGeom>
          <a:noFill/>
          <a:ln/>
        </p:spPr>
        <p:txBody>
          <a:bodyPr wrap="square" lIns="0" tIns="0" rIns="0" bIns="0" rtlCol="0" anchor="ctr"/>
          <a:lstStyle/>
          <a:p>
            <a:pPr indent="0" marL="0">
              <a:buNone/>
            </a:pPr>
            <a:r>
              <a:rPr lang="en-US" sz="1600" b="1" dirty="0">
                <a:solidFill>
                  <a:srgbClr val="1F77B4"/>
                </a:solidFill>
                <a:latin typeface="Calibri" pitchFamily="34" charset="0"/>
                <a:ea typeface="Calibri" pitchFamily="34" charset="-122"/>
                <a:cs typeface="Calibri" pitchFamily="34" charset="-120"/>
              </a:rPr>
              <a:t>Zero-shot LALMs</a:t>
            </a:r>
            <a:endParaRPr lang="en-US" sz="1600" dirty="0"/>
          </a:p>
        </p:txBody>
      </p:sp>
      <p:sp>
        <p:nvSpPr>
          <p:cNvPr id="9" name="Text 7"/>
          <p:cNvSpPr/>
          <p:nvPr/>
        </p:nvSpPr>
        <p:spPr>
          <a:xfrm>
            <a:off x="4069080" y="3017520"/>
            <a:ext cx="2697480" cy="274320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Qwen2.5-Omni-7B</a:t>
            </a:r>
            <a:pPr indent="0" marL="0">
              <a:buNone/>
            </a:pPr>
            <a:r>
              <a:rPr lang="en-US" sz="1400" dirty="0">
                <a:solidFill>
                  <a:srgbClr val="1F2937"/>
                </a:solidFill>
                <a:latin typeface="Calibri" pitchFamily="34" charset="0"/>
                <a:ea typeface="Calibri" pitchFamily="34" charset="-122"/>
                <a:cs typeface="Calibri" pitchFamily="34" charset="-120"/>
              </a:rPr>
              <a:t> general omni-model (Alibaba)
</a:t>
            </a:r>
            <a:pPr indent="0" marL="0">
              <a:buNone/>
            </a:pPr>
            <a:r>
              <a:rPr lang="en-US" sz="1400" b="1" dirty="0">
                <a:solidFill>
                  <a:srgbClr val="1F2937"/>
                </a:solidFill>
                <a:latin typeface="Calibri" pitchFamily="34" charset="0"/>
                <a:ea typeface="Calibri" pitchFamily="34" charset="-122"/>
                <a:cs typeface="Calibri" pitchFamily="34" charset="-120"/>
              </a:rPr>
              <a:t>SALMONN-13B</a:t>
            </a:r>
            <a:pPr indent="0" marL="0">
              <a:buNone/>
            </a:pPr>
            <a:r>
              <a:rPr lang="en-US" sz="1400" dirty="0">
                <a:solidFill>
                  <a:srgbClr val="1F2937"/>
                </a:solidFill>
                <a:latin typeface="Calibri" pitchFamily="34" charset="0"/>
                <a:ea typeface="Calibri" pitchFamily="34" charset="-122"/>
                <a:cs typeface="Calibri" pitchFamily="34" charset="-120"/>
              </a:rPr>
              <a:t> audio specialist (Tsinghua/ByteDance)
</a:t>
            </a:r>
            <a:pPr indent="0" marL="0">
              <a:buNone/>
            </a:pPr>
            <a:r>
              <a:rPr lang="en-US" sz="1400" b="1" dirty="0">
                <a:solidFill>
                  <a:srgbClr val="1F2937"/>
                </a:solidFill>
                <a:latin typeface="Calibri" pitchFamily="34" charset="0"/>
                <a:ea typeface="Calibri" pitchFamily="34" charset="-122"/>
                <a:cs typeface="Calibri" pitchFamily="34" charset="-120"/>
              </a:rPr>
              <a:t>Audio Flamingo 3</a:t>
            </a:r>
            <a:pPr indent="0" marL="0">
              <a:buNone/>
            </a:pPr>
            <a:r>
              <a:rPr lang="en-US" sz="1400" dirty="0">
                <a:solidFill>
                  <a:srgbClr val="1F2937"/>
                </a:solidFill>
                <a:latin typeface="Calibri" pitchFamily="34" charset="0"/>
                <a:ea typeface="Calibri" pitchFamily="34" charset="-122"/>
                <a:cs typeface="Calibri" pitchFamily="34" charset="-120"/>
              </a:rPr>
              <a:t> audio specialist (NVIDIA, current SOTA)</a:t>
            </a:r>
            <a:endParaRPr lang="en-US" sz="1400" dirty="0"/>
          </a:p>
        </p:txBody>
      </p:sp>
      <p:sp>
        <p:nvSpPr>
          <p:cNvPr id="10" name="Shape 8"/>
          <p:cNvSpPr/>
          <p:nvPr/>
        </p:nvSpPr>
        <p:spPr>
          <a:xfrm>
            <a:off x="7223760" y="2377440"/>
            <a:ext cx="4389120" cy="1051560"/>
          </a:xfrm>
          <a:prstGeom prst="roundRect">
            <a:avLst>
              <a:gd name="adj" fmla="val 6957"/>
            </a:avLst>
          </a:prstGeom>
          <a:solidFill>
            <a:srgbClr val="FFFFFF"/>
          </a:solidFill>
          <a:ln/>
        </p:spPr>
      </p:sp>
      <p:sp>
        <p:nvSpPr>
          <p:cNvPr id="11" name="Shape 9"/>
          <p:cNvSpPr/>
          <p:nvPr/>
        </p:nvSpPr>
        <p:spPr>
          <a:xfrm>
            <a:off x="7223760" y="2377440"/>
            <a:ext cx="4389120" cy="1051560"/>
          </a:xfrm>
          <a:prstGeom prst="roundRect">
            <a:avLst>
              <a:gd name="adj" fmla="val 6957"/>
            </a:avLst>
          </a:prstGeom>
          <a:solidFill>
            <a:srgbClr val="EEF3FA"/>
          </a:solidFill>
          <a:ln/>
        </p:spPr>
      </p:sp>
      <p:sp>
        <p:nvSpPr>
          <p:cNvPr id="12" name="Text 10"/>
          <p:cNvSpPr/>
          <p:nvPr/>
        </p:nvSpPr>
        <p:spPr>
          <a:xfrm>
            <a:off x="7452360" y="2487168"/>
            <a:ext cx="777240" cy="411480"/>
          </a:xfrm>
          <a:prstGeom prst="rect">
            <a:avLst/>
          </a:prstGeom>
          <a:noFill/>
          <a:ln/>
        </p:spPr>
        <p:txBody>
          <a:bodyPr wrap="square" lIns="0" tIns="0" rIns="0" bIns="0" rtlCol="0" anchor="ctr"/>
          <a:lstStyle/>
          <a:p>
            <a:pPr indent="0" marL="0">
              <a:buNone/>
            </a:pPr>
            <a:r>
              <a:rPr lang="en-US" sz="1800" b="1" dirty="0">
                <a:solidFill>
                  <a:srgbClr val="1F77B4"/>
                </a:solidFill>
                <a:latin typeface="Cambria" pitchFamily="34" charset="0"/>
                <a:ea typeface="Cambria" pitchFamily="34" charset="-122"/>
                <a:cs typeface="Cambria" pitchFamily="34" charset="-120"/>
              </a:rPr>
              <a:t>RQ1</a:t>
            </a:r>
            <a:endParaRPr lang="en-US" sz="1800" dirty="0"/>
          </a:p>
        </p:txBody>
      </p:sp>
      <p:sp>
        <p:nvSpPr>
          <p:cNvPr id="13" name="Text 11"/>
          <p:cNvSpPr/>
          <p:nvPr/>
        </p:nvSpPr>
        <p:spPr>
          <a:xfrm>
            <a:off x="8275320" y="2468880"/>
            <a:ext cx="3200400" cy="8686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Do zero-shot LALMs match or beat trained captioners? (SPIDEr-FL, CIDEr)</a:t>
            </a:r>
            <a:endParaRPr lang="en-US" sz="1300" dirty="0"/>
          </a:p>
        </p:txBody>
      </p:sp>
      <p:sp>
        <p:nvSpPr>
          <p:cNvPr id="14" name="Shape 12"/>
          <p:cNvSpPr/>
          <p:nvPr/>
        </p:nvSpPr>
        <p:spPr>
          <a:xfrm>
            <a:off x="7223760" y="3611880"/>
            <a:ext cx="4389120" cy="1051560"/>
          </a:xfrm>
          <a:prstGeom prst="roundRect">
            <a:avLst>
              <a:gd name="adj" fmla="val 6957"/>
            </a:avLst>
          </a:prstGeom>
          <a:solidFill>
            <a:srgbClr val="FFFFFF"/>
          </a:solidFill>
          <a:ln/>
        </p:spPr>
      </p:sp>
      <p:sp>
        <p:nvSpPr>
          <p:cNvPr id="15" name="Shape 13"/>
          <p:cNvSpPr/>
          <p:nvPr/>
        </p:nvSpPr>
        <p:spPr>
          <a:xfrm>
            <a:off x="7223760" y="3611880"/>
            <a:ext cx="4389120" cy="1051560"/>
          </a:xfrm>
          <a:prstGeom prst="roundRect">
            <a:avLst>
              <a:gd name="adj" fmla="val 6957"/>
            </a:avLst>
          </a:prstGeom>
          <a:solidFill>
            <a:srgbClr val="EEF3FA"/>
          </a:solidFill>
          <a:ln/>
        </p:spPr>
      </p:sp>
      <p:sp>
        <p:nvSpPr>
          <p:cNvPr id="16" name="Text 14"/>
          <p:cNvSpPr/>
          <p:nvPr/>
        </p:nvSpPr>
        <p:spPr>
          <a:xfrm>
            <a:off x="7452360" y="3721608"/>
            <a:ext cx="777240" cy="411480"/>
          </a:xfrm>
          <a:prstGeom prst="rect">
            <a:avLst/>
          </a:prstGeom>
          <a:noFill/>
          <a:ln/>
        </p:spPr>
        <p:txBody>
          <a:bodyPr wrap="square" lIns="0" tIns="0" rIns="0" bIns="0" rtlCol="0" anchor="ctr"/>
          <a:lstStyle/>
          <a:p>
            <a:pPr indent="0" marL="0">
              <a:buNone/>
            </a:pPr>
            <a:r>
              <a:rPr lang="en-US" sz="1800" b="1" dirty="0">
                <a:solidFill>
                  <a:srgbClr val="1F77B4"/>
                </a:solidFill>
                <a:latin typeface="Cambria" pitchFamily="34" charset="0"/>
                <a:ea typeface="Cambria" pitchFamily="34" charset="-122"/>
                <a:cs typeface="Cambria" pitchFamily="34" charset="-120"/>
              </a:rPr>
              <a:t>RQ2</a:t>
            </a:r>
            <a:endParaRPr lang="en-US" sz="1800" dirty="0"/>
          </a:p>
        </p:txBody>
      </p:sp>
      <p:sp>
        <p:nvSpPr>
          <p:cNvPr id="17" name="Text 15"/>
          <p:cNvSpPr/>
          <p:nvPr/>
        </p:nvSpPr>
        <p:spPr>
          <a:xfrm>
            <a:off x="8275320" y="3703320"/>
            <a:ext cx="3200400" cy="8686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Polyphonic vs monophonic clips: where is captioning harder? (Δ SPIDEr-FL, MACE)</a:t>
            </a:r>
            <a:endParaRPr lang="en-US" sz="1300" dirty="0"/>
          </a:p>
        </p:txBody>
      </p:sp>
      <p:sp>
        <p:nvSpPr>
          <p:cNvPr id="18" name="Shape 16"/>
          <p:cNvSpPr/>
          <p:nvPr/>
        </p:nvSpPr>
        <p:spPr>
          <a:xfrm>
            <a:off x="7223760" y="4846320"/>
            <a:ext cx="4389120" cy="1051560"/>
          </a:xfrm>
          <a:prstGeom prst="roundRect">
            <a:avLst>
              <a:gd name="adj" fmla="val 6957"/>
            </a:avLst>
          </a:prstGeom>
          <a:solidFill>
            <a:srgbClr val="FFFFFF"/>
          </a:solidFill>
          <a:ln/>
        </p:spPr>
      </p:sp>
      <p:sp>
        <p:nvSpPr>
          <p:cNvPr id="19" name="Shape 17"/>
          <p:cNvSpPr/>
          <p:nvPr/>
        </p:nvSpPr>
        <p:spPr>
          <a:xfrm>
            <a:off x="7223760" y="4846320"/>
            <a:ext cx="4389120" cy="1051560"/>
          </a:xfrm>
          <a:prstGeom prst="roundRect">
            <a:avLst>
              <a:gd name="adj" fmla="val 6957"/>
            </a:avLst>
          </a:prstGeom>
          <a:solidFill>
            <a:srgbClr val="EEF3FA"/>
          </a:solidFill>
          <a:ln/>
        </p:spPr>
      </p:sp>
      <p:sp>
        <p:nvSpPr>
          <p:cNvPr id="20" name="Text 18"/>
          <p:cNvSpPr/>
          <p:nvPr/>
        </p:nvSpPr>
        <p:spPr>
          <a:xfrm>
            <a:off x="7452360" y="4956048"/>
            <a:ext cx="777240" cy="411480"/>
          </a:xfrm>
          <a:prstGeom prst="rect">
            <a:avLst/>
          </a:prstGeom>
          <a:noFill/>
          <a:ln/>
        </p:spPr>
        <p:txBody>
          <a:bodyPr wrap="square" lIns="0" tIns="0" rIns="0" bIns="0" rtlCol="0" anchor="ctr"/>
          <a:lstStyle/>
          <a:p>
            <a:pPr indent="0" marL="0">
              <a:buNone/>
            </a:pPr>
            <a:r>
              <a:rPr lang="en-US" sz="1800" b="1" dirty="0">
                <a:solidFill>
                  <a:srgbClr val="1F77B4"/>
                </a:solidFill>
                <a:latin typeface="Cambria" pitchFamily="34" charset="0"/>
                <a:ea typeface="Cambria" pitchFamily="34" charset="-122"/>
                <a:cs typeface="Cambria" pitchFamily="34" charset="-120"/>
              </a:rPr>
              <a:t>RQ3</a:t>
            </a:r>
            <a:endParaRPr lang="en-US" sz="1800" dirty="0"/>
          </a:p>
        </p:txBody>
      </p:sp>
      <p:sp>
        <p:nvSpPr>
          <p:cNvPr id="21" name="Text 19"/>
          <p:cNvSpPr/>
          <p:nvPr/>
        </p:nvSpPr>
        <p:spPr>
          <a:xfrm>
            <a:off x="8275320" y="4937760"/>
            <a:ext cx="3200400" cy="8686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Failure modes: how much do captions hallucinate? (CHAIR-audio)</a:t>
            </a:r>
            <a:endParaRPr lang="en-US" sz="1300" dirty="0"/>
          </a:p>
        </p:txBody>
      </p:sp>
      <p:sp>
        <p:nvSpPr>
          <p:cNvPr id="22" name="Text 20"/>
          <p:cNvSpPr/>
          <p:nvPr/>
        </p:nvSpPr>
        <p:spPr>
          <a:xfrm>
            <a:off x="548640" y="6172200"/>
            <a:ext cx="1106424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Preregistered hypotheses H1–H4 with BCa bootstrap and Holm correction.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Method: one harness for all six systems</a:t>
            </a:r>
            <a:endParaRPr lang="en-US" sz="3000" dirty="0"/>
          </a:p>
        </p:txBody>
      </p:sp>
      <p:sp>
        <p:nvSpPr>
          <p:cNvPr id="3" name="Shape 1"/>
          <p:cNvSpPr/>
          <p:nvPr/>
        </p:nvSpPr>
        <p:spPr>
          <a:xfrm>
            <a:off x="548640" y="1371600"/>
            <a:ext cx="2084832" cy="1143000"/>
          </a:xfrm>
          <a:prstGeom prst="roundRect">
            <a:avLst>
              <a:gd name="adj" fmla="val 6400"/>
            </a:avLst>
          </a:prstGeom>
          <a:solidFill>
            <a:srgbClr val="EEF3FA"/>
          </a:solidFill>
          <a:ln/>
        </p:spPr>
      </p:sp>
      <p:sp>
        <p:nvSpPr>
          <p:cNvPr id="4" name="Text 2"/>
          <p:cNvSpPr/>
          <p:nvPr/>
        </p:nvSpPr>
        <p:spPr>
          <a:xfrm>
            <a:off x="62179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Clotho v2.1 eval</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1,045 clips, 44.1 kHz</a:t>
            </a:r>
            <a:endParaRPr lang="en-US" sz="1150" dirty="0"/>
          </a:p>
        </p:txBody>
      </p:sp>
      <p:sp>
        <p:nvSpPr>
          <p:cNvPr id="5" name="Text 3"/>
          <p:cNvSpPr/>
          <p:nvPr/>
        </p:nvSpPr>
        <p:spPr>
          <a:xfrm>
            <a:off x="259232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2926080" y="1371600"/>
            <a:ext cx="2084832" cy="1143000"/>
          </a:xfrm>
          <a:prstGeom prst="roundRect">
            <a:avLst>
              <a:gd name="adj" fmla="val 6400"/>
            </a:avLst>
          </a:prstGeom>
          <a:solidFill>
            <a:srgbClr val="EEF3FA"/>
          </a:solidFill>
          <a:ln/>
        </p:spPr>
      </p:sp>
      <p:sp>
        <p:nvSpPr>
          <p:cNvPr id="7" name="Text 5"/>
          <p:cNvSpPr/>
          <p:nvPr/>
        </p:nvSpPr>
        <p:spPr>
          <a:xfrm>
            <a:off x="299923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caption(waveform, sr)</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one contract per system</a:t>
            </a:r>
            <a:endParaRPr lang="en-US" sz="1150" dirty="0"/>
          </a:p>
        </p:txBody>
      </p:sp>
      <p:sp>
        <p:nvSpPr>
          <p:cNvPr id="8" name="Text 6"/>
          <p:cNvSpPr/>
          <p:nvPr/>
        </p:nvSpPr>
        <p:spPr>
          <a:xfrm>
            <a:off x="496976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5303520" y="1371600"/>
            <a:ext cx="2084832" cy="1143000"/>
          </a:xfrm>
          <a:prstGeom prst="roundRect">
            <a:avLst>
              <a:gd name="adj" fmla="val 6400"/>
            </a:avLst>
          </a:prstGeom>
          <a:solidFill>
            <a:srgbClr val="EEF3FA"/>
          </a:solidFill>
          <a:ln/>
        </p:spPr>
      </p:sp>
      <p:sp>
        <p:nvSpPr>
          <p:cNvPr id="10" name="Text 8"/>
          <p:cNvSpPr/>
          <p:nvPr/>
        </p:nvSpPr>
        <p:spPr>
          <a:xfrm>
            <a:off x="537667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predictions JSON + manifest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SHA-256s, versions, seed 42</a:t>
            </a:r>
            <a:endParaRPr lang="en-US" sz="1150" dirty="0"/>
          </a:p>
        </p:txBody>
      </p:sp>
      <p:sp>
        <p:nvSpPr>
          <p:cNvPr id="11" name="Text 9"/>
          <p:cNvSpPr/>
          <p:nvPr/>
        </p:nvSpPr>
        <p:spPr>
          <a:xfrm>
            <a:off x="734720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7680960" y="1371600"/>
            <a:ext cx="2084832" cy="1143000"/>
          </a:xfrm>
          <a:prstGeom prst="roundRect">
            <a:avLst>
              <a:gd name="adj" fmla="val 6400"/>
            </a:avLst>
          </a:prstGeom>
          <a:solidFill>
            <a:srgbClr val="EEF3FA"/>
          </a:solidFill>
          <a:ln/>
        </p:spPr>
      </p:sp>
      <p:sp>
        <p:nvSpPr>
          <p:cNvPr id="13" name="Text 11"/>
          <p:cNvSpPr/>
          <p:nvPr/>
        </p:nvSpPr>
        <p:spPr>
          <a:xfrm>
            <a:off x="775411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aac-metrics scorer</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SPIDEr-FL, CIDEr, SPICE</a:t>
            </a:r>
            <a:endParaRPr lang="en-US" sz="1150" dirty="0"/>
          </a:p>
        </p:txBody>
      </p:sp>
      <p:sp>
        <p:nvSpPr>
          <p:cNvPr id="14" name="Text 12"/>
          <p:cNvSpPr/>
          <p:nvPr/>
        </p:nvSpPr>
        <p:spPr>
          <a:xfrm>
            <a:off x="972464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10058400" y="1371600"/>
            <a:ext cx="2084832" cy="1143000"/>
          </a:xfrm>
          <a:prstGeom prst="roundRect">
            <a:avLst>
              <a:gd name="adj" fmla="val 6400"/>
            </a:avLst>
          </a:prstGeom>
          <a:solidFill>
            <a:srgbClr val="EEF3FA"/>
          </a:solidFill>
          <a:ln/>
        </p:spPr>
      </p:sp>
      <p:sp>
        <p:nvSpPr>
          <p:cNvPr id="16" name="Text 14"/>
          <p:cNvSpPr/>
          <p:nvPr/>
        </p:nvSpPr>
        <p:spPr>
          <a:xfrm>
            <a:off x="1013155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analysis</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subsets, CHAIR, MACE, bootstrap</a:t>
            </a:r>
            <a:endParaRPr lang="en-US" sz="1150" dirty="0"/>
          </a:p>
        </p:txBody>
      </p:sp>
      <p:sp>
        <p:nvSpPr>
          <p:cNvPr id="17" name="Shape 15"/>
          <p:cNvSpPr/>
          <p:nvPr/>
        </p:nvSpPr>
        <p:spPr>
          <a:xfrm>
            <a:off x="548640" y="3017520"/>
            <a:ext cx="3611880" cy="2286000"/>
          </a:xfrm>
          <a:prstGeom prst="roundRect">
            <a:avLst>
              <a:gd name="adj" fmla="val 3200"/>
            </a:avLst>
          </a:prstGeom>
          <a:solidFill>
            <a:srgbClr val="FFFFFF"/>
          </a:solidFill>
          <a:ln/>
        </p:spPr>
      </p:sp>
      <p:sp>
        <p:nvSpPr>
          <p:cNvPr id="18" name="Shape 16"/>
          <p:cNvSpPr/>
          <p:nvPr/>
        </p:nvSpPr>
        <p:spPr>
          <a:xfrm>
            <a:off x="548640" y="3017520"/>
            <a:ext cx="3611880" cy="2286000"/>
          </a:xfrm>
          <a:prstGeom prst="roundRect">
            <a:avLst>
              <a:gd name="adj" fmla="val 3200"/>
            </a:avLst>
          </a:prstGeom>
          <a:solidFill>
            <a:srgbClr val="EEF3FA"/>
          </a:solidFill>
          <a:ln/>
        </p:spPr>
      </p:sp>
      <p:sp>
        <p:nvSpPr>
          <p:cNvPr id="19" name="Text 17"/>
          <p:cNvSpPr/>
          <p:nvPr/>
        </p:nvSpPr>
        <p:spPr>
          <a:xfrm>
            <a:off x="777240" y="3200400"/>
            <a:ext cx="3154680" cy="4114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Harness validated</a:t>
            </a:r>
            <a:endParaRPr lang="en-US" sz="1600" dirty="0"/>
          </a:p>
        </p:txBody>
      </p:sp>
      <p:sp>
        <p:nvSpPr>
          <p:cNvPr id="20" name="Text 18"/>
          <p:cNvSpPr/>
          <p:nvPr/>
        </p:nvSpPr>
        <p:spPr>
          <a:xfrm>
            <a:off x="777240" y="3703320"/>
            <a:ext cx="3154680" cy="1463040"/>
          </a:xfrm>
          <a:prstGeom prst="rect">
            <a:avLst/>
          </a:prstGeom>
          <a:noFill/>
          <a:ln/>
        </p:spPr>
        <p:txBody>
          <a:bodyPr wrap="square" lIns="0" tIns="0" rIns="0" bIns="0" rtlCol="0" anchor="ctr"/>
          <a:lstStyle/>
          <a:p>
            <a:pPr indent="0" marL="0">
              <a:lnSpc>
                <a:spcPct val="110000"/>
              </a:lnSpc>
              <a:buNone/>
            </a:pPr>
            <a:r>
              <a:rPr lang="en-US" sz="1350" dirty="0">
                <a:solidFill>
                  <a:srgbClr val="1F2937"/>
                </a:solidFill>
                <a:latin typeface="Calibri" pitchFamily="34" charset="0"/>
                <a:ea typeface="Calibri" pitchFamily="34" charset="-122"/>
                <a:cs typeface="Calibri" pitchFamily="34" charset="-120"/>
              </a:rPr>
              <a:t>CNN14 reproduces its official score: 0.259 vs 0.261 published. Same scorer, clips, and references for every row.</a:t>
            </a:r>
            <a:endParaRPr lang="en-US" sz="1350" dirty="0"/>
          </a:p>
        </p:txBody>
      </p:sp>
      <p:sp>
        <p:nvSpPr>
          <p:cNvPr id="21" name="Shape 19"/>
          <p:cNvSpPr/>
          <p:nvPr/>
        </p:nvSpPr>
        <p:spPr>
          <a:xfrm>
            <a:off x="4434840" y="3017520"/>
            <a:ext cx="3611880" cy="2286000"/>
          </a:xfrm>
          <a:prstGeom prst="roundRect">
            <a:avLst>
              <a:gd name="adj" fmla="val 3200"/>
            </a:avLst>
          </a:prstGeom>
          <a:solidFill>
            <a:srgbClr val="FFFFFF"/>
          </a:solidFill>
          <a:ln/>
        </p:spPr>
      </p:sp>
      <p:sp>
        <p:nvSpPr>
          <p:cNvPr id="22" name="Shape 20"/>
          <p:cNvSpPr/>
          <p:nvPr/>
        </p:nvSpPr>
        <p:spPr>
          <a:xfrm>
            <a:off x="4434840" y="3017520"/>
            <a:ext cx="3611880" cy="2286000"/>
          </a:xfrm>
          <a:prstGeom prst="roundRect">
            <a:avLst>
              <a:gd name="adj" fmla="val 3200"/>
            </a:avLst>
          </a:prstGeom>
          <a:solidFill>
            <a:srgbClr val="EEF3FA"/>
          </a:solidFill>
          <a:ln/>
        </p:spPr>
      </p:sp>
      <p:sp>
        <p:nvSpPr>
          <p:cNvPr id="23" name="Text 21"/>
          <p:cNvSpPr/>
          <p:nvPr/>
        </p:nvSpPr>
        <p:spPr>
          <a:xfrm>
            <a:off x="4663440" y="3200400"/>
            <a:ext cx="3154680" cy="4114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LALMs on one A100 each</a:t>
            </a:r>
            <a:endParaRPr lang="en-US" sz="1600" dirty="0"/>
          </a:p>
        </p:txBody>
      </p:sp>
      <p:sp>
        <p:nvSpPr>
          <p:cNvPr id="24" name="Text 22"/>
          <p:cNvSpPr/>
          <p:nvPr/>
        </p:nvSpPr>
        <p:spPr>
          <a:xfrm>
            <a:off x="4663440" y="3703320"/>
            <a:ext cx="3154680" cy="1463040"/>
          </a:xfrm>
          <a:prstGeom prst="rect">
            <a:avLst/>
          </a:prstGeom>
          <a:noFill/>
          <a:ln/>
        </p:spPr>
        <p:txBody>
          <a:bodyPr wrap="square" lIns="0" tIns="0" rIns="0" bIns="0" rtlCol="0" anchor="ctr"/>
          <a:lstStyle/>
          <a:p>
            <a:pPr indent="0" marL="0">
              <a:lnSpc>
                <a:spcPct val="110000"/>
              </a:lnSpc>
              <a:buNone/>
            </a:pPr>
            <a:r>
              <a:rPr lang="en-US" sz="1350" dirty="0">
                <a:solidFill>
                  <a:srgbClr val="1F2937"/>
                </a:solidFill>
                <a:latin typeface="Calibri" pitchFamily="34" charset="0"/>
                <a:ea typeface="Calibri" pitchFamily="34" charset="-122"/>
                <a:cs typeface="Calibri" pitchFamily="34" charset="-120"/>
              </a:rPr>
              <a:t>Offline compute nodes, pre-cached checkpoints, fixed one-line prompt recorded per run. Full runs take 8 to 19 minutes.</a:t>
            </a:r>
            <a:endParaRPr lang="en-US" sz="1350" dirty="0"/>
          </a:p>
        </p:txBody>
      </p:sp>
      <p:sp>
        <p:nvSpPr>
          <p:cNvPr id="25" name="Shape 23"/>
          <p:cNvSpPr/>
          <p:nvPr/>
        </p:nvSpPr>
        <p:spPr>
          <a:xfrm>
            <a:off x="8321040" y="3017520"/>
            <a:ext cx="3611880" cy="2286000"/>
          </a:xfrm>
          <a:prstGeom prst="roundRect">
            <a:avLst>
              <a:gd name="adj" fmla="val 3200"/>
            </a:avLst>
          </a:prstGeom>
          <a:solidFill>
            <a:srgbClr val="FFFFFF"/>
          </a:solidFill>
          <a:ln/>
        </p:spPr>
      </p:sp>
      <p:sp>
        <p:nvSpPr>
          <p:cNvPr id="26" name="Shape 24"/>
          <p:cNvSpPr/>
          <p:nvPr/>
        </p:nvSpPr>
        <p:spPr>
          <a:xfrm>
            <a:off x="8321040" y="3017520"/>
            <a:ext cx="3611880" cy="2286000"/>
          </a:xfrm>
          <a:prstGeom prst="roundRect">
            <a:avLst>
              <a:gd name="adj" fmla="val 3200"/>
            </a:avLst>
          </a:prstGeom>
          <a:solidFill>
            <a:srgbClr val="EEF3FA"/>
          </a:solidFill>
          <a:ln/>
        </p:spPr>
      </p:sp>
      <p:sp>
        <p:nvSpPr>
          <p:cNvPr id="27" name="Text 25"/>
          <p:cNvSpPr/>
          <p:nvPr/>
        </p:nvSpPr>
        <p:spPr>
          <a:xfrm>
            <a:off x="8549640" y="3200400"/>
            <a:ext cx="3154680" cy="4114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Complete and auditable</a:t>
            </a:r>
            <a:endParaRPr lang="en-US" sz="1600" dirty="0"/>
          </a:p>
        </p:txBody>
      </p:sp>
      <p:sp>
        <p:nvSpPr>
          <p:cNvPr id="28" name="Text 26"/>
          <p:cNvSpPr/>
          <p:nvPr/>
        </p:nvSpPr>
        <p:spPr>
          <a:xfrm>
            <a:off x="8549640" y="3703320"/>
            <a:ext cx="3154680" cy="1463040"/>
          </a:xfrm>
          <a:prstGeom prst="rect">
            <a:avLst/>
          </a:prstGeom>
          <a:noFill/>
          <a:ln/>
        </p:spPr>
        <p:txBody>
          <a:bodyPr wrap="square" lIns="0" tIns="0" rIns="0" bIns="0" rtlCol="0" anchor="ctr"/>
          <a:lstStyle/>
          <a:p>
            <a:pPr indent="0" marL="0">
              <a:lnSpc>
                <a:spcPct val="110000"/>
              </a:lnSpc>
              <a:buNone/>
            </a:pPr>
            <a:r>
              <a:rPr lang="en-US" sz="1350" dirty="0">
                <a:solidFill>
                  <a:srgbClr val="1F2937"/>
                </a:solidFill>
                <a:latin typeface="Calibri" pitchFamily="34" charset="0"/>
                <a:ea typeface="Calibri" pitchFamily="34" charset="-122"/>
                <a:cs typeface="Calibri" pitchFamily="34" charset="-120"/>
              </a:rPr>
              <a:t>1,045 of 1,045 clips for every system, zero failures. Every number traces to a committed result file.</a:t>
            </a:r>
            <a:endParaRPr lang="en-US" sz="1350" dirty="0"/>
          </a:p>
        </p:txBody>
      </p:sp>
      <p:sp>
        <p:nvSpPr>
          <p:cNvPr id="29" name="Text 27"/>
          <p:cNvSpPr/>
          <p:nvPr/>
        </p:nvSpPr>
        <p:spPr>
          <a:xfrm>
            <a:off x="548640" y="5623560"/>
            <a:ext cx="11064240" cy="41148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Baselines on CPU, LALMs on NHR@FAU TinyGPU. Only the compute location moves; the measurement never changes.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RQ1: It depends on the model</a:t>
            </a:r>
            <a:endParaRPr lang="en-US" sz="3000" dirty="0"/>
          </a:p>
        </p:txBody>
      </p:sp>
      <p:graphicFrame>
        <p:nvGraphicFramePr>
          <p:cNvPr id="3" name="Chart 0" descr=""/>
          <p:cNvGraphicFramePr/>
          <p:nvPr/>
        </p:nvGraphicFramePr>
        <p:xfrm>
          <a:off x="457200" y="11430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143000"/>
            <a:ext cx="3840480" cy="1188720"/>
          </a:xfrm>
          <a:prstGeom prst="roundRect">
            <a:avLst>
              <a:gd name="adj" fmla="val 6154"/>
            </a:avLst>
          </a:prstGeom>
          <a:solidFill>
            <a:srgbClr val="EEF3FA"/>
          </a:solidFill>
          <a:ln/>
        </p:spPr>
      </p:sp>
      <p:sp>
        <p:nvSpPr>
          <p:cNvPr id="5" name="Text 2"/>
          <p:cNvSpPr/>
          <p:nvPr/>
        </p:nvSpPr>
        <p:spPr>
          <a:xfrm>
            <a:off x="7973568" y="1261872"/>
            <a:ext cx="3474720" cy="960120"/>
          </a:xfrm>
          <a:prstGeom prst="rect">
            <a:avLst/>
          </a:prstGeom>
          <a:noFill/>
          <a:ln/>
        </p:spPr>
        <p:txBody>
          <a:bodyPr wrap="square" lIns="0" tIns="0" rIns="0" bIns="0" rtlCol="0" anchor="ctr"/>
          <a:lstStyle/>
          <a:p>
            <a:pPr indent="0" marL="0">
              <a:buNone/>
            </a:pPr>
            <a:r>
              <a:rPr lang="en-US" sz="1300" b="1" dirty="0">
                <a:solidFill>
                  <a:srgbClr val="1F77B4"/>
                </a:solidFill>
                <a:latin typeface="Calibri" pitchFamily="34" charset="0"/>
                <a:ea typeface="Calibri" pitchFamily="34" charset="-122"/>
                <a:cs typeface="Calibri" pitchFamily="34" charset="-120"/>
              </a:rPr>
              <a:t>H1 ✓  </a:t>
            </a:r>
            <a:pPr indent="0" marL="0">
              <a:buNone/>
            </a:pPr>
            <a:r>
              <a:rPr lang="en-US" sz="1300" dirty="0">
                <a:solidFill>
                  <a:srgbClr val="1F2937"/>
                </a:solidFill>
                <a:latin typeface="Calibri" pitchFamily="34" charset="0"/>
                <a:ea typeface="Calibri" pitchFamily="34" charset="-122"/>
                <a:cs typeface="Calibri" pitchFamily="34" charset="-120"/>
              </a:rPr>
              <a:t>AF3 beats the 0.261 baseline: CI lower 0.283, p ≈ 0.001, Holm-corrected</a:t>
            </a:r>
            <a:endParaRPr lang="en-US" sz="1300" dirty="0"/>
          </a:p>
        </p:txBody>
      </p:sp>
      <p:sp>
        <p:nvSpPr>
          <p:cNvPr id="6" name="Shape 3"/>
          <p:cNvSpPr/>
          <p:nvPr/>
        </p:nvSpPr>
        <p:spPr>
          <a:xfrm>
            <a:off x="7772400" y="2514600"/>
            <a:ext cx="3840480" cy="1188720"/>
          </a:xfrm>
          <a:prstGeom prst="roundRect">
            <a:avLst>
              <a:gd name="adj" fmla="val 6154"/>
            </a:avLst>
          </a:prstGeom>
          <a:solidFill>
            <a:srgbClr val="EEF3FA"/>
          </a:solidFill>
          <a:ln/>
        </p:spPr>
      </p:sp>
      <p:sp>
        <p:nvSpPr>
          <p:cNvPr id="7" name="Text 4"/>
          <p:cNvSpPr/>
          <p:nvPr/>
        </p:nvSpPr>
        <p:spPr>
          <a:xfrm>
            <a:off x="7973568" y="2633472"/>
            <a:ext cx="3474720" cy="960120"/>
          </a:xfrm>
          <a:prstGeom prst="rect">
            <a:avLst/>
          </a:prstGeom>
          <a:noFill/>
          <a:ln/>
        </p:spPr>
        <p:txBody>
          <a:bodyPr wrap="square" lIns="0" tIns="0" rIns="0" bIns="0" rtlCol="0" anchor="ctr"/>
          <a:lstStyle/>
          <a:p>
            <a:pPr indent="0" marL="0">
              <a:buNone/>
            </a:pPr>
            <a:r>
              <a:rPr lang="en-US" sz="1300" b="1" dirty="0">
                <a:solidFill>
                  <a:srgbClr val="1F77B4"/>
                </a:solidFill>
                <a:latin typeface="Calibri" pitchFamily="34" charset="0"/>
                <a:ea typeface="Calibri" pitchFamily="34" charset="-122"/>
                <a:cs typeface="Calibri" pitchFamily="34" charset="-120"/>
              </a:rPr>
              <a:t>H3 ✓  </a:t>
            </a:r>
            <a:pPr indent="0" marL="0">
              <a:buNone/>
            </a:pPr>
            <a:r>
              <a:rPr lang="en-US" sz="1300" dirty="0">
                <a:solidFill>
                  <a:srgbClr val="1F2937"/>
                </a:solidFill>
                <a:latin typeface="Calibri" pitchFamily="34" charset="0"/>
                <a:ea typeface="Calibri" pitchFamily="34" charset="-122"/>
                <a:cs typeface="Calibri" pitchFamily="34" charset="-120"/>
              </a:rPr>
              <a:t>AF3 over SALMONN, paired per clip: +0.072 (CI lower +0.058)</a:t>
            </a:r>
            <a:endParaRPr lang="en-US" sz="1300" dirty="0"/>
          </a:p>
        </p:txBody>
      </p:sp>
      <p:sp>
        <p:nvSpPr>
          <p:cNvPr id="8" name="Shape 5"/>
          <p:cNvSpPr/>
          <p:nvPr/>
        </p:nvSpPr>
        <p:spPr>
          <a:xfrm>
            <a:off x="7772400" y="3886200"/>
            <a:ext cx="3840480" cy="1737360"/>
          </a:xfrm>
          <a:prstGeom prst="roundRect">
            <a:avLst>
              <a:gd name="adj" fmla="val 4211"/>
            </a:avLst>
          </a:prstGeom>
          <a:solidFill>
            <a:srgbClr val="FDF2F2"/>
          </a:solidFill>
          <a:ln/>
        </p:spPr>
      </p:sp>
      <p:sp>
        <p:nvSpPr>
          <p:cNvPr id="9" name="Text 6"/>
          <p:cNvSpPr/>
          <p:nvPr/>
        </p:nvSpPr>
        <p:spPr>
          <a:xfrm>
            <a:off x="7973568" y="4023360"/>
            <a:ext cx="3474720" cy="150876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Published anchors  </a:t>
            </a:r>
            <a:pPr indent="0" marL="0">
              <a:buNone/>
            </a:pPr>
            <a:r>
              <a:rPr lang="en-US" sz="1250" dirty="0">
                <a:solidFill>
                  <a:srgbClr val="1F2937"/>
                </a:solidFill>
                <a:latin typeface="Calibri" pitchFamily="34" charset="0"/>
                <a:ea typeface="Calibri" pitchFamily="34" charset="-122"/>
                <a:cs typeface="Calibri" pitchFamily="34" charset="-120"/>
              </a:rPr>
              <a:t>CNN14 0.261 (official), EnCLAP-base 0.291. Our EnCLAP row runs 1.1 pp low (released checkpoint / decoding); disclosed in the paper. H1 is anchored on CNN14.</a:t>
            </a:r>
            <a:endParaRPr lang="en-US" sz="1250" dirty="0"/>
          </a:p>
        </p:txBody>
      </p:sp>
      <p:sp>
        <p:nvSpPr>
          <p:cNvPr id="10" name="Text 7"/>
          <p:cNvSpPr/>
          <p:nvPr/>
        </p:nvSpPr>
        <p:spPr>
          <a:xfrm>
            <a:off x="548640" y="5943600"/>
            <a:ext cx="1106424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Two LALMs trail both trained captioners. The audio specialist AF3 beats both, on every metric, and clears EnCLAP's published SPIDEr-FL too.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What the captions actually look like</a:t>
            </a:r>
            <a:endParaRPr lang="en-US" sz="3000" dirty="0"/>
          </a:p>
        </p:txBody>
      </p:sp>
      <p:sp>
        <p:nvSpPr>
          <p:cNvPr id="3" name="Text 1"/>
          <p:cNvSpPr/>
          <p:nvPr/>
        </p:nvSpPr>
        <p:spPr>
          <a:xfrm>
            <a:off x="548640" y="1024128"/>
            <a:ext cx="11064240" cy="320040"/>
          </a:xfrm>
          <a:prstGeom prst="rect">
            <a:avLst/>
          </a:prstGeom>
          <a:noFill/>
          <a:ln/>
        </p:spPr>
        <p:txBody>
          <a:bodyPr wrap="square" lIns="0" tIns="0" rIns="0" bIns="0" rtlCol="0" anchor="ctr"/>
          <a:lstStyle/>
          <a:p>
            <a:pPr indent="0" marL="0">
              <a:buNone/>
            </a:pPr>
            <a:r>
              <a:rPr lang="en-US" sz="1300" dirty="0">
                <a:solidFill>
                  <a:srgbClr val="6B7280"/>
                </a:solidFill>
                <a:latin typeface="Courier New" pitchFamily="34" charset="0"/>
                <a:ea typeface="Courier New" pitchFamily="34" charset="-122"/>
                <a:cs typeface="Courier New" pitchFamily="34" charset="-120"/>
              </a:rPr>
              <a:t>creaky.wav</a:t>
            </a:r>
            <a:pPr indent="0" marL="0">
              <a:buNone/>
            </a:pPr>
            <a:r>
              <a:rPr lang="en-US" sz="1300" dirty="0">
                <a:solidFill>
                  <a:srgbClr val="6B7280"/>
                </a:solidFill>
              </a:rPr>
              <a:t>   one of the five human references:</a:t>
            </a:r>
            <a:endParaRPr lang="en-US" sz="13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indent="0" marL="0">
              <a:buNone/>
            </a:pPr>
            <a:r>
              <a:rPr lang="en-US" sz="1500" i="1" dirty="0">
                <a:solidFill>
                  <a:srgbClr val="1F2937"/>
                </a:solidFill>
                <a:latin typeface="Cambria" pitchFamily="34" charset="0"/>
                <a:ea typeface="Cambria" pitchFamily="34" charset="-122"/>
                <a:cs typeface="Cambria" pitchFamily="34" charset="-120"/>
              </a:rPr>
              <a:t>“First, people are walking and then voices are talking in the background while music plays softly.”</a:t>
            </a:r>
            <a:endParaRPr lang="en-US" sz="1500" dirty="0"/>
          </a:p>
        </p:txBody>
      </p:sp>
      <p:sp>
        <p:nvSpPr>
          <p:cNvPr id="5" name="Shape 3"/>
          <p:cNvSpPr/>
          <p:nvPr/>
        </p:nvSpPr>
        <p:spPr>
          <a:xfrm>
            <a:off x="548640" y="2057400"/>
            <a:ext cx="11064240" cy="713232"/>
          </a:xfrm>
          <a:prstGeom prst="roundRect">
            <a:avLst>
              <a:gd name="adj" fmla="val 10256"/>
            </a:avLst>
          </a:prstGeom>
          <a:solidFill>
            <a:srgbClr val="EEF3FA"/>
          </a:solidFill>
          <a:ln/>
        </p:spPr>
      </p:sp>
      <p:sp>
        <p:nvSpPr>
          <p:cNvPr id="6" name="Text 4"/>
          <p:cNvSpPr/>
          <p:nvPr/>
        </p:nvSpPr>
        <p:spPr>
          <a:xfrm>
            <a:off x="777240" y="2130552"/>
            <a:ext cx="1920240" cy="566928"/>
          </a:xfrm>
          <a:prstGeom prst="rect">
            <a:avLst/>
          </a:prstGeom>
          <a:noFill/>
          <a:ln/>
        </p:spPr>
        <p:txBody>
          <a:bodyPr wrap="square" lIns="0" tIns="0" rIns="0" bIns="0" rtlCol="0" anchor="ctr"/>
          <a:lstStyle/>
          <a:p>
            <a:pPr indent="0" marL="0">
              <a:buNone/>
            </a:pPr>
            <a:r>
              <a:rPr lang="en-US" sz="1250" b="1" dirty="0">
                <a:solidFill>
                  <a:srgbClr val="9E9E9E"/>
                </a:solidFill>
                <a:latin typeface="Calibri" pitchFamily="34" charset="0"/>
                <a:ea typeface="Calibri" pitchFamily="34" charset="-122"/>
                <a:cs typeface="Calibri" pitchFamily="34" charset="-120"/>
              </a:rPr>
              <a:t>AST (floor)</a:t>
            </a:r>
            <a:endParaRPr lang="en-US" sz="1250" dirty="0"/>
          </a:p>
        </p:txBody>
      </p:sp>
      <p:sp>
        <p:nvSpPr>
          <p:cNvPr id="7" name="Text 5"/>
          <p:cNvSpPr/>
          <p:nvPr/>
        </p:nvSpPr>
        <p:spPr>
          <a:xfrm>
            <a:off x="2788920" y="213055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sound of speech, walk, footsteps, animal, inside, large room or hall and outside, rural or natural</a:t>
            </a:r>
            <a:endParaRPr lang="en-US" sz="1250" dirty="0"/>
          </a:p>
        </p:txBody>
      </p:sp>
      <p:sp>
        <p:nvSpPr>
          <p:cNvPr id="8" name="Text 6"/>
          <p:cNvSpPr/>
          <p:nvPr/>
        </p:nvSpPr>
        <p:spPr>
          <a:xfrm>
            <a:off x="8961120" y="213055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 tag list, not a sentence</a:t>
            </a:r>
            <a:endParaRPr lang="en-US" sz="1100" dirty="0"/>
          </a:p>
        </p:txBody>
      </p:sp>
      <p:sp>
        <p:nvSpPr>
          <p:cNvPr id="9" name="Shape 7"/>
          <p:cNvSpPr/>
          <p:nvPr/>
        </p:nvSpPr>
        <p:spPr>
          <a:xfrm>
            <a:off x="548640" y="2880360"/>
            <a:ext cx="11064240" cy="713232"/>
          </a:xfrm>
          <a:prstGeom prst="roundRect">
            <a:avLst>
              <a:gd name="adj" fmla="val 10256"/>
            </a:avLst>
          </a:prstGeom>
          <a:solidFill>
            <a:srgbClr val="EEF3FA"/>
          </a:solidFill>
          <a:ln/>
        </p:spPr>
      </p:sp>
      <p:sp>
        <p:nvSpPr>
          <p:cNvPr id="10" name="Text 8"/>
          <p:cNvSpPr/>
          <p:nvPr/>
        </p:nvSpPr>
        <p:spPr>
          <a:xfrm>
            <a:off x="777240" y="2953512"/>
            <a:ext cx="1920240" cy="566928"/>
          </a:xfrm>
          <a:prstGeom prst="rect">
            <a:avLst/>
          </a:prstGeom>
          <a:noFill/>
          <a:ln/>
        </p:spPr>
        <p:txBody>
          <a:bodyPr wrap="square" lIns="0" tIns="0" rIns="0" bIns="0" rtlCol="0" anchor="ctr"/>
          <a:lstStyle/>
          <a:p>
            <a:pPr indent="0" marL="0">
              <a:buNone/>
            </a:pPr>
            <a:r>
              <a:rPr lang="en-US" sz="1250" b="1" dirty="0">
                <a:solidFill>
                  <a:srgbClr val="1F77B4"/>
                </a:solidFill>
                <a:latin typeface="Calibri" pitchFamily="34" charset="0"/>
                <a:ea typeface="Calibri" pitchFamily="34" charset="-122"/>
                <a:cs typeface="Calibri" pitchFamily="34" charset="-120"/>
              </a:rPr>
              <a:t>Qwen2.5-Omni</a:t>
            </a:r>
            <a:endParaRPr lang="en-US" sz="1250" dirty="0"/>
          </a:p>
        </p:txBody>
      </p:sp>
      <p:sp>
        <p:nvSpPr>
          <p:cNvPr id="11" name="Text 9"/>
          <p:cNvSpPr/>
          <p:nvPr/>
        </p:nvSpPr>
        <p:spPr>
          <a:xfrm>
            <a:off x="2788920" y="295351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The audio contains the sounds of footsteps, a door creaking open and shut, and some indistinct voices in the background.</a:t>
            </a:r>
            <a:endParaRPr lang="en-US" sz="1250" dirty="0"/>
          </a:p>
        </p:txBody>
      </p:sp>
      <p:sp>
        <p:nvSpPr>
          <p:cNvPr id="12" name="Text 10"/>
          <p:cNvSpPr/>
          <p:nvPr/>
        </p:nvSpPr>
        <p:spPr>
          <a:xfrm>
            <a:off x="8961120" y="295351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report framing; no reference sounds like this</a:t>
            </a:r>
            <a:endParaRPr lang="en-US" sz="1100" dirty="0"/>
          </a:p>
        </p:txBody>
      </p:sp>
      <p:sp>
        <p:nvSpPr>
          <p:cNvPr id="13" name="Shape 11"/>
          <p:cNvSpPr/>
          <p:nvPr/>
        </p:nvSpPr>
        <p:spPr>
          <a:xfrm>
            <a:off x="548640" y="3703320"/>
            <a:ext cx="11064240" cy="713232"/>
          </a:xfrm>
          <a:prstGeom prst="roundRect">
            <a:avLst>
              <a:gd name="adj" fmla="val 10256"/>
            </a:avLst>
          </a:prstGeom>
          <a:solidFill>
            <a:srgbClr val="EEF3FA"/>
          </a:solidFill>
          <a:ln/>
        </p:spPr>
      </p:sp>
      <p:sp>
        <p:nvSpPr>
          <p:cNvPr id="14" name="Text 12"/>
          <p:cNvSpPr/>
          <p:nvPr/>
        </p:nvSpPr>
        <p:spPr>
          <a:xfrm>
            <a:off x="777240" y="3776472"/>
            <a:ext cx="1920240" cy="566928"/>
          </a:xfrm>
          <a:prstGeom prst="rect">
            <a:avLst/>
          </a:prstGeom>
          <a:noFill/>
          <a:ln/>
        </p:spPr>
        <p:txBody>
          <a:bodyPr wrap="square" lIns="0" tIns="0" rIns="0" bIns="0" rtlCol="0" anchor="ctr"/>
          <a:lstStyle/>
          <a:p>
            <a:pPr indent="0" marL="0">
              <a:buNone/>
            </a:pPr>
            <a:r>
              <a:rPr lang="en-US" sz="1250" b="1" dirty="0">
                <a:solidFill>
                  <a:srgbClr val="1F77B4"/>
                </a:solidFill>
                <a:latin typeface="Calibri" pitchFamily="34" charset="0"/>
                <a:ea typeface="Calibri" pitchFamily="34" charset="-122"/>
                <a:cs typeface="Calibri" pitchFamily="34" charset="-120"/>
              </a:rPr>
              <a:t>SALMONN</a:t>
            </a:r>
            <a:endParaRPr lang="en-US" sz="1250" dirty="0"/>
          </a:p>
        </p:txBody>
      </p:sp>
      <p:sp>
        <p:nvSpPr>
          <p:cNvPr id="15" name="Text 13"/>
          <p:cNvSpPr/>
          <p:nvPr/>
        </p:nvSpPr>
        <p:spPr>
          <a:xfrm>
            <a:off x="2788920" y="377647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People are walking and talking in a corridor.</a:t>
            </a:r>
            <a:endParaRPr lang="en-US" sz="1250" dirty="0"/>
          </a:p>
        </p:txBody>
      </p:sp>
      <p:sp>
        <p:nvSpPr>
          <p:cNvPr id="16" name="Text 14"/>
          <p:cNvSpPr/>
          <p:nvPr/>
        </p:nvSpPr>
        <p:spPr>
          <a:xfrm>
            <a:off x="8961120" y="377647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short declarative</a:t>
            </a:r>
            <a:endParaRPr lang="en-US" sz="1100" dirty="0"/>
          </a:p>
        </p:txBody>
      </p:sp>
      <p:sp>
        <p:nvSpPr>
          <p:cNvPr id="17" name="Shape 15"/>
          <p:cNvSpPr/>
          <p:nvPr/>
        </p:nvSpPr>
        <p:spPr>
          <a:xfrm>
            <a:off x="548640" y="4526280"/>
            <a:ext cx="11064240" cy="713232"/>
          </a:xfrm>
          <a:prstGeom prst="roundRect">
            <a:avLst>
              <a:gd name="adj" fmla="val 10256"/>
            </a:avLst>
          </a:prstGeom>
          <a:solidFill>
            <a:srgbClr val="EEF3FA"/>
          </a:solidFill>
          <a:ln/>
        </p:spPr>
      </p:sp>
      <p:sp>
        <p:nvSpPr>
          <p:cNvPr id="18" name="Text 16"/>
          <p:cNvSpPr/>
          <p:nvPr/>
        </p:nvSpPr>
        <p:spPr>
          <a:xfrm>
            <a:off x="777240" y="4599432"/>
            <a:ext cx="1920240" cy="566928"/>
          </a:xfrm>
          <a:prstGeom prst="rect">
            <a:avLst/>
          </a:prstGeom>
          <a:noFill/>
          <a:ln/>
        </p:spPr>
        <p:txBody>
          <a:bodyPr wrap="square" lIns="0" tIns="0" rIns="0" bIns="0" rtlCol="0" anchor="ctr"/>
          <a:lstStyle/>
          <a:p>
            <a:pPr indent="0" marL="0">
              <a:buNone/>
            </a:pPr>
            <a:r>
              <a:rPr lang="en-US" sz="1250" b="1" dirty="0">
                <a:solidFill>
                  <a:srgbClr val="D62728"/>
                </a:solidFill>
                <a:latin typeface="Calibri" pitchFamily="34" charset="0"/>
                <a:ea typeface="Calibri" pitchFamily="34" charset="-122"/>
                <a:cs typeface="Calibri" pitchFamily="34" charset="-120"/>
              </a:rPr>
              <a:t>EnCLAP (trained)</a:t>
            </a:r>
            <a:endParaRPr lang="en-US" sz="1250" dirty="0"/>
          </a:p>
        </p:txBody>
      </p:sp>
      <p:sp>
        <p:nvSpPr>
          <p:cNvPr id="19" name="Text 17"/>
          <p:cNvSpPr/>
          <p:nvPr/>
        </p:nvSpPr>
        <p:spPr>
          <a:xfrm>
            <a:off x="2788920" y="459943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person is walking on a hard floor.</a:t>
            </a:r>
            <a:endParaRPr lang="en-US" sz="1250" dirty="0"/>
          </a:p>
        </p:txBody>
      </p:sp>
      <p:sp>
        <p:nvSpPr>
          <p:cNvPr id="20" name="Text 18"/>
          <p:cNvSpPr/>
          <p:nvPr/>
        </p:nvSpPr>
        <p:spPr>
          <a:xfrm>
            <a:off x="8961120" y="459943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Clotho register (CNN14 similar)</a:t>
            </a:r>
            <a:endParaRPr lang="en-US" sz="1100" dirty="0"/>
          </a:p>
        </p:txBody>
      </p:sp>
      <p:sp>
        <p:nvSpPr>
          <p:cNvPr id="21" name="Shape 19"/>
          <p:cNvSpPr/>
          <p:nvPr/>
        </p:nvSpPr>
        <p:spPr>
          <a:xfrm>
            <a:off x="548640" y="5349240"/>
            <a:ext cx="11064240" cy="713232"/>
          </a:xfrm>
          <a:prstGeom prst="roundRect">
            <a:avLst>
              <a:gd name="adj" fmla="val 10256"/>
            </a:avLst>
          </a:prstGeom>
          <a:solidFill>
            <a:srgbClr val="EEF3FA"/>
          </a:solidFill>
          <a:ln/>
        </p:spPr>
      </p:sp>
      <p:sp>
        <p:nvSpPr>
          <p:cNvPr id="22" name="Text 20"/>
          <p:cNvSpPr/>
          <p:nvPr/>
        </p:nvSpPr>
        <p:spPr>
          <a:xfrm>
            <a:off x="777240" y="5422392"/>
            <a:ext cx="1920240" cy="566928"/>
          </a:xfrm>
          <a:prstGeom prst="rect">
            <a:avLst/>
          </a:prstGeom>
          <a:noFill/>
          <a:ln/>
        </p:spPr>
        <p:txBody>
          <a:bodyPr wrap="square" lIns="0" tIns="0" rIns="0" bIns="0" rtlCol="0" anchor="ctr"/>
          <a:lstStyle/>
          <a:p>
            <a:pPr indent="0" marL="0">
              <a:buNone/>
            </a:pPr>
            <a:r>
              <a:rPr lang="en-US" sz="1250" b="1" dirty="0">
                <a:solidFill>
                  <a:srgbClr val="1F77B4"/>
                </a:solidFill>
                <a:latin typeface="Calibri" pitchFamily="34" charset="0"/>
                <a:ea typeface="Calibri" pitchFamily="34" charset="-122"/>
                <a:cs typeface="Calibri" pitchFamily="34" charset="-120"/>
              </a:rPr>
              <a:t>Audio Flamingo 3</a:t>
            </a:r>
            <a:endParaRPr lang="en-US" sz="1250" dirty="0"/>
          </a:p>
        </p:txBody>
      </p:sp>
      <p:sp>
        <p:nvSpPr>
          <p:cNvPr id="23" name="Text 21"/>
          <p:cNvSpPr/>
          <p:nvPr/>
        </p:nvSpPr>
        <p:spPr>
          <a:xfrm>
            <a:off x="2788920" y="542239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person is walking around and talking while opening and closing a </a:t>
            </a:r>
            <a:pPr indent="0" marL="0">
              <a:buNone/>
            </a:pPr>
            <a:r>
              <a:rPr lang="en-US" sz="1250" b="1" dirty="0">
                <a:solidFill>
                  <a:srgbClr val="D62728"/>
                </a:solidFill>
                <a:latin typeface="Calibri" pitchFamily="34" charset="0"/>
                <a:ea typeface="Calibri" pitchFamily="34" charset="-122"/>
                <a:cs typeface="Calibri" pitchFamily="34" charset="-120"/>
              </a:rPr>
              <a:t>zipper</a:t>
            </a:r>
            <a:pP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p>
        </p:txBody>
      </p:sp>
      <p:sp>
        <p:nvSpPr>
          <p:cNvPr id="24" name="Text 22"/>
          <p:cNvSpPr/>
          <p:nvPr/>
        </p:nvSpPr>
        <p:spPr>
          <a:xfrm>
            <a:off x="8961120" y="542239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fluent Clotho register, but invents a zipper</a:t>
            </a:r>
            <a:endParaRPr lang="en-US" sz="1100" dirty="0"/>
          </a:p>
        </p:txBody>
      </p:sp>
      <p:sp>
        <p:nvSpPr>
          <p:cNvPr id="25" name="Text 23"/>
          <p:cNvSpPr/>
          <p:nvPr/>
        </p:nvSpPr>
        <p:spPr>
          <a:xfrm>
            <a:off x="548640" y="6263640"/>
            <a:ext cx="1106424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Overlap metrics reward the Clotho register. Fluency can invent detail; that is RQ3.</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RQ2: Polyphony helps everyone, so it is the data, not the models</a:t>
            </a:r>
            <a:endParaRPr lang="en-US" sz="3000" dirty="0"/>
          </a:p>
        </p:txBody>
      </p:sp>
      <p:graphicFrame>
        <p:nvGraphicFramePr>
          <p:cNvPr id="3" name="Chart 0" descr=""/>
          <p:cNvGraphicFramePr/>
          <p:nvPr/>
        </p:nvGraphicFramePr>
        <p:xfrm>
          <a:off x="457200" y="11430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143000"/>
            <a:ext cx="3840480" cy="1325880"/>
          </a:xfrm>
          <a:prstGeom prst="roundRect">
            <a:avLst>
              <a:gd name="adj" fmla="val 5517"/>
            </a:avLst>
          </a:prstGeom>
          <a:solidFill>
            <a:srgbClr val="EEF3FA"/>
          </a:solidFill>
          <a:ln/>
        </p:spPr>
      </p:sp>
      <p:sp>
        <p:nvSpPr>
          <p:cNvPr id="5" name="Text 2"/>
          <p:cNvSpPr/>
          <p:nvPr/>
        </p:nvSpPr>
        <p:spPr>
          <a:xfrm>
            <a:off x="7973568" y="1280160"/>
            <a:ext cx="3474720" cy="1097280"/>
          </a:xfrm>
          <a:prstGeom prst="rect">
            <a:avLst/>
          </a:prstGeom>
          <a:noFill/>
          <a:ln/>
        </p:spPr>
        <p:txBody>
          <a:bodyPr wrap="square" lIns="0" tIns="0" rIns="0" bIns="0" rtlCol="0" anchor="ctr"/>
          <a:lstStyle/>
          <a:p>
            <a:pPr indent="0" marL="0">
              <a:buNone/>
            </a:pPr>
            <a:r>
              <a:rPr lang="en-US" sz="1300" b="1" dirty="0">
                <a:solidFill>
                  <a:srgbClr val="1F77B4"/>
                </a:solidFill>
                <a:latin typeface="Calibri" pitchFamily="34" charset="0"/>
                <a:ea typeface="Calibri" pitchFamily="34" charset="-122"/>
                <a:cs typeface="Calibri" pitchFamily="34" charset="-120"/>
              </a:rPr>
              <a:t>H2 ✓ all three LALMs  </a:t>
            </a:r>
            <a:pPr indent="0" marL="0">
              <a:buNone/>
            </a:pPr>
            <a:r>
              <a:rPr lang="en-US" sz="1300" dirty="0">
                <a:solidFill>
                  <a:srgbClr val="1F2937"/>
                </a:solidFill>
                <a:latin typeface="Calibri" pitchFamily="34" charset="0"/>
                <a:ea typeface="Calibri" pitchFamily="34" charset="-122"/>
                <a:cs typeface="Calibri" pitchFamily="34" charset="-120"/>
              </a:rPr>
              <a:t>+0.059 to +0.094, p ≈ 0.001. But the baselines shift the same way.</a:t>
            </a:r>
            <a:endParaRPr lang="en-US" sz="1300" dirty="0"/>
          </a:p>
        </p:txBody>
      </p:sp>
      <p:sp>
        <p:nvSpPr>
          <p:cNvPr id="6" name="Shape 3"/>
          <p:cNvSpPr/>
          <p:nvPr/>
        </p:nvSpPr>
        <p:spPr>
          <a:xfrm>
            <a:off x="7772400" y="2651760"/>
            <a:ext cx="3840480" cy="1234440"/>
          </a:xfrm>
          <a:prstGeom prst="roundRect">
            <a:avLst>
              <a:gd name="adj" fmla="val 5926"/>
            </a:avLst>
          </a:prstGeom>
          <a:solidFill>
            <a:srgbClr val="EEF3FA"/>
          </a:solidFill>
          <a:ln/>
        </p:spPr>
      </p:sp>
      <p:sp>
        <p:nvSpPr>
          <p:cNvPr id="7" name="Text 4"/>
          <p:cNvSpPr/>
          <p:nvPr/>
        </p:nvSpPr>
        <p:spPr>
          <a:xfrm>
            <a:off x="7973568" y="2788920"/>
            <a:ext cx="3474720" cy="10058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MACE agrees  </a:t>
            </a:r>
            <a:pPr indent="0" marL="0">
              <a:buNone/>
            </a:pPr>
            <a:r>
              <a:rPr lang="en-US" sz="1300" dirty="0">
                <a:solidFill>
                  <a:srgbClr val="1F2937"/>
                </a:solidFill>
                <a:latin typeface="Calibri" pitchFamily="34" charset="0"/>
                <a:ea typeface="Calibri" pitchFamily="34" charset="-122"/>
                <a:cs typeface="Calibri" pitchFamily="34" charset="-120"/>
              </a:rPr>
              <a:t>audio-grounded deltas +0.021 to +0.032, so this is not a reference-overlap artefact.</a:t>
            </a:r>
            <a:endParaRPr lang="en-US" sz="1300" dirty="0"/>
          </a:p>
        </p:txBody>
      </p:sp>
      <p:sp>
        <p:nvSpPr>
          <p:cNvPr id="8" name="Shape 5"/>
          <p:cNvSpPr/>
          <p:nvPr/>
        </p:nvSpPr>
        <p:spPr>
          <a:xfrm>
            <a:off x="7772400" y="4069080"/>
            <a:ext cx="3840480" cy="1554480"/>
          </a:xfrm>
          <a:prstGeom prst="roundRect">
            <a:avLst>
              <a:gd name="adj" fmla="val 4706"/>
            </a:avLst>
          </a:prstGeom>
          <a:solidFill>
            <a:srgbClr val="FFFFFF"/>
          </a:solidFill>
          <a:ln/>
        </p:spPr>
      </p:sp>
      <p:sp>
        <p:nvSpPr>
          <p:cNvPr id="9" name="Shape 6"/>
          <p:cNvSpPr/>
          <p:nvPr/>
        </p:nvSpPr>
        <p:spPr>
          <a:xfrm>
            <a:off x="7772400" y="4069080"/>
            <a:ext cx="3840480" cy="1554480"/>
          </a:xfrm>
          <a:prstGeom prst="roundRect">
            <a:avLst>
              <a:gd name="adj" fmla="val 4706"/>
            </a:avLst>
          </a:prstGeom>
          <a:solidFill>
            <a:srgbClr val="EEF3FA"/>
          </a:solidFill>
          <a:ln/>
        </p:spPr>
      </p:sp>
      <p:sp>
        <p:nvSpPr>
          <p:cNvPr id="10" name="Text 7"/>
          <p:cNvSpPr/>
          <p:nvPr/>
        </p:nvSpPr>
        <p:spPr>
          <a:xfrm>
            <a:off x="7973568" y="4206240"/>
            <a:ext cx="3474720" cy="132588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Harish &amp; Abeßer (DCASE 2025):  </a:t>
            </a:r>
            <a:pPr indent="0" marL="0">
              <a:buNone/>
            </a:pPr>
            <a:r>
              <a:rPr lang="en-US" sz="1250" dirty="0">
                <a:solidFill>
                  <a:srgbClr val="1F2937"/>
                </a:solidFill>
                <a:latin typeface="Calibri" pitchFamily="34" charset="0"/>
                <a:ea typeface="Calibri" pitchFamily="34" charset="-122"/>
                <a:cs typeface="Calibri" pitchFamily="34" charset="-120"/>
              </a:rPr>
              <a:t>event-level tasks degrade with polyphony. Caption-level description does not. The findings complement each other.</a:t>
            </a:r>
            <a:endParaRPr lang="en-US" sz="1250" dirty="0"/>
          </a:p>
        </p:txBody>
      </p:sp>
      <p:sp>
        <p:nvSpPr>
          <p:cNvPr id="11" name="Text 8"/>
          <p:cNvSpPr/>
          <p:nvPr/>
        </p:nvSpPr>
        <p:spPr>
          <a:xfrm>
            <a:off x="548640" y="5806440"/>
            <a:ext cx="11064240" cy="91440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How the split was made:  </a:t>
            </a:r>
            <a:pPr indent="0" marL="0">
              <a:buNone/>
            </a:pPr>
            <a:r>
              <a:rPr lang="en-US" sz="1250" dirty="0">
                <a:solidFill>
                  <a:srgbClr val="1F2937"/>
                </a:solidFill>
                <a:latin typeface="Calibri" pitchFamily="34" charset="0"/>
                <a:ea typeface="Calibri" pitchFamily="34" charset="-122"/>
                <a:cs typeface="Calibri" pitchFamily="34" charset="-120"/>
              </a:rPr>
              <a:t>a sound-event detector (PANNs) scores 527 sound classes 100 times per second; two classes overlapping for at least 1 s = polyphonic. τ = 0.25 came from a rule committed before any results: 336 polyphonic / 709 monophonic. Independent check: human references of polyphonic clips name more distinct sounds (4.5 vs 3.8).</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RQ3: The best captioner is not the most grounded</a:t>
            </a:r>
            <a:endParaRPr lang="en-US" sz="3000" dirty="0"/>
          </a:p>
        </p:txBody>
      </p:sp>
      <p:graphicFrame>
        <p:nvGraphicFramePr>
          <p:cNvPr id="3" name="Chart 0" descr=""/>
          <p:cNvGraphicFramePr/>
          <p:nvPr/>
        </p:nvGraphicFramePr>
        <p:xfrm>
          <a:off x="457200" y="11430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143000"/>
            <a:ext cx="3840480" cy="1325880"/>
          </a:xfrm>
          <a:prstGeom prst="roundRect">
            <a:avLst>
              <a:gd name="adj" fmla="val 5517"/>
            </a:avLst>
          </a:prstGeom>
          <a:solidFill>
            <a:srgbClr val="EEF3FA"/>
          </a:solidFill>
          <a:ln/>
        </p:spPr>
      </p:sp>
      <p:sp>
        <p:nvSpPr>
          <p:cNvPr id="5" name="Text 2"/>
          <p:cNvSpPr/>
          <p:nvPr/>
        </p:nvSpPr>
        <p:spPr>
          <a:xfrm>
            <a:off x="7973568" y="1280160"/>
            <a:ext cx="3474720" cy="1097280"/>
          </a:xfrm>
          <a:prstGeom prst="rect">
            <a:avLst/>
          </a:prstGeom>
          <a:noFill/>
          <a:ln/>
        </p:spPr>
        <p:txBody>
          <a:bodyPr wrap="square" lIns="0" tIns="0" rIns="0" bIns="0" rtlCol="0" anchor="ctr"/>
          <a:lstStyle/>
          <a:p>
            <a:pPr indent="0" marL="0">
              <a:buNone/>
            </a:pPr>
            <a:r>
              <a:rPr lang="en-US" sz="1300" b="1" dirty="0">
                <a:solidFill>
                  <a:srgbClr val="D62728"/>
                </a:solidFill>
                <a:latin typeface="Calibri" pitchFamily="34" charset="0"/>
                <a:ea typeface="Calibri" pitchFamily="34" charset="-122"/>
                <a:cs typeface="Calibri" pitchFamily="34" charset="-120"/>
              </a:rPr>
              <a:t>H4: null retained  </a:t>
            </a:r>
            <a:pPr indent="0" marL="0">
              <a:buNone/>
            </a:pPr>
            <a:r>
              <a:rPr lang="en-US" sz="1300" dirty="0">
                <a:solidFill>
                  <a:srgbClr val="1F2937"/>
                </a:solidFill>
                <a:latin typeface="Calibri" pitchFamily="34" charset="0"/>
                <a:ea typeface="Calibri" pitchFamily="34" charset="-122"/>
                <a:cs typeface="Calibri" pitchFamily="34" charset="-120"/>
              </a:rPr>
              <a:t>AF3 does not hallucinate less than SALMONN per caption (-0.015, p = 0.82); stable across τ.</a:t>
            </a:r>
            <a:endParaRPr lang="en-US" sz="1300" dirty="0"/>
          </a:p>
        </p:txBody>
      </p:sp>
      <p:sp>
        <p:nvSpPr>
          <p:cNvPr id="6" name="Shape 3"/>
          <p:cNvSpPr/>
          <p:nvPr/>
        </p:nvSpPr>
        <p:spPr>
          <a:xfrm>
            <a:off x="7772400" y="2651760"/>
            <a:ext cx="3840480" cy="1645920"/>
          </a:xfrm>
          <a:prstGeom prst="roundRect">
            <a:avLst>
              <a:gd name="adj" fmla="val 4444"/>
            </a:avLst>
          </a:prstGeom>
          <a:solidFill>
            <a:srgbClr val="EEF3FA"/>
          </a:solidFill>
          <a:ln/>
        </p:spPr>
      </p:sp>
      <p:sp>
        <p:nvSpPr>
          <p:cNvPr id="7" name="Text 4"/>
          <p:cNvSpPr/>
          <p:nvPr/>
        </p:nvSpPr>
        <p:spPr>
          <a:xfrm>
            <a:off x="7973568" y="2788920"/>
            <a:ext cx="3474720" cy="1417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Why: more claims per caption.  </a:t>
            </a:r>
            <a:pPr indent="0" marL="0">
              <a:buNone/>
            </a:pPr>
            <a:r>
              <a:rPr lang="en-US" sz="1250" dirty="0">
                <a:solidFill>
                  <a:srgbClr val="1F2937"/>
                </a:solidFill>
                <a:latin typeface="Calibri" pitchFamily="34" charset="0"/>
                <a:ea typeface="Calibri" pitchFamily="34" charset="-122"/>
                <a:cs typeface="Calibri" pitchFamily="34" charset="-120"/>
              </a:rPr>
              <a:t>Per mention AF3 is the most grounded in the table (CHAIR-i 0.299, lowest). It just mentions more entities: 1.54 vs 1.38 per caption.</a:t>
            </a:r>
            <a:endParaRPr lang="en-US" sz="1250" dirty="0"/>
          </a:p>
        </p:txBody>
      </p:sp>
      <p:sp>
        <p:nvSpPr>
          <p:cNvPr id="8" name="Shape 5"/>
          <p:cNvSpPr/>
          <p:nvPr/>
        </p:nvSpPr>
        <p:spPr>
          <a:xfrm>
            <a:off x="7772400" y="4480560"/>
            <a:ext cx="3840480" cy="1143000"/>
          </a:xfrm>
          <a:prstGeom prst="roundRect">
            <a:avLst>
              <a:gd name="adj" fmla="val 6400"/>
            </a:avLst>
          </a:prstGeom>
          <a:solidFill>
            <a:srgbClr val="FDF2F2"/>
          </a:solidFill>
          <a:ln/>
        </p:spPr>
      </p:sp>
      <p:sp>
        <p:nvSpPr>
          <p:cNvPr id="9" name="Text 6"/>
          <p:cNvSpPr/>
          <p:nvPr/>
        </p:nvSpPr>
        <p:spPr>
          <a:xfrm>
            <a:off x="7973568" y="4590288"/>
            <a:ext cx="3474720" cy="9601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Failure mode caught:  </a:t>
            </a:r>
            <a:pPr indent="0" marL="0">
              <a:buNone/>
            </a:pPr>
            <a:r>
              <a:rPr lang="en-US" sz="1250" dirty="0">
                <a:solidFill>
                  <a:srgbClr val="1F2937"/>
                </a:solidFill>
                <a:latin typeface="Calibri" pitchFamily="34" charset="0"/>
                <a:ea typeface="Calibri" pitchFamily="34" charset="-122"/>
                <a:cs typeface="Calibri" pitchFamily="34" charset="-120"/>
              </a:rPr>
              <a:t>greedy decoding drove Qwen into a 515-word “tapped, tapped, …” loop on one clip.</a:t>
            </a:r>
            <a:endParaRPr lang="en-US" sz="1250" dirty="0"/>
          </a:p>
        </p:txBody>
      </p:sp>
      <p:sp>
        <p:nvSpPr>
          <p:cNvPr id="10" name="Text 7"/>
          <p:cNvSpPr/>
          <p:nvPr/>
        </p:nvSpPr>
        <p:spPr>
          <a:xfrm>
            <a:off x="548640" y="5943600"/>
            <a:ext cx="1106424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AST at 0.956 is the validity check. Qwen is the outlier at 0.550. Overlap quality and grounding are separate axes.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Limitations, deviations, and what “zero-shot” means</a:t>
            </a:r>
            <a:endParaRPr lang="en-US" sz="3000" dirty="0"/>
          </a:p>
        </p:txBody>
      </p:sp>
      <p:sp>
        <p:nvSpPr>
          <p:cNvPr id="3" name="Shape 1"/>
          <p:cNvSpPr/>
          <p:nvPr/>
        </p:nvSpPr>
        <p:spPr>
          <a:xfrm>
            <a:off x="548640" y="1143000"/>
            <a:ext cx="5120640" cy="960120"/>
          </a:xfrm>
          <a:prstGeom prst="roundRect">
            <a:avLst>
              <a:gd name="adj" fmla="val 7619"/>
            </a:avLst>
          </a:prstGeom>
          <a:solidFill>
            <a:srgbClr val="EEF3FA"/>
          </a:solidFill>
          <a:ln/>
        </p:spPr>
      </p:sp>
      <p:sp>
        <p:nvSpPr>
          <p:cNvPr id="4" name="Text 2"/>
          <p:cNvSpPr/>
          <p:nvPr/>
        </p:nvSpPr>
        <p:spPr>
          <a:xfrm>
            <a:off x="777240" y="1234440"/>
            <a:ext cx="868680" cy="777240"/>
          </a:xfrm>
          <a:prstGeom prst="rect">
            <a:avLst/>
          </a:prstGeom>
          <a:noFill/>
          <a:ln/>
        </p:spPr>
        <p:txBody>
          <a:bodyPr wrap="square" lIns="0" tIns="0" rIns="0" bIns="0" rtlCol="0" anchor="ctr"/>
          <a:lstStyle/>
          <a:p>
            <a:pPr indent="0" marL="0">
              <a:buNone/>
            </a:pPr>
            <a:r>
              <a:rPr lang="en-US" sz="2000" b="1" dirty="0">
                <a:solidFill>
                  <a:srgbClr val="1F77B4"/>
                </a:solidFill>
                <a:latin typeface="Cambria" pitchFamily="34" charset="0"/>
                <a:ea typeface="Cambria" pitchFamily="34" charset="-122"/>
                <a:cs typeface="Cambria" pitchFamily="34" charset="-120"/>
              </a:rPr>
              <a:t>H1 ✓</a:t>
            </a:r>
            <a:endParaRPr lang="en-US" sz="2000" dirty="0"/>
          </a:p>
        </p:txBody>
      </p:sp>
      <p:sp>
        <p:nvSpPr>
          <p:cNvPr id="5" name="Text 3"/>
          <p:cNvSpPr/>
          <p:nvPr/>
        </p:nvSpPr>
        <p:spPr>
          <a:xfrm>
            <a:off x="1691640" y="1234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AF3 above the 0.261 CNN14 anchor (CI lower 0.283)</a:t>
            </a:r>
            <a:endParaRPr lang="en-US" sz="1300" dirty="0"/>
          </a:p>
        </p:txBody>
      </p:sp>
      <p:sp>
        <p:nvSpPr>
          <p:cNvPr id="6" name="Shape 4"/>
          <p:cNvSpPr/>
          <p:nvPr/>
        </p:nvSpPr>
        <p:spPr>
          <a:xfrm>
            <a:off x="548640" y="2286000"/>
            <a:ext cx="5120640" cy="960120"/>
          </a:xfrm>
          <a:prstGeom prst="roundRect">
            <a:avLst>
              <a:gd name="adj" fmla="val 7619"/>
            </a:avLst>
          </a:prstGeom>
          <a:solidFill>
            <a:srgbClr val="EEF3FA"/>
          </a:solidFill>
          <a:ln/>
        </p:spPr>
      </p:sp>
      <p:sp>
        <p:nvSpPr>
          <p:cNvPr id="7" name="Text 5"/>
          <p:cNvSpPr/>
          <p:nvPr/>
        </p:nvSpPr>
        <p:spPr>
          <a:xfrm>
            <a:off x="777240" y="2377440"/>
            <a:ext cx="868680" cy="777240"/>
          </a:xfrm>
          <a:prstGeom prst="rect">
            <a:avLst/>
          </a:prstGeom>
          <a:noFill/>
          <a:ln/>
        </p:spPr>
        <p:txBody>
          <a:bodyPr wrap="square" lIns="0" tIns="0" rIns="0" bIns="0" rtlCol="0" anchor="ctr"/>
          <a:lstStyle/>
          <a:p>
            <a:pPr indent="0" marL="0">
              <a:buNone/>
            </a:pPr>
            <a:r>
              <a:rPr lang="en-US" sz="2000" b="1" dirty="0">
                <a:solidFill>
                  <a:srgbClr val="1F77B4"/>
                </a:solidFill>
                <a:latin typeface="Cambria" pitchFamily="34" charset="0"/>
                <a:ea typeface="Cambria" pitchFamily="34" charset="-122"/>
                <a:cs typeface="Cambria" pitchFamily="34" charset="-120"/>
              </a:rPr>
              <a:t>H2 ✓</a:t>
            </a:r>
            <a:endParaRPr lang="en-US" sz="2000" dirty="0"/>
          </a:p>
        </p:txBody>
      </p:sp>
      <p:sp>
        <p:nvSpPr>
          <p:cNvPr id="8" name="Text 6"/>
          <p:cNvSpPr/>
          <p:nvPr/>
        </p:nvSpPr>
        <p:spPr>
          <a:xfrm>
            <a:off x="1691640" y="2377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poly &gt; mono for all three LALMs; shared with baselines</a:t>
            </a:r>
            <a:endParaRPr lang="en-US" sz="1300" dirty="0"/>
          </a:p>
        </p:txBody>
      </p:sp>
      <p:sp>
        <p:nvSpPr>
          <p:cNvPr id="9" name="Shape 7"/>
          <p:cNvSpPr/>
          <p:nvPr/>
        </p:nvSpPr>
        <p:spPr>
          <a:xfrm>
            <a:off x="548640" y="3429000"/>
            <a:ext cx="5120640" cy="960120"/>
          </a:xfrm>
          <a:prstGeom prst="roundRect">
            <a:avLst>
              <a:gd name="adj" fmla="val 7619"/>
            </a:avLst>
          </a:prstGeom>
          <a:solidFill>
            <a:srgbClr val="EEF3FA"/>
          </a:solidFill>
          <a:ln/>
        </p:spPr>
      </p:sp>
      <p:sp>
        <p:nvSpPr>
          <p:cNvPr id="10" name="Text 8"/>
          <p:cNvSpPr/>
          <p:nvPr/>
        </p:nvSpPr>
        <p:spPr>
          <a:xfrm>
            <a:off x="777240" y="3520440"/>
            <a:ext cx="868680" cy="777240"/>
          </a:xfrm>
          <a:prstGeom prst="rect">
            <a:avLst/>
          </a:prstGeom>
          <a:noFill/>
          <a:ln/>
        </p:spPr>
        <p:txBody>
          <a:bodyPr wrap="square" lIns="0" tIns="0" rIns="0" bIns="0" rtlCol="0" anchor="ctr"/>
          <a:lstStyle/>
          <a:p>
            <a:pPr indent="0" marL="0">
              <a:buNone/>
            </a:pPr>
            <a:r>
              <a:rPr lang="en-US" sz="2000" b="1" dirty="0">
                <a:solidFill>
                  <a:srgbClr val="1F77B4"/>
                </a:solidFill>
                <a:latin typeface="Cambria" pitchFamily="34" charset="0"/>
                <a:ea typeface="Cambria" pitchFamily="34" charset="-122"/>
                <a:cs typeface="Cambria" pitchFamily="34" charset="-120"/>
              </a:rPr>
              <a:t>H3 ✓</a:t>
            </a:r>
            <a:endParaRPr lang="en-US" sz="2000" dirty="0"/>
          </a:p>
        </p:txBody>
      </p:sp>
      <p:sp>
        <p:nvSpPr>
          <p:cNvPr id="11" name="Text 9"/>
          <p:cNvSpPr/>
          <p:nvPr/>
        </p:nvSpPr>
        <p:spPr>
          <a:xfrm>
            <a:off x="1691640" y="3520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AF3 above SALMONN, paired per clip (+0.072)</a:t>
            </a:r>
            <a:endParaRPr lang="en-US" sz="1300" dirty="0"/>
          </a:p>
        </p:txBody>
      </p:sp>
      <p:sp>
        <p:nvSpPr>
          <p:cNvPr id="12" name="Shape 10"/>
          <p:cNvSpPr/>
          <p:nvPr/>
        </p:nvSpPr>
        <p:spPr>
          <a:xfrm>
            <a:off x="548640" y="4572000"/>
            <a:ext cx="5120640" cy="960120"/>
          </a:xfrm>
          <a:prstGeom prst="roundRect">
            <a:avLst>
              <a:gd name="adj" fmla="val 7619"/>
            </a:avLst>
          </a:prstGeom>
          <a:solidFill>
            <a:srgbClr val="EEF3FA"/>
          </a:solidFill>
          <a:ln/>
        </p:spPr>
      </p:sp>
      <p:sp>
        <p:nvSpPr>
          <p:cNvPr id="13" name="Text 11"/>
          <p:cNvSpPr/>
          <p:nvPr/>
        </p:nvSpPr>
        <p:spPr>
          <a:xfrm>
            <a:off x="777240" y="4663440"/>
            <a:ext cx="868680" cy="777240"/>
          </a:xfrm>
          <a:prstGeom prst="rect">
            <a:avLst/>
          </a:prstGeom>
          <a:noFill/>
          <a:ln/>
        </p:spPr>
        <p:txBody>
          <a:bodyPr wrap="square" lIns="0" tIns="0" rIns="0" bIns="0" rtlCol="0" anchor="ctr"/>
          <a:lstStyle/>
          <a:p>
            <a:pPr indent="0" marL="0">
              <a:buNone/>
            </a:pPr>
            <a:r>
              <a:rPr lang="en-US" sz="2000" b="1" dirty="0">
                <a:solidFill>
                  <a:srgbClr val="D62728"/>
                </a:solidFill>
                <a:latin typeface="Cambria" pitchFamily="34" charset="0"/>
                <a:ea typeface="Cambria" pitchFamily="34" charset="-122"/>
                <a:cs typeface="Cambria" pitchFamily="34" charset="-120"/>
              </a:rPr>
              <a:t>H4 ✗</a:t>
            </a:r>
            <a:endParaRPr lang="en-US" sz="2000" dirty="0"/>
          </a:p>
        </p:txBody>
      </p:sp>
      <p:sp>
        <p:nvSpPr>
          <p:cNvPr id="14" name="Text 12"/>
          <p:cNvSpPr/>
          <p:nvPr/>
        </p:nvSpPr>
        <p:spPr>
          <a:xfrm>
            <a:off x="1691640" y="4663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null retained: AF3 not less hallucination-prone per caption</a:t>
            </a:r>
            <a:endParaRPr lang="en-US" sz="1300" dirty="0"/>
          </a:p>
        </p:txBody>
      </p:sp>
      <p:sp>
        <p:nvSpPr>
          <p:cNvPr id="15" name="Shape 13"/>
          <p:cNvSpPr/>
          <p:nvPr/>
        </p:nvSpPr>
        <p:spPr>
          <a:xfrm>
            <a:off x="5943600" y="1143000"/>
            <a:ext cx="5669280" cy="960120"/>
          </a:xfrm>
          <a:prstGeom prst="roundRect">
            <a:avLst>
              <a:gd name="adj" fmla="val 7619"/>
            </a:avLst>
          </a:prstGeom>
          <a:solidFill>
            <a:srgbClr val="EEF3FA"/>
          </a:solidFill>
          <a:ln/>
        </p:spPr>
      </p:sp>
      <p:sp>
        <p:nvSpPr>
          <p:cNvPr id="16" name="Text 14"/>
          <p:cNvSpPr/>
          <p:nvPr/>
        </p:nvSpPr>
        <p:spPr>
          <a:xfrm>
            <a:off x="6172200" y="1216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Declared plan, not sealed   </a:t>
            </a:r>
            <a:pPr indent="0" marL="0">
              <a:buNone/>
            </a:pPr>
            <a:r>
              <a:rPr lang="en-US" sz="1150" dirty="0">
                <a:solidFill>
                  <a:srgbClr val="1F2937"/>
                </a:solidFill>
                <a:latin typeface="Calibri" pitchFamily="34" charset="0"/>
                <a:ea typeface="Calibri" pitchFamily="34" charset="-122"/>
                <a:cs typeface="Calibri" pitchFamily="34" charset="-120"/>
              </a:rPr>
              <a:t>The preregistration was drafted before the LALM runs but never formally frozen. So we claim a declared analysis plan, and disclose all seven deviations in the paper.</a:t>
            </a:r>
            <a:endParaRPr lang="en-US" sz="1150" dirty="0"/>
          </a:p>
        </p:txBody>
      </p:sp>
      <p:sp>
        <p:nvSpPr>
          <p:cNvPr id="17" name="Shape 15"/>
          <p:cNvSpPr/>
          <p:nvPr/>
        </p:nvSpPr>
        <p:spPr>
          <a:xfrm>
            <a:off x="5943600" y="2286000"/>
            <a:ext cx="5669280" cy="960120"/>
          </a:xfrm>
          <a:prstGeom prst="roundRect">
            <a:avLst>
              <a:gd name="adj" fmla="val 7619"/>
            </a:avLst>
          </a:prstGeom>
          <a:solidFill>
            <a:srgbClr val="FDF2F2"/>
          </a:solidFill>
          <a:ln/>
        </p:spPr>
      </p:sp>
      <p:sp>
        <p:nvSpPr>
          <p:cNvPr id="18" name="Text 16"/>
          <p:cNvSpPr/>
          <p:nvPr/>
        </p:nvSpPr>
        <p:spPr>
          <a:xfrm>
            <a:off x="6172200" y="2359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“Zero-shot” = protocol, not data purity   </a:t>
            </a:r>
            <a:pPr indent="0" marL="0">
              <a:buNone/>
            </a:pPr>
            <a:r>
              <a:rPr lang="en-US" sz="1150" dirty="0">
                <a:solidFill>
                  <a:srgbClr val="1F2937"/>
                </a:solidFill>
                <a:latin typeface="Calibri" pitchFamily="34" charset="0"/>
                <a:ea typeface="Calibri" pitchFamily="34" charset="-122"/>
                <a:cs typeface="Calibri" pitchFamily="34" charset="-120"/>
              </a:rPr>
              <a:t>AF3 and SALMONN list Clotho development pairs in their training corpora (their own papers). The eval split is held out for everyone, and the trained baselines used the same development data. Disclosed and discussed.</a:t>
            </a:r>
            <a:endParaRPr lang="en-US" sz="1150" dirty="0"/>
          </a:p>
        </p:txBody>
      </p:sp>
      <p:sp>
        <p:nvSpPr>
          <p:cNvPr id="19" name="Shape 17"/>
          <p:cNvSpPr/>
          <p:nvPr/>
        </p:nvSpPr>
        <p:spPr>
          <a:xfrm>
            <a:off x="5943600" y="3429000"/>
            <a:ext cx="5669280" cy="960120"/>
          </a:xfrm>
          <a:prstGeom prst="roundRect">
            <a:avLst>
              <a:gd name="adj" fmla="val 7619"/>
            </a:avLst>
          </a:prstGeom>
          <a:solidFill>
            <a:srgbClr val="EEF3FA"/>
          </a:solidFill>
          <a:ln/>
        </p:spPr>
      </p:sp>
      <p:sp>
        <p:nvSpPr>
          <p:cNvPr id="20" name="Text 18"/>
          <p:cNvSpPr/>
          <p:nvPr/>
        </p:nvSpPr>
        <p:spPr>
          <a:xfrm>
            <a:off x="6172200" y="3502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Anchors reported honestly   </a:t>
            </a:r>
            <a:pPr indent="0" marL="0">
              <a:buNone/>
            </a:pPr>
            <a:r>
              <a:rPr lang="en-US" sz="1150" dirty="0">
                <a:solidFill>
                  <a:srgbClr val="1F2937"/>
                </a:solidFill>
                <a:latin typeface="Calibri" pitchFamily="34" charset="0"/>
                <a:ea typeface="Calibri" pitchFamily="34" charset="-122"/>
                <a:cs typeface="Calibri" pitchFamily="34" charset="-120"/>
              </a:rPr>
              <a:t>EnCLAP runs 1.1 pp under its published anchor; reported, not tuned away. CNN14 anchors the harness at 0.002 accuracy.</a:t>
            </a:r>
            <a:endParaRPr lang="en-US" sz="1150" dirty="0"/>
          </a:p>
        </p:txBody>
      </p:sp>
      <p:sp>
        <p:nvSpPr>
          <p:cNvPr id="21" name="Shape 19"/>
          <p:cNvSpPr/>
          <p:nvPr/>
        </p:nvSpPr>
        <p:spPr>
          <a:xfrm>
            <a:off x="5943600" y="4572000"/>
            <a:ext cx="5669280" cy="960120"/>
          </a:xfrm>
          <a:prstGeom prst="roundRect">
            <a:avLst>
              <a:gd name="adj" fmla="val 7619"/>
            </a:avLst>
          </a:prstGeom>
          <a:solidFill>
            <a:srgbClr val="EEF3FA"/>
          </a:solidFill>
          <a:ln/>
        </p:spPr>
      </p:sp>
      <p:sp>
        <p:nvSpPr>
          <p:cNvPr id="22" name="Text 20"/>
          <p:cNvSpPr/>
          <p:nvPr/>
        </p:nvSpPr>
        <p:spPr>
          <a:xfrm>
            <a:off x="6172200" y="4645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Everything public   </a:t>
            </a:r>
            <a:pPr indent="0" marL="0">
              <a:buNone/>
            </a:pPr>
            <a:r>
              <a:rPr lang="en-US" sz="1150" dirty="0">
                <a:solidFill>
                  <a:srgbClr val="1F2937"/>
                </a:solidFill>
                <a:latin typeface="Calibri" pitchFamily="34" charset="0"/>
                <a:ea typeface="Calibri" pitchFamily="34" charset="-122"/>
                <a:cs typeface="Calibri" pitchFamily="34" charset="-120"/>
              </a:rPr>
              <a:t>Code, configs, manifests, all result files, the logbook, and the preregistration are in the repository.</a:t>
            </a:r>
            <a:endParaRPr lang="en-US" sz="1150" dirty="0"/>
          </a:p>
        </p:txBody>
      </p:sp>
      <p:sp>
        <p:nvSpPr>
          <p:cNvPr id="23" name="Text 21"/>
          <p:cNvSpPr/>
          <p:nvPr/>
        </p:nvSpPr>
        <p:spPr>
          <a:xfrm>
            <a:off x="548640" y="5989320"/>
            <a:ext cx="11064240" cy="45720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These are the project's limitations as I see them. All of them are disclosed in the paper, and I am glad to discuss any of them.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31520" y="548640"/>
            <a:ext cx="1069848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things to remember</a:t>
            </a:r>
            <a:endParaRPr lang="en-US" sz="3400" dirty="0"/>
          </a:p>
        </p:txBody>
      </p:sp>
      <p:sp>
        <p:nvSpPr>
          <p:cNvPr id="3" name="Text 1"/>
          <p:cNvSpPr/>
          <p:nvPr/>
        </p:nvSpPr>
        <p:spPr>
          <a:xfrm>
            <a:off x="731520" y="1600200"/>
            <a:ext cx="685800" cy="1097280"/>
          </a:xfrm>
          <a:prstGeom prst="rect">
            <a:avLst/>
          </a:prstGeom>
          <a:noFill/>
          <a:ln/>
        </p:spPr>
        <p:txBody>
          <a:bodyPr wrap="square" lIns="0" tIns="0" rIns="0" bIns="0" rtlCol="0" anchor="ctr"/>
          <a:lstStyle/>
          <a:p>
            <a:pPr indent="0" marL="0">
              <a:buNone/>
            </a:pPr>
            <a:r>
              <a:rPr lang="en-US" sz="4000" b="1" dirty="0">
                <a:solidFill>
                  <a:srgbClr val="CADCFC"/>
                </a:solidFill>
                <a:latin typeface="Cambria" pitchFamily="34" charset="0"/>
                <a:ea typeface="Cambria" pitchFamily="34" charset="-122"/>
                <a:cs typeface="Cambria" pitchFamily="34" charset="-120"/>
              </a:rPr>
              <a:t>1</a:t>
            </a:r>
            <a:endParaRPr lang="en-US" sz="4000" dirty="0"/>
          </a:p>
        </p:txBody>
      </p:sp>
      <p:sp>
        <p:nvSpPr>
          <p:cNvPr id="4" name="Text 2"/>
          <p:cNvSpPr/>
          <p:nvPr/>
        </p:nvSpPr>
        <p:spPr>
          <a:xfrm>
            <a:off x="1600200" y="1673352"/>
            <a:ext cx="9784080" cy="11887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Whether a zero-shot LALM beats trained captioners depends on the model. The current audio specialist does, on every metric; a general omni-model and an older specialist do not.</a:t>
            </a:r>
            <a:endParaRPr lang="en-US" sz="1600" dirty="0"/>
          </a:p>
        </p:txBody>
      </p:sp>
      <p:sp>
        <p:nvSpPr>
          <p:cNvPr id="5" name="Text 3"/>
          <p:cNvSpPr/>
          <p:nvPr/>
        </p:nvSpPr>
        <p:spPr>
          <a:xfrm>
            <a:off x="731520" y="2926080"/>
            <a:ext cx="685800" cy="1097280"/>
          </a:xfrm>
          <a:prstGeom prst="rect">
            <a:avLst/>
          </a:prstGeom>
          <a:noFill/>
          <a:ln/>
        </p:spPr>
        <p:txBody>
          <a:bodyPr wrap="square" lIns="0" tIns="0" rIns="0" bIns="0" rtlCol="0" anchor="ctr"/>
          <a:lstStyle/>
          <a:p>
            <a:pPr indent="0" marL="0">
              <a:buNone/>
            </a:pPr>
            <a:r>
              <a:rPr lang="en-US" sz="4000" b="1" dirty="0">
                <a:solidFill>
                  <a:srgbClr val="CADCFC"/>
                </a:solidFill>
                <a:latin typeface="Cambria" pitchFamily="34" charset="0"/>
                <a:ea typeface="Cambria" pitchFamily="34" charset="-122"/>
                <a:cs typeface="Cambria" pitchFamily="34" charset="-120"/>
              </a:rPr>
              <a:t>2</a:t>
            </a:r>
            <a:endParaRPr lang="en-US" sz="4000" dirty="0"/>
          </a:p>
        </p:txBody>
      </p:sp>
      <p:sp>
        <p:nvSpPr>
          <p:cNvPr id="6" name="Text 4"/>
          <p:cNvSpPr/>
          <p:nvPr/>
        </p:nvSpPr>
        <p:spPr>
          <a:xfrm>
            <a:off x="1600200" y="2999232"/>
            <a:ext cx="9784080" cy="11887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Polyphonic clips score higher for every system. That is a dataset effect, not an LALM property: no caption-level polyphony penalty, complementing the event-level degradation in Harish &amp; Abeßer.</a:t>
            </a:r>
            <a:endParaRPr lang="en-US" sz="1600" dirty="0"/>
          </a:p>
        </p:txBody>
      </p:sp>
      <p:sp>
        <p:nvSpPr>
          <p:cNvPr id="7" name="Text 5"/>
          <p:cNvSpPr/>
          <p:nvPr/>
        </p:nvSpPr>
        <p:spPr>
          <a:xfrm>
            <a:off x="731520" y="4251960"/>
            <a:ext cx="685800" cy="1097280"/>
          </a:xfrm>
          <a:prstGeom prst="rect">
            <a:avLst/>
          </a:prstGeom>
          <a:noFill/>
          <a:ln/>
        </p:spPr>
        <p:txBody>
          <a:bodyPr wrap="square" lIns="0" tIns="0" rIns="0" bIns="0" rtlCol="0" anchor="ctr"/>
          <a:lstStyle/>
          <a:p>
            <a:pPr indent="0" marL="0">
              <a:buNone/>
            </a:pPr>
            <a:r>
              <a:rPr lang="en-US" sz="4000" b="1" dirty="0">
                <a:solidFill>
                  <a:srgbClr val="CADCFC"/>
                </a:solidFill>
                <a:latin typeface="Cambria" pitchFamily="34" charset="0"/>
                <a:ea typeface="Cambria" pitchFamily="34" charset="-122"/>
                <a:cs typeface="Cambria" pitchFamily="34" charset="-120"/>
              </a:rPr>
              <a:t>3</a:t>
            </a:r>
            <a:endParaRPr lang="en-US" sz="4000" dirty="0"/>
          </a:p>
        </p:txBody>
      </p:sp>
      <p:sp>
        <p:nvSpPr>
          <p:cNvPr id="8" name="Text 6"/>
          <p:cNvSpPr/>
          <p:nvPr/>
        </p:nvSpPr>
        <p:spPr>
          <a:xfrm>
            <a:off x="1600200" y="4325112"/>
            <a:ext cx="9784080" cy="11887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Overlap quality and grounding are separate axes. The best captioner hallucinates no less per caption; it is simply the most grounded per claim while making more claims. Evaluate both.</a:t>
            </a:r>
            <a:endParaRPr lang="en-US" sz="1600" dirty="0"/>
          </a:p>
        </p:txBody>
      </p:sp>
      <p:sp>
        <p:nvSpPr>
          <p:cNvPr id="9" name="Text 7"/>
          <p:cNvSpPr/>
          <p:nvPr/>
        </p:nvSpPr>
        <p:spPr>
          <a:xfrm>
            <a:off x="731520" y="5806440"/>
            <a:ext cx="10698480" cy="777240"/>
          </a:xfrm>
          <a:prstGeom prst="rect">
            <a:avLst/>
          </a:prstGeom>
          <a:noFill/>
          <a:ln/>
        </p:spPr>
        <p:txBody>
          <a:bodyPr wrap="square" lIns="0" tIns="0" rIns="0" bIns="0"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Paper, code, results, logbook: github.com/Zuraiz270/audio-to-text-captioning-using-LALMs</a:t>
            </a:r>
            <a:endParaRPr lang="en-US" sz="1400" dirty="0"/>
          </a:p>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2026-07-13T08:48:38Z</dcterms:created>
  <dcterms:modified xsi:type="dcterms:W3CDTF">2026-07-13T08:48:38Z</dcterms:modified>
</cp:coreProperties>
</file>